
<file path=[Content_Types].xml><?xml version="1.0" encoding="utf-8"?>
<Types xmlns="http://schemas.openxmlformats.org/package/2006/content-types">
  <Default Extension="xml" ContentType="application/xml"/>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comment1.xml" ContentType="application/vnd.openxmlformats-officedocument.presentationml.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yler Kozisek"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0"/>
    <p:restoredTop sz="94687"/>
  </p:normalViewPr>
  <p:slideViewPr>
    <p:cSldViewPr snapToGrid="0" snapToObjects="1">
      <p:cViewPr varScale="1">
        <p:scale>
          <a:sx n="113" d="100"/>
          <a:sy n="113" d="100"/>
        </p:scale>
        <p:origin x="33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commentAuthors" Target="commentAuthors.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6-12-03T12:18:51.358" idx="1">
    <p:pos x="6000" y="0"/>
    <p:text>Hey good job guys!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399370166"/>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Shape 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0" name="Shape 6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Candace</a:t>
            </a:r>
          </a:p>
        </p:txBody>
      </p:sp>
    </p:spTree>
    <p:extLst>
      <p:ext uri="{BB962C8B-B14F-4D97-AF65-F5344CB8AC3E}">
        <p14:creationId xmlns:p14="http://schemas.microsoft.com/office/powerpoint/2010/main" val="1327983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Shape 6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6" name="Shape 6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solidFill>
                  <a:schemeClr val="dk1"/>
                </a:solidFill>
              </a:rPr>
              <a:t>Candace</a:t>
            </a:r>
          </a:p>
          <a:p>
            <a:pPr lvl="0">
              <a:spcBef>
                <a:spcPts val="0"/>
              </a:spcBef>
              <a:buNone/>
            </a:pPr>
            <a:endParaRPr>
              <a:solidFill>
                <a:schemeClr val="dk1"/>
              </a:solidFill>
            </a:endParaRPr>
          </a:p>
          <a:p>
            <a:pPr lvl="0">
              <a:spcBef>
                <a:spcPts val="0"/>
              </a:spcBef>
              <a:buNone/>
            </a:pPr>
            <a:endParaRPr>
              <a:solidFill>
                <a:schemeClr val="dk1"/>
              </a:solidFill>
            </a:endParaRPr>
          </a:p>
          <a:p>
            <a:pPr lvl="0">
              <a:spcBef>
                <a:spcPts val="0"/>
              </a:spcBef>
              <a:buNone/>
            </a:pPr>
            <a:endParaRPr>
              <a:solidFill>
                <a:schemeClr val="dk1"/>
              </a:solidFill>
            </a:endParaRPr>
          </a:p>
          <a:p>
            <a:pPr lvl="0">
              <a:spcBef>
                <a:spcPts val="0"/>
              </a:spcBef>
              <a:buNone/>
            </a:pPr>
            <a:endParaRPr>
              <a:solidFill>
                <a:schemeClr val="dk1"/>
              </a:solidFill>
            </a:endParaRPr>
          </a:p>
        </p:txBody>
      </p:sp>
    </p:spTree>
    <p:extLst>
      <p:ext uri="{BB962C8B-B14F-4D97-AF65-F5344CB8AC3E}">
        <p14:creationId xmlns:p14="http://schemas.microsoft.com/office/powerpoint/2010/main" val="614199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3" name="Shape 7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Candace</a:t>
            </a:r>
          </a:p>
        </p:txBody>
      </p:sp>
    </p:spTree>
    <p:extLst>
      <p:ext uri="{BB962C8B-B14F-4D97-AF65-F5344CB8AC3E}">
        <p14:creationId xmlns:p14="http://schemas.microsoft.com/office/powerpoint/2010/main" val="2051950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Shape 7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9" name="Shape 79"/>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Candace</a:t>
            </a:r>
          </a:p>
        </p:txBody>
      </p:sp>
    </p:spTree>
    <p:extLst>
      <p:ext uri="{BB962C8B-B14F-4D97-AF65-F5344CB8AC3E}">
        <p14:creationId xmlns:p14="http://schemas.microsoft.com/office/powerpoint/2010/main" val="691897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Shape 84"/>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5" name="Shape 8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Ryan</a:t>
            </a:r>
          </a:p>
        </p:txBody>
      </p:sp>
    </p:spTree>
    <p:extLst>
      <p:ext uri="{BB962C8B-B14F-4D97-AF65-F5344CB8AC3E}">
        <p14:creationId xmlns:p14="http://schemas.microsoft.com/office/powerpoint/2010/main" val="959054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Shape 9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6" name="Shape 9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Ryan</a:t>
            </a:r>
          </a:p>
          <a:p>
            <a:pPr lvl="0">
              <a:spcBef>
                <a:spcPts val="0"/>
              </a:spcBef>
              <a:buNone/>
            </a:pPr>
            <a:endParaRPr/>
          </a:p>
          <a:p>
            <a:pPr lvl="0">
              <a:spcBef>
                <a:spcPts val="0"/>
              </a:spcBef>
              <a:buNone/>
            </a:pPr>
            <a:r>
              <a:rPr lang="en"/>
              <a:t>1.45</a:t>
            </a:r>
          </a:p>
        </p:txBody>
      </p:sp>
    </p:spTree>
    <p:extLst>
      <p:ext uri="{BB962C8B-B14F-4D97-AF65-F5344CB8AC3E}">
        <p14:creationId xmlns:p14="http://schemas.microsoft.com/office/powerpoint/2010/main" val="1269322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Shape 101"/>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2" name="Shape 10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Ryan</a:t>
            </a:r>
          </a:p>
        </p:txBody>
      </p:sp>
    </p:spTree>
    <p:extLst>
      <p:ext uri="{BB962C8B-B14F-4D97-AF65-F5344CB8AC3E}">
        <p14:creationId xmlns:p14="http://schemas.microsoft.com/office/powerpoint/2010/main" val="401548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Shape 108"/>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9" name="Shape 109"/>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Ryan</a:t>
            </a:r>
          </a:p>
          <a:p>
            <a:pPr lvl="0">
              <a:spcBef>
                <a:spcPts val="0"/>
              </a:spcBef>
              <a:buNone/>
            </a:pPr>
            <a:endParaRPr/>
          </a:p>
          <a:p>
            <a:pPr lvl="0">
              <a:spcBef>
                <a:spcPts val="0"/>
              </a:spcBef>
              <a:buNone/>
            </a:pPr>
            <a:endParaRPr/>
          </a:p>
        </p:txBody>
      </p:sp>
    </p:spTree>
    <p:extLst>
      <p:ext uri="{BB962C8B-B14F-4D97-AF65-F5344CB8AC3E}">
        <p14:creationId xmlns:p14="http://schemas.microsoft.com/office/powerpoint/2010/main" val="1432894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Shape 11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5" name="Shape 11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file:///C:/Users/zpgui/AppData/Local/Microsoft/Windows/INetCache/IE/Q0TTQ2T1/Mann-Whitney%20worked%20example.pdf</a:t>
            </a:r>
          </a:p>
          <a:p>
            <a:pPr lvl="0">
              <a:spcBef>
                <a:spcPts val="0"/>
              </a:spcBef>
              <a:buNone/>
            </a:pPr>
            <a:r>
              <a:rPr lang="en"/>
              <a:t>This is a pretty interesting example that has been worked out previously.  It does a pretty good job of explaining things. </a:t>
            </a:r>
          </a:p>
          <a:p>
            <a:pPr lvl="0">
              <a:spcBef>
                <a:spcPts val="0"/>
              </a:spcBef>
              <a:buNone/>
            </a:pPr>
            <a:r>
              <a:rPr lang="en"/>
              <a:t>Tyler</a:t>
            </a:r>
          </a:p>
          <a:p>
            <a:pPr lvl="0">
              <a:spcBef>
                <a:spcPts val="0"/>
              </a:spcBef>
              <a:buNone/>
            </a:pPr>
            <a:endParaRPr/>
          </a:p>
          <a:p>
            <a:pPr lvl="0">
              <a:spcBef>
                <a:spcPts val="0"/>
              </a:spcBef>
              <a:buNone/>
            </a:pPr>
            <a:r>
              <a:rPr lang="en"/>
              <a:t>5:35</a:t>
            </a:r>
          </a:p>
          <a:p>
            <a:pPr lvl="0">
              <a:spcBef>
                <a:spcPts val="0"/>
              </a:spcBef>
              <a:buNone/>
            </a:pPr>
            <a:r>
              <a:rPr lang="en"/>
              <a:t>5:26</a:t>
            </a:r>
          </a:p>
        </p:txBody>
      </p:sp>
    </p:spTree>
    <p:extLst>
      <p:ext uri="{BB962C8B-B14F-4D97-AF65-F5344CB8AC3E}">
        <p14:creationId xmlns:p14="http://schemas.microsoft.com/office/powerpoint/2010/main" val="23427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1" name="Shape 12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Tyler</a:t>
            </a:r>
          </a:p>
        </p:txBody>
      </p:sp>
    </p:spTree>
    <p:extLst>
      <p:ext uri="{BB962C8B-B14F-4D97-AF65-F5344CB8AC3E}">
        <p14:creationId xmlns:p14="http://schemas.microsoft.com/office/powerpoint/2010/main" val="7483337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Shape 126"/>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7" name="Shape 127"/>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Tyler</a:t>
            </a:r>
          </a:p>
        </p:txBody>
      </p:sp>
    </p:spTree>
    <p:extLst>
      <p:ext uri="{BB962C8B-B14F-4D97-AF65-F5344CB8AC3E}">
        <p14:creationId xmlns:p14="http://schemas.microsoft.com/office/powerpoint/2010/main" val="15803262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Shape 132"/>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3" name="Shape 13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Tyler</a:t>
            </a:r>
          </a:p>
        </p:txBody>
      </p:sp>
    </p:spTree>
    <p:extLst>
      <p:ext uri="{BB962C8B-B14F-4D97-AF65-F5344CB8AC3E}">
        <p14:creationId xmlns:p14="http://schemas.microsoft.com/office/powerpoint/2010/main" val="466310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Shape 1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0" name="Shape 14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Zack</a:t>
            </a:r>
          </a:p>
          <a:p>
            <a:pPr lvl="0">
              <a:spcBef>
                <a:spcPts val="0"/>
              </a:spcBef>
              <a:buNone/>
            </a:pPr>
            <a:endParaRPr/>
          </a:p>
          <a:p>
            <a:pPr lvl="0">
              <a:spcBef>
                <a:spcPts val="0"/>
              </a:spcBef>
              <a:buNone/>
            </a:pPr>
            <a:r>
              <a:rPr lang="en"/>
              <a:t>8:50</a:t>
            </a:r>
          </a:p>
        </p:txBody>
      </p:sp>
    </p:spTree>
    <p:extLst>
      <p:ext uri="{BB962C8B-B14F-4D97-AF65-F5344CB8AC3E}">
        <p14:creationId xmlns:p14="http://schemas.microsoft.com/office/powerpoint/2010/main" val="1117384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Shape 1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8" name="Shape 14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Zack</a:t>
            </a:r>
          </a:p>
        </p:txBody>
      </p:sp>
    </p:spTree>
    <p:extLst>
      <p:ext uri="{BB962C8B-B14F-4D97-AF65-F5344CB8AC3E}">
        <p14:creationId xmlns:p14="http://schemas.microsoft.com/office/powerpoint/2010/main" val="133924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Shape 15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4" name="Shape 15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Zack</a:t>
            </a:r>
          </a:p>
        </p:txBody>
      </p:sp>
    </p:spTree>
    <p:extLst>
      <p:ext uri="{BB962C8B-B14F-4D97-AF65-F5344CB8AC3E}">
        <p14:creationId xmlns:p14="http://schemas.microsoft.com/office/powerpoint/2010/main" val="3060077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Shape 1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4" name="Shape 16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Zack</a:t>
            </a:r>
          </a:p>
        </p:txBody>
      </p:sp>
    </p:spTree>
    <p:extLst>
      <p:ext uri="{BB962C8B-B14F-4D97-AF65-F5344CB8AC3E}">
        <p14:creationId xmlns:p14="http://schemas.microsoft.com/office/powerpoint/2010/main" val="1996571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Shape 1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0" name="Shape 1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Candace</a:t>
            </a:r>
          </a:p>
          <a:p>
            <a:pPr lvl="0">
              <a:spcBef>
                <a:spcPts val="0"/>
              </a:spcBef>
              <a:buNone/>
            </a:pPr>
            <a:endParaRPr/>
          </a:p>
          <a:p>
            <a:pPr lvl="0">
              <a:spcBef>
                <a:spcPts val="0"/>
              </a:spcBef>
              <a:buNone/>
            </a:pPr>
            <a:endParaRPr/>
          </a:p>
        </p:txBody>
      </p:sp>
    </p:spTree>
    <p:extLst>
      <p:ext uri="{BB962C8B-B14F-4D97-AF65-F5344CB8AC3E}">
        <p14:creationId xmlns:p14="http://schemas.microsoft.com/office/powerpoint/2010/main" val="19435690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Shape 175"/>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6" name="Shape 17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910839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Shape 181"/>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2" name="Shape 1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Possible questions?</a:t>
            </a:r>
          </a:p>
          <a:p>
            <a:pPr lvl="0">
              <a:spcBef>
                <a:spcPts val="0"/>
              </a:spcBef>
              <a:buNone/>
            </a:pPr>
            <a:endParaRPr/>
          </a:p>
          <a:p>
            <a:pPr lvl="0">
              <a:spcBef>
                <a:spcPts val="0"/>
              </a:spcBef>
              <a:buNone/>
            </a:pPr>
            <a:r>
              <a:rPr lang="en"/>
              <a:t>What are some drawbacks of using this test? </a:t>
            </a:r>
          </a:p>
          <a:p>
            <a:pPr lvl="0">
              <a:spcBef>
                <a:spcPts val="0"/>
              </a:spcBef>
              <a:buNone/>
            </a:pPr>
            <a:r>
              <a:rPr lang="en" sz="900">
                <a:solidFill>
                  <a:schemeClr val="dk1"/>
                </a:solidFill>
              </a:rPr>
              <a:t>when the sample size is similar or when the smallest manpower has the greatest variance, the t‐test is more powerful </a:t>
            </a:r>
          </a:p>
          <a:p>
            <a:pPr lvl="0">
              <a:spcBef>
                <a:spcPts val="0"/>
              </a:spcBef>
              <a:buNone/>
            </a:pPr>
            <a:endParaRPr sz="900">
              <a:solidFill>
                <a:schemeClr val="dk1"/>
              </a:solidFill>
            </a:endParaRPr>
          </a:p>
          <a:p>
            <a:pPr lvl="0">
              <a:spcBef>
                <a:spcPts val="0"/>
              </a:spcBef>
              <a:buClr>
                <a:schemeClr val="dk1"/>
              </a:buClr>
              <a:buSzPct val="122222"/>
              <a:buFont typeface="Arial"/>
              <a:buNone/>
            </a:pPr>
            <a:r>
              <a:rPr lang="en" sz="900">
                <a:solidFill>
                  <a:schemeClr val="dk1"/>
                </a:solidFill>
              </a:rPr>
              <a:t>Source:  Nachar.</a:t>
            </a:r>
          </a:p>
          <a:p>
            <a:pPr lvl="0">
              <a:spcBef>
                <a:spcPts val="0"/>
              </a:spcBef>
              <a:buClr>
                <a:schemeClr val="dk1"/>
              </a:buClr>
              <a:buSzPct val="100000"/>
              <a:buFont typeface="Arial"/>
              <a:buNone/>
            </a:pPr>
            <a:r>
              <a:rPr lang="en">
                <a:solidFill>
                  <a:schemeClr val="dk1"/>
                </a:solidFill>
              </a:rPr>
              <a:t>				</a:t>
            </a:r>
          </a:p>
          <a:p>
            <a:pPr lvl="0">
              <a:spcBef>
                <a:spcPts val="0"/>
              </a:spcBef>
              <a:buClr>
                <a:schemeClr val="dk1"/>
              </a:buClr>
              <a:buSzPct val="100000"/>
              <a:buFont typeface="Arial"/>
              <a:buNone/>
            </a:pPr>
            <a:r>
              <a:rPr lang="en">
                <a:solidFill>
                  <a:schemeClr val="dk1"/>
                </a:solidFill>
              </a:rPr>
              <a:t>			</a:t>
            </a:r>
          </a:p>
          <a:p>
            <a:pPr lvl="0">
              <a:spcBef>
                <a:spcPts val="0"/>
              </a:spcBef>
              <a:buClr>
                <a:schemeClr val="dk1"/>
              </a:buClr>
              <a:buSzPct val="100000"/>
              <a:buFont typeface="Arial"/>
              <a:buNone/>
            </a:pPr>
            <a:r>
              <a:rPr lang="en">
                <a:solidFill>
                  <a:schemeClr val="dk1"/>
                </a:solidFill>
              </a:rPr>
              <a:t>		</a:t>
            </a:r>
          </a:p>
          <a:p>
            <a:pPr lvl="0">
              <a:spcBef>
                <a:spcPts val="0"/>
              </a:spcBef>
              <a:buNone/>
            </a:pPr>
            <a:endParaRPr/>
          </a:p>
        </p:txBody>
      </p:sp>
    </p:spTree>
    <p:extLst>
      <p:ext uri="{BB962C8B-B14F-4D97-AF65-F5344CB8AC3E}">
        <p14:creationId xmlns:p14="http://schemas.microsoft.com/office/powerpoint/2010/main" val="1059996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p:nvPr/>
        </p:nvSpPr>
        <p:spPr>
          <a:xfrm>
            <a:off x="2744012" y="756700"/>
            <a:ext cx="1081625" cy="1124950"/>
          </a:xfrm>
          <a:custGeom>
            <a:avLst/>
            <a:gdLst/>
            <a:ahLst/>
            <a:cxnLst/>
            <a:rect l="0" t="0" r="0" b="0"/>
            <a:pathLst>
              <a:path w="43265" h="44998" extrusionOk="0">
                <a:moveTo>
                  <a:pt x="0" y="44998"/>
                </a:moveTo>
                <a:lnTo>
                  <a:pt x="0" y="0"/>
                </a:lnTo>
                <a:lnTo>
                  <a:pt x="43265" y="0"/>
                </a:lnTo>
              </a:path>
            </a:pathLst>
          </a:custGeom>
          <a:noFill/>
          <a:ln w="28575" cap="flat" cmpd="sng">
            <a:solidFill>
              <a:schemeClr val="lt2"/>
            </a:solidFill>
            <a:prstDash val="solid"/>
            <a:miter/>
            <a:headEnd type="none" w="med" len="med"/>
            <a:tailEnd type="none" w="med" len="med"/>
          </a:ln>
        </p:spPr>
      </p:sp>
      <p:sp>
        <p:nvSpPr>
          <p:cNvPr id="11" name="Shape 11"/>
          <p:cNvSpPr/>
          <p:nvPr/>
        </p:nvSpPr>
        <p:spPr>
          <a:xfrm rot="10800000">
            <a:off x="5318350" y="3266725"/>
            <a:ext cx="1081625" cy="1124950"/>
          </a:xfrm>
          <a:custGeom>
            <a:avLst/>
            <a:gdLst/>
            <a:ahLst/>
            <a:cxnLst/>
            <a:rect l="0" t="0" r="0" b="0"/>
            <a:pathLst>
              <a:path w="43265" h="44998" extrusionOk="0">
                <a:moveTo>
                  <a:pt x="0" y="44998"/>
                </a:moveTo>
                <a:lnTo>
                  <a:pt x="0" y="0"/>
                </a:lnTo>
                <a:lnTo>
                  <a:pt x="43265" y="0"/>
                </a:lnTo>
              </a:path>
            </a:pathLst>
          </a:custGeom>
          <a:noFill/>
          <a:ln w="28575" cap="flat" cmpd="sng">
            <a:solidFill>
              <a:schemeClr val="lt2"/>
            </a:solidFill>
            <a:prstDash val="solid"/>
            <a:miter/>
            <a:headEnd type="none" w="med" len="med"/>
            <a:tailEnd type="none" w="med" len="med"/>
          </a:ln>
        </p:spPr>
      </p:sp>
      <p:sp>
        <p:nvSpPr>
          <p:cNvPr id="12" name="Shape 12"/>
          <p:cNvSpPr txBox="1">
            <a:spLocks noGrp="1"/>
          </p:cNvSpPr>
          <p:nvPr>
            <p:ph type="ctrTitle"/>
          </p:nvPr>
        </p:nvSpPr>
        <p:spPr>
          <a:xfrm>
            <a:off x="3044700" y="1444255"/>
            <a:ext cx="3054600" cy="1537199"/>
          </a:xfrm>
          <a:prstGeom prst="rect">
            <a:avLst/>
          </a:prstGeom>
        </p:spPr>
        <p:txBody>
          <a:bodyPr lIns="91425" tIns="91425" rIns="91425" bIns="91425" anchor="b" anchorCtr="0"/>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a:endParaRPr/>
          </a:p>
        </p:txBody>
      </p:sp>
      <p:sp>
        <p:nvSpPr>
          <p:cNvPr id="13" name="Shape 13"/>
          <p:cNvSpPr txBox="1">
            <a:spLocks noGrp="1"/>
          </p:cNvSpPr>
          <p:nvPr>
            <p:ph type="subTitle" idx="1"/>
          </p:nvPr>
        </p:nvSpPr>
        <p:spPr>
          <a:xfrm>
            <a:off x="3044700" y="3116580"/>
            <a:ext cx="3054600" cy="701400"/>
          </a:xfrm>
          <a:prstGeom prst="rect">
            <a:avLst/>
          </a:prstGeom>
        </p:spPr>
        <p:txBody>
          <a:bodyPr lIns="91425" tIns="91425" rIns="91425" bIns="91425" anchor="t" anchorCtr="0"/>
          <a:lstStyle>
            <a:lvl1pPr lvl="0" algn="ctr">
              <a:lnSpc>
                <a:spcPct val="100000"/>
              </a:lnSpc>
              <a:spcBef>
                <a:spcPts val="0"/>
              </a:spcBef>
              <a:spcAft>
                <a:spcPts val="0"/>
              </a:spcAft>
              <a:buSzPct val="100000"/>
              <a:buFont typeface="Economica"/>
              <a:buNone/>
              <a:defRPr sz="2100">
                <a:latin typeface="Economica"/>
                <a:ea typeface="Economica"/>
                <a:cs typeface="Economica"/>
                <a:sym typeface="Economica"/>
              </a:defRPr>
            </a:lvl1pPr>
            <a:lvl2pPr lvl="1" algn="ctr">
              <a:lnSpc>
                <a:spcPct val="100000"/>
              </a:lnSpc>
              <a:spcBef>
                <a:spcPts val="0"/>
              </a:spcBef>
              <a:spcAft>
                <a:spcPts val="0"/>
              </a:spcAft>
              <a:buSzPct val="100000"/>
              <a:buFont typeface="Economica"/>
              <a:buNone/>
              <a:defRPr sz="2100">
                <a:latin typeface="Economica"/>
                <a:ea typeface="Economica"/>
                <a:cs typeface="Economica"/>
                <a:sym typeface="Economica"/>
              </a:defRPr>
            </a:lvl2pPr>
            <a:lvl3pPr lvl="2" algn="ctr">
              <a:lnSpc>
                <a:spcPct val="100000"/>
              </a:lnSpc>
              <a:spcBef>
                <a:spcPts val="0"/>
              </a:spcBef>
              <a:spcAft>
                <a:spcPts val="0"/>
              </a:spcAft>
              <a:buSzPct val="100000"/>
              <a:buFont typeface="Economica"/>
              <a:buNone/>
              <a:defRPr sz="2100">
                <a:latin typeface="Economica"/>
                <a:ea typeface="Economica"/>
                <a:cs typeface="Economica"/>
                <a:sym typeface="Economica"/>
              </a:defRPr>
            </a:lvl3pPr>
            <a:lvl4pPr lvl="3" algn="ctr">
              <a:lnSpc>
                <a:spcPct val="100000"/>
              </a:lnSpc>
              <a:spcBef>
                <a:spcPts val="0"/>
              </a:spcBef>
              <a:spcAft>
                <a:spcPts val="0"/>
              </a:spcAft>
              <a:buSzPct val="100000"/>
              <a:buFont typeface="Economica"/>
              <a:buNone/>
              <a:defRPr sz="2100">
                <a:latin typeface="Economica"/>
                <a:ea typeface="Economica"/>
                <a:cs typeface="Economica"/>
                <a:sym typeface="Economica"/>
              </a:defRPr>
            </a:lvl4pPr>
            <a:lvl5pPr lvl="4" algn="ctr">
              <a:lnSpc>
                <a:spcPct val="100000"/>
              </a:lnSpc>
              <a:spcBef>
                <a:spcPts val="0"/>
              </a:spcBef>
              <a:spcAft>
                <a:spcPts val="0"/>
              </a:spcAft>
              <a:buSzPct val="100000"/>
              <a:buFont typeface="Economica"/>
              <a:buNone/>
              <a:defRPr sz="2100">
                <a:latin typeface="Economica"/>
                <a:ea typeface="Economica"/>
                <a:cs typeface="Economica"/>
                <a:sym typeface="Economica"/>
              </a:defRPr>
            </a:lvl5pPr>
            <a:lvl6pPr lvl="5" algn="ctr">
              <a:lnSpc>
                <a:spcPct val="100000"/>
              </a:lnSpc>
              <a:spcBef>
                <a:spcPts val="0"/>
              </a:spcBef>
              <a:spcAft>
                <a:spcPts val="0"/>
              </a:spcAft>
              <a:buSzPct val="100000"/>
              <a:buFont typeface="Economica"/>
              <a:buNone/>
              <a:defRPr sz="2100">
                <a:latin typeface="Economica"/>
                <a:ea typeface="Economica"/>
                <a:cs typeface="Economica"/>
                <a:sym typeface="Economica"/>
              </a:defRPr>
            </a:lvl6pPr>
            <a:lvl7pPr lvl="6" algn="ctr">
              <a:lnSpc>
                <a:spcPct val="100000"/>
              </a:lnSpc>
              <a:spcBef>
                <a:spcPts val="0"/>
              </a:spcBef>
              <a:spcAft>
                <a:spcPts val="0"/>
              </a:spcAft>
              <a:buSzPct val="100000"/>
              <a:buFont typeface="Economica"/>
              <a:buNone/>
              <a:defRPr sz="2100">
                <a:latin typeface="Economica"/>
                <a:ea typeface="Economica"/>
                <a:cs typeface="Economica"/>
                <a:sym typeface="Economica"/>
              </a:defRPr>
            </a:lvl7pPr>
            <a:lvl8pPr lvl="7" algn="ctr">
              <a:lnSpc>
                <a:spcPct val="100000"/>
              </a:lnSpc>
              <a:spcBef>
                <a:spcPts val="0"/>
              </a:spcBef>
              <a:spcAft>
                <a:spcPts val="0"/>
              </a:spcAft>
              <a:buSzPct val="100000"/>
              <a:buFont typeface="Economica"/>
              <a:buNone/>
              <a:defRPr sz="2100">
                <a:latin typeface="Economica"/>
                <a:ea typeface="Economica"/>
                <a:cs typeface="Economica"/>
                <a:sym typeface="Economica"/>
              </a:defRPr>
            </a:lvl8pPr>
            <a:lvl9pPr lvl="8" algn="ctr">
              <a:lnSpc>
                <a:spcPct val="100000"/>
              </a:lnSpc>
              <a:spcBef>
                <a:spcPts val="0"/>
              </a:spcBef>
              <a:spcAft>
                <a:spcPts val="0"/>
              </a:spcAft>
              <a:buSzPct val="100000"/>
              <a:buFont typeface="Economica"/>
              <a:buNone/>
              <a:defRPr sz="2100">
                <a:latin typeface="Economica"/>
                <a:ea typeface="Economica"/>
                <a:cs typeface="Economica"/>
                <a:sym typeface="Economica"/>
              </a:defRPr>
            </a:lvl9pPr>
          </a:lstStyle>
          <a:p>
            <a:endParaRPr/>
          </a:p>
        </p:txBody>
      </p:sp>
      <p:sp>
        <p:nvSpPr>
          <p:cNvPr id="14" name="Shape 14"/>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5"/>
        <p:cNvGrpSpPr/>
        <p:nvPr/>
      </p:nvGrpSpPr>
      <p:grpSpPr>
        <a:xfrm>
          <a:off x="0" y="0"/>
          <a:ext cx="0" cy="0"/>
          <a:chOff x="0" y="0"/>
          <a:chExt cx="0" cy="0"/>
        </a:xfrm>
      </p:grpSpPr>
      <p:sp>
        <p:nvSpPr>
          <p:cNvPr id="16" name="Shape 16"/>
          <p:cNvSpPr/>
          <p:nvPr/>
        </p:nvSpPr>
        <p:spPr>
          <a:xfrm flipH="1">
            <a:off x="7595937" y="460225"/>
            <a:ext cx="1081625" cy="1124950"/>
          </a:xfrm>
          <a:custGeom>
            <a:avLst/>
            <a:gdLst/>
            <a:ahLst/>
            <a:cxnLst/>
            <a:rect l="0" t="0" r="0" b="0"/>
            <a:pathLst>
              <a:path w="43265" h="44998" extrusionOk="0">
                <a:moveTo>
                  <a:pt x="0" y="44998"/>
                </a:moveTo>
                <a:lnTo>
                  <a:pt x="0" y="0"/>
                </a:lnTo>
                <a:lnTo>
                  <a:pt x="43265" y="0"/>
                </a:lnTo>
              </a:path>
            </a:pathLst>
          </a:custGeom>
          <a:noFill/>
          <a:ln w="28575" cap="flat" cmpd="sng">
            <a:solidFill>
              <a:schemeClr val="lt2"/>
            </a:solidFill>
            <a:prstDash val="solid"/>
            <a:miter/>
            <a:headEnd type="none" w="med" len="med"/>
            <a:tailEnd type="none" w="med" len="med"/>
          </a:ln>
        </p:spPr>
      </p:sp>
      <p:sp>
        <p:nvSpPr>
          <p:cNvPr id="17" name="Shape 17"/>
          <p:cNvSpPr/>
          <p:nvPr/>
        </p:nvSpPr>
        <p:spPr>
          <a:xfrm rot="10800000" flipH="1">
            <a:off x="466425" y="3558325"/>
            <a:ext cx="1081625" cy="1124950"/>
          </a:xfrm>
          <a:custGeom>
            <a:avLst/>
            <a:gdLst/>
            <a:ahLst/>
            <a:cxnLst/>
            <a:rect l="0" t="0" r="0" b="0"/>
            <a:pathLst>
              <a:path w="43265" h="44998" extrusionOk="0">
                <a:moveTo>
                  <a:pt x="0" y="44998"/>
                </a:moveTo>
                <a:lnTo>
                  <a:pt x="0" y="0"/>
                </a:lnTo>
                <a:lnTo>
                  <a:pt x="43265" y="0"/>
                </a:lnTo>
              </a:path>
            </a:pathLst>
          </a:custGeom>
          <a:noFill/>
          <a:ln w="28575" cap="flat" cmpd="sng">
            <a:solidFill>
              <a:schemeClr val="lt2"/>
            </a:solidFill>
            <a:prstDash val="solid"/>
            <a:miter/>
            <a:headEnd type="none" w="med" len="med"/>
            <a:tailEnd type="none" w="med" len="med"/>
          </a:ln>
        </p:spPr>
      </p:sp>
      <p:sp>
        <p:nvSpPr>
          <p:cNvPr id="18" name="Shape 18"/>
          <p:cNvSpPr txBox="1">
            <a:spLocks noGrp="1"/>
          </p:cNvSpPr>
          <p:nvPr>
            <p:ph type="title"/>
          </p:nvPr>
        </p:nvSpPr>
        <p:spPr>
          <a:xfrm>
            <a:off x="773700" y="1806450"/>
            <a:ext cx="7596600" cy="1530600"/>
          </a:xfrm>
          <a:prstGeom prst="rect">
            <a:avLst/>
          </a:prstGeom>
        </p:spPr>
        <p:txBody>
          <a:bodyPr lIns="91425" tIns="91425" rIns="91425" bIns="91425" anchor="ctr" anchorCtr="0"/>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a:endParaRPr/>
          </a:p>
        </p:txBody>
      </p:sp>
      <p:sp>
        <p:nvSpPr>
          <p:cNvPr id="19" name="Shape 19"/>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20"/>
        <p:cNvGrpSpPr/>
        <p:nvPr/>
      </p:nvGrpSpPr>
      <p:grpSpPr>
        <a:xfrm>
          <a:off x="0" y="0"/>
          <a:ext cx="0" cy="0"/>
          <a:chOff x="0" y="0"/>
          <a:chExt cx="0" cy="0"/>
        </a:xfrm>
      </p:grpSpPr>
      <p:sp>
        <p:nvSpPr>
          <p:cNvPr id="21" name="Shape 21"/>
          <p:cNvSpPr/>
          <p:nvPr/>
        </p:nvSpPr>
        <p:spPr>
          <a:xfrm>
            <a:off x="0" y="5045700"/>
            <a:ext cx="9144000" cy="97800"/>
          </a:xfrm>
          <a:prstGeom prst="rect">
            <a:avLst/>
          </a:prstGeom>
          <a:solidFill>
            <a:schemeClr val="lt2"/>
          </a:soli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311700" y="315925"/>
            <a:ext cx="8520600" cy="8313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3" name="Shape 23"/>
          <p:cNvSpPr txBox="1">
            <a:spLocks noGrp="1"/>
          </p:cNvSpPr>
          <p:nvPr>
            <p:ph type="body" idx="1"/>
          </p:nvPr>
        </p:nvSpPr>
        <p:spPr>
          <a:xfrm>
            <a:off x="311700" y="1225225"/>
            <a:ext cx="8520600" cy="33540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4" name="Shape 24"/>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315925"/>
            <a:ext cx="8520600" cy="8313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7" name="Shape 27"/>
          <p:cNvSpPr txBox="1">
            <a:spLocks noGrp="1"/>
          </p:cNvSpPr>
          <p:nvPr>
            <p:ph type="body" idx="1"/>
          </p:nvPr>
        </p:nvSpPr>
        <p:spPr>
          <a:xfrm>
            <a:off x="311700" y="1225225"/>
            <a:ext cx="3999900" cy="33540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8" name="Shape 28"/>
          <p:cNvSpPr txBox="1">
            <a:spLocks noGrp="1"/>
          </p:cNvSpPr>
          <p:nvPr>
            <p:ph type="body" idx="2"/>
          </p:nvPr>
        </p:nvSpPr>
        <p:spPr>
          <a:xfrm>
            <a:off x="4832400" y="1225225"/>
            <a:ext cx="3999900" cy="33540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9" name="Shape 29"/>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311700" y="315925"/>
            <a:ext cx="8520600" cy="8313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32" name="Shape 32"/>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3"/>
        <p:cNvGrpSpPr/>
        <p:nvPr/>
      </p:nvGrpSpPr>
      <p:grpSpPr>
        <a:xfrm>
          <a:off x="0" y="0"/>
          <a:ext cx="0" cy="0"/>
          <a:chOff x="0" y="0"/>
          <a:chExt cx="0" cy="0"/>
        </a:xfrm>
      </p:grpSpPr>
      <p:sp>
        <p:nvSpPr>
          <p:cNvPr id="34" name="Shape 34"/>
          <p:cNvSpPr txBox="1">
            <a:spLocks noGrp="1"/>
          </p:cNvSpPr>
          <p:nvPr>
            <p:ph type="title"/>
          </p:nvPr>
        </p:nvSpPr>
        <p:spPr>
          <a:xfrm>
            <a:off x="311700" y="555600"/>
            <a:ext cx="2808000" cy="755700"/>
          </a:xfrm>
          <a:prstGeom prst="rect">
            <a:avLst/>
          </a:prstGeom>
        </p:spPr>
        <p:txBody>
          <a:bodyPr lIns="91425" tIns="91425" rIns="91425" bIns="91425" anchor="b" anchorCtr="0"/>
          <a:lstStyle>
            <a:lvl1pPr lvl="0">
              <a:spcBef>
                <a:spcPts val="0"/>
              </a:spcBef>
              <a:buSzPct val="100000"/>
              <a:defRPr sz="3000"/>
            </a:lvl1pPr>
            <a:lvl2pPr lvl="1">
              <a:spcBef>
                <a:spcPts val="0"/>
              </a:spcBef>
              <a:buSzPct val="100000"/>
              <a:defRPr sz="3000"/>
            </a:lvl2pPr>
            <a:lvl3pPr lvl="2">
              <a:spcBef>
                <a:spcPts val="0"/>
              </a:spcBef>
              <a:buSzPct val="100000"/>
              <a:defRPr sz="3000"/>
            </a:lvl3pPr>
            <a:lvl4pPr lvl="3">
              <a:spcBef>
                <a:spcPts val="0"/>
              </a:spcBef>
              <a:buSzPct val="100000"/>
              <a:defRPr sz="3000"/>
            </a:lvl4pPr>
            <a:lvl5pPr lvl="4">
              <a:spcBef>
                <a:spcPts val="0"/>
              </a:spcBef>
              <a:buSzPct val="100000"/>
              <a:defRPr sz="3000"/>
            </a:lvl5pPr>
            <a:lvl6pPr lvl="5">
              <a:spcBef>
                <a:spcPts val="0"/>
              </a:spcBef>
              <a:buSzPct val="100000"/>
              <a:defRPr sz="3000"/>
            </a:lvl6pPr>
            <a:lvl7pPr lvl="6">
              <a:spcBef>
                <a:spcPts val="0"/>
              </a:spcBef>
              <a:buSzPct val="100000"/>
              <a:defRPr sz="3000"/>
            </a:lvl7pPr>
            <a:lvl8pPr lvl="7">
              <a:spcBef>
                <a:spcPts val="0"/>
              </a:spcBef>
              <a:buSzPct val="100000"/>
              <a:defRPr sz="3000"/>
            </a:lvl8pPr>
            <a:lvl9pPr lvl="8">
              <a:spcBef>
                <a:spcPts val="0"/>
              </a:spcBef>
              <a:buSzPct val="100000"/>
              <a:defRPr sz="3000"/>
            </a:lvl9pPr>
          </a:lstStyle>
          <a:p>
            <a:endParaRPr/>
          </a:p>
        </p:txBody>
      </p:sp>
      <p:sp>
        <p:nvSpPr>
          <p:cNvPr id="35" name="Shape 35"/>
          <p:cNvSpPr txBox="1">
            <a:spLocks noGrp="1"/>
          </p:cNvSpPr>
          <p:nvPr>
            <p:ph type="body" idx="1"/>
          </p:nvPr>
        </p:nvSpPr>
        <p:spPr>
          <a:xfrm>
            <a:off x="311700" y="1399399"/>
            <a:ext cx="2808000" cy="2784900"/>
          </a:xfrm>
          <a:prstGeom prst="rect">
            <a:avLst/>
          </a:prstGeom>
        </p:spPr>
        <p:txBody>
          <a:bodyPr lIns="91425" tIns="91425" rIns="91425" bIns="91425" anchor="t" anchorCtr="0"/>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36" name="Shape 36"/>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spTree>
      <p:nvGrpSpPr>
        <p:cNvPr id="1" name="Shape 37"/>
        <p:cNvGrpSpPr/>
        <p:nvPr/>
      </p:nvGrpSpPr>
      <p:grpSpPr>
        <a:xfrm>
          <a:off x="0" y="0"/>
          <a:ext cx="0" cy="0"/>
          <a:chOff x="0" y="0"/>
          <a:chExt cx="0" cy="0"/>
        </a:xfrm>
      </p:grpSpPr>
      <p:sp>
        <p:nvSpPr>
          <p:cNvPr id="38" name="Shape 38"/>
          <p:cNvSpPr/>
          <p:nvPr/>
        </p:nvSpPr>
        <p:spPr>
          <a:xfrm>
            <a:off x="0" y="5045700"/>
            <a:ext cx="9144000" cy="97800"/>
          </a:xfrm>
          <a:prstGeom prst="rect">
            <a:avLst/>
          </a:prstGeom>
          <a:solidFill>
            <a:schemeClr val="lt2"/>
          </a:solidFill>
          <a:ln>
            <a:noFill/>
          </a:ln>
        </p:spPr>
        <p:txBody>
          <a:bodyPr lIns="91425" tIns="91425" rIns="91425" bIns="91425" anchor="ctr" anchorCtr="0">
            <a:noAutofit/>
          </a:bodyPr>
          <a:lstStyle/>
          <a:p>
            <a:pPr lvl="0">
              <a:spcBef>
                <a:spcPts val="0"/>
              </a:spcBef>
              <a:buNone/>
            </a:pPr>
            <a:endParaRPr/>
          </a:p>
        </p:txBody>
      </p:sp>
      <p:sp>
        <p:nvSpPr>
          <p:cNvPr id="39" name="Shape 39"/>
          <p:cNvSpPr txBox="1">
            <a:spLocks noGrp="1"/>
          </p:cNvSpPr>
          <p:nvPr>
            <p:ph type="title"/>
          </p:nvPr>
        </p:nvSpPr>
        <p:spPr>
          <a:xfrm>
            <a:off x="490250" y="450150"/>
            <a:ext cx="5878800" cy="4090800"/>
          </a:xfrm>
          <a:prstGeom prst="rect">
            <a:avLst/>
          </a:prstGeom>
        </p:spPr>
        <p:txBody>
          <a:bodyPr lIns="91425" tIns="91425" rIns="91425" bIns="91425" anchor="ctr" anchorCtr="0"/>
          <a:lstStyle>
            <a:lvl1pPr lvl="0">
              <a:spcBef>
                <a:spcPts val="0"/>
              </a:spcBef>
              <a:buSzPct val="100000"/>
              <a:defRPr sz="4800"/>
            </a:lvl1pPr>
            <a:lvl2pPr lvl="1">
              <a:spcBef>
                <a:spcPts val="0"/>
              </a:spcBef>
              <a:buSzPct val="100000"/>
              <a:defRPr sz="4800"/>
            </a:lvl2pPr>
            <a:lvl3pPr lvl="2">
              <a:spcBef>
                <a:spcPts val="0"/>
              </a:spcBef>
              <a:buSzPct val="100000"/>
              <a:defRPr sz="4800"/>
            </a:lvl3pPr>
            <a:lvl4pPr lvl="3">
              <a:spcBef>
                <a:spcPts val="0"/>
              </a:spcBef>
              <a:buSzPct val="100000"/>
              <a:defRPr sz="4800"/>
            </a:lvl4pPr>
            <a:lvl5pPr lvl="4">
              <a:spcBef>
                <a:spcPts val="0"/>
              </a:spcBef>
              <a:buSzPct val="100000"/>
              <a:defRPr sz="4800"/>
            </a:lvl5pPr>
            <a:lvl6pPr lvl="5">
              <a:spcBef>
                <a:spcPts val="0"/>
              </a:spcBef>
              <a:buSzPct val="100000"/>
              <a:defRPr sz="4800"/>
            </a:lvl6pPr>
            <a:lvl7pPr lvl="6">
              <a:spcBef>
                <a:spcPts val="0"/>
              </a:spcBef>
              <a:buSzPct val="100000"/>
              <a:defRPr sz="4800"/>
            </a:lvl7pPr>
            <a:lvl8pPr lvl="7">
              <a:spcBef>
                <a:spcPts val="0"/>
              </a:spcBef>
              <a:buSzPct val="100000"/>
              <a:defRPr sz="4800"/>
            </a:lvl8pPr>
            <a:lvl9pPr lvl="8">
              <a:spcBef>
                <a:spcPts val="0"/>
              </a:spcBef>
              <a:buSzPct val="100000"/>
              <a:defRPr sz="4800"/>
            </a:lvl9pPr>
          </a:lstStyle>
          <a:p>
            <a:endParaRPr/>
          </a:p>
        </p:txBody>
      </p:sp>
      <p:sp>
        <p:nvSpPr>
          <p:cNvPr id="40" name="Shape 40"/>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41"/>
        <p:cNvGrpSpPr/>
        <p:nvPr/>
      </p:nvGrpSpPr>
      <p:grpSpPr>
        <a:xfrm>
          <a:off x="0" y="0"/>
          <a:ext cx="0" cy="0"/>
          <a:chOff x="0" y="0"/>
          <a:chExt cx="0" cy="0"/>
        </a:xfrm>
      </p:grpSpPr>
      <p:sp>
        <p:nvSpPr>
          <p:cNvPr id="42" name="Shape 42"/>
          <p:cNvSpPr/>
          <p:nvPr/>
        </p:nvSpPr>
        <p:spPr>
          <a:xfrm>
            <a:off x="4572000" y="-25"/>
            <a:ext cx="4572000" cy="5143500"/>
          </a:xfrm>
          <a:prstGeom prst="rect">
            <a:avLst/>
          </a:prstGeom>
          <a:solidFill>
            <a:schemeClr val="lt2"/>
          </a:solidFill>
          <a:ln>
            <a:noFill/>
          </a:ln>
        </p:spPr>
        <p:txBody>
          <a:bodyPr lIns="91425" tIns="91425" rIns="91425" bIns="91425" anchor="ctr" anchorCtr="0">
            <a:noAutofit/>
          </a:bodyPr>
          <a:lstStyle/>
          <a:p>
            <a:pPr lvl="0">
              <a:spcBef>
                <a:spcPts val="0"/>
              </a:spcBef>
              <a:buNone/>
            </a:pPr>
            <a:endParaRPr/>
          </a:p>
        </p:txBody>
      </p:sp>
      <p:cxnSp>
        <p:nvCxnSpPr>
          <p:cNvPr id="43" name="Shape 43"/>
          <p:cNvCxnSpPr/>
          <p:nvPr/>
        </p:nvCxnSpPr>
        <p:spPr>
          <a:xfrm>
            <a:off x="5029675" y="4495500"/>
            <a:ext cx="468300" cy="0"/>
          </a:xfrm>
          <a:prstGeom prst="straightConnector1">
            <a:avLst/>
          </a:prstGeom>
          <a:noFill/>
          <a:ln w="19050" cap="flat" cmpd="sng">
            <a:solidFill>
              <a:schemeClr val="lt1"/>
            </a:solidFill>
            <a:prstDash val="solid"/>
            <a:round/>
            <a:headEnd type="none" w="med" len="med"/>
            <a:tailEnd type="none" w="med" len="med"/>
          </a:ln>
        </p:spPr>
      </p:cxnSp>
      <p:sp>
        <p:nvSpPr>
          <p:cNvPr id="44" name="Shape 44"/>
          <p:cNvSpPr txBox="1">
            <a:spLocks noGrp="1"/>
          </p:cNvSpPr>
          <p:nvPr>
            <p:ph type="title"/>
          </p:nvPr>
        </p:nvSpPr>
        <p:spPr>
          <a:xfrm>
            <a:off x="265500" y="929275"/>
            <a:ext cx="4045200" cy="1786200"/>
          </a:xfrm>
          <a:prstGeom prst="rect">
            <a:avLst/>
          </a:prstGeom>
        </p:spPr>
        <p:txBody>
          <a:bodyPr lIns="91425" tIns="91425" rIns="91425" bIns="91425" anchor="b" anchorCtr="0"/>
          <a:lstStyle>
            <a:lvl1pPr lvl="0" algn="ctr">
              <a:spcBef>
                <a:spcPts val="0"/>
              </a:spcBef>
              <a:buClr>
                <a:schemeClr val="lt2"/>
              </a:buClr>
              <a:defRPr>
                <a:solidFill>
                  <a:schemeClr val="lt2"/>
                </a:solidFill>
              </a:defRPr>
            </a:lvl1pPr>
            <a:lvl2pPr lvl="1" algn="ctr">
              <a:spcBef>
                <a:spcPts val="0"/>
              </a:spcBef>
              <a:buClr>
                <a:schemeClr val="lt2"/>
              </a:buClr>
              <a:defRPr>
                <a:solidFill>
                  <a:schemeClr val="lt2"/>
                </a:solidFill>
              </a:defRPr>
            </a:lvl2pPr>
            <a:lvl3pPr lvl="2" algn="ctr">
              <a:spcBef>
                <a:spcPts val="0"/>
              </a:spcBef>
              <a:buClr>
                <a:schemeClr val="lt2"/>
              </a:buClr>
              <a:defRPr>
                <a:solidFill>
                  <a:schemeClr val="lt2"/>
                </a:solidFill>
              </a:defRPr>
            </a:lvl3pPr>
            <a:lvl4pPr lvl="3" algn="ctr">
              <a:spcBef>
                <a:spcPts val="0"/>
              </a:spcBef>
              <a:buClr>
                <a:schemeClr val="lt2"/>
              </a:buClr>
              <a:defRPr>
                <a:solidFill>
                  <a:schemeClr val="lt2"/>
                </a:solidFill>
              </a:defRPr>
            </a:lvl4pPr>
            <a:lvl5pPr lvl="4" algn="ctr">
              <a:spcBef>
                <a:spcPts val="0"/>
              </a:spcBef>
              <a:buClr>
                <a:schemeClr val="lt2"/>
              </a:buClr>
              <a:defRPr>
                <a:solidFill>
                  <a:schemeClr val="lt2"/>
                </a:solidFill>
              </a:defRPr>
            </a:lvl5pPr>
            <a:lvl6pPr lvl="5" algn="ctr">
              <a:spcBef>
                <a:spcPts val="0"/>
              </a:spcBef>
              <a:buClr>
                <a:schemeClr val="lt2"/>
              </a:buClr>
              <a:defRPr>
                <a:solidFill>
                  <a:schemeClr val="lt2"/>
                </a:solidFill>
              </a:defRPr>
            </a:lvl6pPr>
            <a:lvl7pPr lvl="6" algn="ctr">
              <a:spcBef>
                <a:spcPts val="0"/>
              </a:spcBef>
              <a:buClr>
                <a:schemeClr val="lt2"/>
              </a:buClr>
              <a:defRPr>
                <a:solidFill>
                  <a:schemeClr val="lt2"/>
                </a:solidFill>
              </a:defRPr>
            </a:lvl7pPr>
            <a:lvl8pPr lvl="7" algn="ctr">
              <a:spcBef>
                <a:spcPts val="0"/>
              </a:spcBef>
              <a:buClr>
                <a:schemeClr val="lt2"/>
              </a:buClr>
              <a:defRPr>
                <a:solidFill>
                  <a:schemeClr val="lt2"/>
                </a:solidFill>
              </a:defRPr>
            </a:lvl8pPr>
            <a:lvl9pPr lvl="8" algn="ctr">
              <a:spcBef>
                <a:spcPts val="0"/>
              </a:spcBef>
              <a:buClr>
                <a:schemeClr val="lt2"/>
              </a:buClr>
              <a:defRPr>
                <a:solidFill>
                  <a:schemeClr val="lt2"/>
                </a:solidFill>
              </a:defRPr>
            </a:lvl9pPr>
          </a:lstStyle>
          <a:p>
            <a:endParaRPr/>
          </a:p>
        </p:txBody>
      </p:sp>
      <p:sp>
        <p:nvSpPr>
          <p:cNvPr id="45" name="Shape 45"/>
          <p:cNvSpPr txBox="1">
            <a:spLocks noGrp="1"/>
          </p:cNvSpPr>
          <p:nvPr>
            <p:ph type="subTitle" idx="1"/>
          </p:nvPr>
        </p:nvSpPr>
        <p:spPr>
          <a:xfrm>
            <a:off x="265500" y="2769000"/>
            <a:ext cx="4045200" cy="1574100"/>
          </a:xfrm>
          <a:prstGeom prst="rect">
            <a:avLst/>
          </a:prstGeom>
        </p:spPr>
        <p:txBody>
          <a:bodyPr lIns="91425" tIns="91425" rIns="91425" bIns="91425" anchor="t" anchorCtr="0"/>
          <a:lstStyle>
            <a:lvl1pPr lvl="0" algn="ctr">
              <a:lnSpc>
                <a:spcPct val="100000"/>
              </a:lnSpc>
              <a:spcBef>
                <a:spcPts val="0"/>
              </a:spcBef>
              <a:spcAft>
                <a:spcPts val="0"/>
              </a:spcAft>
              <a:buSzPct val="100000"/>
              <a:buFont typeface="Economica"/>
              <a:buNone/>
              <a:defRPr sz="2400">
                <a:latin typeface="Economica"/>
                <a:ea typeface="Economica"/>
                <a:cs typeface="Economica"/>
                <a:sym typeface="Economica"/>
              </a:defRPr>
            </a:lvl1pPr>
            <a:lvl2pPr lvl="1" algn="ctr">
              <a:lnSpc>
                <a:spcPct val="100000"/>
              </a:lnSpc>
              <a:spcBef>
                <a:spcPts val="0"/>
              </a:spcBef>
              <a:spcAft>
                <a:spcPts val="0"/>
              </a:spcAft>
              <a:buSzPct val="100000"/>
              <a:buFont typeface="Economica"/>
              <a:buNone/>
              <a:defRPr sz="2400">
                <a:latin typeface="Economica"/>
                <a:ea typeface="Economica"/>
                <a:cs typeface="Economica"/>
                <a:sym typeface="Economica"/>
              </a:defRPr>
            </a:lvl2pPr>
            <a:lvl3pPr lvl="2" algn="ctr">
              <a:lnSpc>
                <a:spcPct val="100000"/>
              </a:lnSpc>
              <a:spcBef>
                <a:spcPts val="0"/>
              </a:spcBef>
              <a:spcAft>
                <a:spcPts val="0"/>
              </a:spcAft>
              <a:buSzPct val="100000"/>
              <a:buFont typeface="Economica"/>
              <a:buNone/>
              <a:defRPr sz="2400">
                <a:latin typeface="Economica"/>
                <a:ea typeface="Economica"/>
                <a:cs typeface="Economica"/>
                <a:sym typeface="Economica"/>
              </a:defRPr>
            </a:lvl3pPr>
            <a:lvl4pPr lvl="3" algn="ctr">
              <a:lnSpc>
                <a:spcPct val="100000"/>
              </a:lnSpc>
              <a:spcBef>
                <a:spcPts val="0"/>
              </a:spcBef>
              <a:spcAft>
                <a:spcPts val="0"/>
              </a:spcAft>
              <a:buSzPct val="100000"/>
              <a:buFont typeface="Economica"/>
              <a:buNone/>
              <a:defRPr sz="2400">
                <a:latin typeface="Economica"/>
                <a:ea typeface="Economica"/>
                <a:cs typeface="Economica"/>
                <a:sym typeface="Economica"/>
              </a:defRPr>
            </a:lvl4pPr>
            <a:lvl5pPr lvl="4" algn="ctr">
              <a:lnSpc>
                <a:spcPct val="100000"/>
              </a:lnSpc>
              <a:spcBef>
                <a:spcPts val="0"/>
              </a:spcBef>
              <a:spcAft>
                <a:spcPts val="0"/>
              </a:spcAft>
              <a:buSzPct val="100000"/>
              <a:buFont typeface="Economica"/>
              <a:buNone/>
              <a:defRPr sz="2400">
                <a:latin typeface="Economica"/>
                <a:ea typeface="Economica"/>
                <a:cs typeface="Economica"/>
                <a:sym typeface="Economica"/>
              </a:defRPr>
            </a:lvl5pPr>
            <a:lvl6pPr lvl="5" algn="ctr">
              <a:lnSpc>
                <a:spcPct val="100000"/>
              </a:lnSpc>
              <a:spcBef>
                <a:spcPts val="0"/>
              </a:spcBef>
              <a:spcAft>
                <a:spcPts val="0"/>
              </a:spcAft>
              <a:buSzPct val="100000"/>
              <a:buFont typeface="Economica"/>
              <a:buNone/>
              <a:defRPr sz="2400">
                <a:latin typeface="Economica"/>
                <a:ea typeface="Economica"/>
                <a:cs typeface="Economica"/>
                <a:sym typeface="Economica"/>
              </a:defRPr>
            </a:lvl6pPr>
            <a:lvl7pPr lvl="6" algn="ctr">
              <a:lnSpc>
                <a:spcPct val="100000"/>
              </a:lnSpc>
              <a:spcBef>
                <a:spcPts val="0"/>
              </a:spcBef>
              <a:spcAft>
                <a:spcPts val="0"/>
              </a:spcAft>
              <a:buSzPct val="100000"/>
              <a:buFont typeface="Economica"/>
              <a:buNone/>
              <a:defRPr sz="2400">
                <a:latin typeface="Economica"/>
                <a:ea typeface="Economica"/>
                <a:cs typeface="Economica"/>
                <a:sym typeface="Economica"/>
              </a:defRPr>
            </a:lvl7pPr>
            <a:lvl8pPr lvl="7" algn="ctr">
              <a:lnSpc>
                <a:spcPct val="100000"/>
              </a:lnSpc>
              <a:spcBef>
                <a:spcPts val="0"/>
              </a:spcBef>
              <a:spcAft>
                <a:spcPts val="0"/>
              </a:spcAft>
              <a:buSzPct val="100000"/>
              <a:buFont typeface="Economica"/>
              <a:buNone/>
              <a:defRPr sz="2400">
                <a:latin typeface="Economica"/>
                <a:ea typeface="Economica"/>
                <a:cs typeface="Economica"/>
                <a:sym typeface="Economica"/>
              </a:defRPr>
            </a:lvl8pPr>
            <a:lvl9pPr lvl="8" algn="ctr">
              <a:lnSpc>
                <a:spcPct val="100000"/>
              </a:lnSpc>
              <a:spcBef>
                <a:spcPts val="0"/>
              </a:spcBef>
              <a:spcAft>
                <a:spcPts val="0"/>
              </a:spcAft>
              <a:buSzPct val="100000"/>
              <a:buFont typeface="Economica"/>
              <a:buNone/>
              <a:defRPr sz="2400">
                <a:latin typeface="Economica"/>
                <a:ea typeface="Economica"/>
                <a:cs typeface="Economica"/>
                <a:sym typeface="Economica"/>
              </a:defRPr>
            </a:lvl9pPr>
          </a:lstStyle>
          <a:p>
            <a:endParaRPr/>
          </a:p>
        </p:txBody>
      </p:sp>
      <p:sp>
        <p:nvSpPr>
          <p:cNvPr id="46" name="Shape 46"/>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a:spcBef>
                <a:spcPts val="0"/>
              </a:spcBef>
              <a:buClr>
                <a:schemeClr val="lt1"/>
              </a:buClr>
              <a:defRPr>
                <a:solidFill>
                  <a:schemeClr val="lt1"/>
                </a:solidFill>
              </a:defRPr>
            </a:lvl1pPr>
            <a:lvl2pPr lvl="1">
              <a:spcBef>
                <a:spcPts val="0"/>
              </a:spcBef>
              <a:buClr>
                <a:schemeClr val="lt1"/>
              </a:buClr>
              <a:defRPr>
                <a:solidFill>
                  <a:schemeClr val="lt1"/>
                </a:solidFill>
              </a:defRPr>
            </a:lvl2pPr>
            <a:lvl3pPr lvl="2">
              <a:spcBef>
                <a:spcPts val="0"/>
              </a:spcBef>
              <a:buClr>
                <a:schemeClr val="lt1"/>
              </a:buClr>
              <a:defRPr>
                <a:solidFill>
                  <a:schemeClr val="lt1"/>
                </a:solidFill>
              </a:defRPr>
            </a:lvl3pPr>
            <a:lvl4pPr lvl="3">
              <a:spcBef>
                <a:spcPts val="0"/>
              </a:spcBef>
              <a:buClr>
                <a:schemeClr val="lt1"/>
              </a:buClr>
              <a:defRPr>
                <a:solidFill>
                  <a:schemeClr val="lt1"/>
                </a:solidFill>
              </a:defRPr>
            </a:lvl4pPr>
            <a:lvl5pPr lvl="4">
              <a:spcBef>
                <a:spcPts val="0"/>
              </a:spcBef>
              <a:buClr>
                <a:schemeClr val="lt1"/>
              </a:buClr>
              <a:defRPr>
                <a:solidFill>
                  <a:schemeClr val="lt1"/>
                </a:solidFill>
              </a:defRPr>
            </a:lvl5pPr>
            <a:lvl6pPr lvl="5">
              <a:spcBef>
                <a:spcPts val="0"/>
              </a:spcBef>
              <a:buClr>
                <a:schemeClr val="lt1"/>
              </a:buClr>
              <a:defRPr>
                <a:solidFill>
                  <a:schemeClr val="lt1"/>
                </a:solidFill>
              </a:defRPr>
            </a:lvl6pPr>
            <a:lvl7pPr lvl="6">
              <a:spcBef>
                <a:spcPts val="0"/>
              </a:spcBef>
              <a:buClr>
                <a:schemeClr val="lt1"/>
              </a:buClr>
              <a:defRPr>
                <a:solidFill>
                  <a:schemeClr val="lt1"/>
                </a:solidFill>
              </a:defRPr>
            </a:lvl7pPr>
            <a:lvl8pPr lvl="7">
              <a:spcBef>
                <a:spcPts val="0"/>
              </a:spcBef>
              <a:buClr>
                <a:schemeClr val="lt1"/>
              </a:buClr>
              <a:defRPr>
                <a:solidFill>
                  <a:schemeClr val="lt1"/>
                </a:solidFill>
              </a:defRPr>
            </a:lvl8pPr>
            <a:lvl9pPr lvl="8">
              <a:spcBef>
                <a:spcPts val="0"/>
              </a:spcBef>
              <a:buClr>
                <a:schemeClr val="lt1"/>
              </a:buClr>
              <a:defRPr>
                <a:solidFill>
                  <a:schemeClr val="lt1"/>
                </a:solidFill>
              </a:defRPr>
            </a:lvl9pPr>
          </a:lstStyle>
          <a:p>
            <a:endParaRPr/>
          </a:p>
        </p:txBody>
      </p:sp>
      <p:sp>
        <p:nvSpPr>
          <p:cNvPr id="47" name="Shape 47"/>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solidFill>
                  <a:schemeClr val="lt1"/>
                </a:solidFill>
              </a:rPr>
              <a:t>‹#›</a:t>
            </a:fld>
            <a:endParaRPr lang="en">
              <a:solidFill>
                <a:schemeClr val="lt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48"/>
        <p:cNvGrpSpPr/>
        <p:nvPr/>
      </p:nvGrpSpPr>
      <p:grpSpPr>
        <a:xfrm>
          <a:off x="0" y="0"/>
          <a:ext cx="0" cy="0"/>
          <a:chOff x="0" y="0"/>
          <a:chExt cx="0" cy="0"/>
        </a:xfrm>
      </p:grpSpPr>
      <p:sp>
        <p:nvSpPr>
          <p:cNvPr id="49" name="Shape 49"/>
          <p:cNvSpPr txBox="1">
            <a:spLocks noGrp="1"/>
          </p:cNvSpPr>
          <p:nvPr>
            <p:ph type="body" idx="1"/>
          </p:nvPr>
        </p:nvSpPr>
        <p:spPr>
          <a:xfrm>
            <a:off x="319500" y="4218925"/>
            <a:ext cx="5998800" cy="598800"/>
          </a:xfrm>
          <a:prstGeom prst="rect">
            <a:avLst/>
          </a:prstGeom>
        </p:spPr>
        <p:txBody>
          <a:bodyPr lIns="91425" tIns="91425" rIns="91425" bIns="91425" anchor="ctr" anchorCtr="0"/>
          <a:lstStyle>
            <a:lvl1pPr lvl="0">
              <a:lnSpc>
                <a:spcPct val="100000"/>
              </a:lnSpc>
              <a:spcBef>
                <a:spcPts val="0"/>
              </a:spcBef>
              <a:spcAft>
                <a:spcPts val="0"/>
              </a:spcAft>
              <a:buSzPct val="100000"/>
              <a:buFont typeface="Economica"/>
              <a:buNone/>
              <a:defRPr sz="2400">
                <a:latin typeface="Economica"/>
                <a:ea typeface="Economica"/>
                <a:cs typeface="Economica"/>
                <a:sym typeface="Economica"/>
              </a:defRPr>
            </a:lvl1pPr>
          </a:lstStyle>
          <a:p>
            <a:endParaRPr/>
          </a:p>
        </p:txBody>
      </p:sp>
      <p:sp>
        <p:nvSpPr>
          <p:cNvPr id="50" name="Shape 50"/>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51"/>
        <p:cNvGrpSpPr/>
        <p:nvPr/>
      </p:nvGrpSpPr>
      <p:grpSpPr>
        <a:xfrm>
          <a:off x="0" y="0"/>
          <a:ext cx="0" cy="0"/>
          <a:chOff x="0" y="0"/>
          <a:chExt cx="0" cy="0"/>
        </a:xfrm>
      </p:grpSpPr>
      <p:sp>
        <p:nvSpPr>
          <p:cNvPr id="52" name="Shape 52"/>
          <p:cNvSpPr/>
          <p:nvPr/>
        </p:nvSpPr>
        <p:spPr>
          <a:xfrm>
            <a:off x="0" y="5045700"/>
            <a:ext cx="9144000" cy="97800"/>
          </a:xfrm>
          <a:prstGeom prst="rect">
            <a:avLst/>
          </a:prstGeom>
          <a:solidFill>
            <a:schemeClr val="lt2"/>
          </a:solidFill>
          <a:ln>
            <a:noFill/>
          </a:ln>
        </p:spPr>
        <p:txBody>
          <a:bodyPr lIns="91425" tIns="91425" rIns="91425" bIns="91425" anchor="ctr" anchorCtr="0">
            <a:noAutofit/>
          </a:bodyPr>
          <a:lstStyle/>
          <a:p>
            <a:pPr lvl="0">
              <a:spcBef>
                <a:spcPts val="0"/>
              </a:spcBef>
              <a:buNone/>
            </a:pPr>
            <a:endParaRPr/>
          </a:p>
        </p:txBody>
      </p:sp>
      <p:sp>
        <p:nvSpPr>
          <p:cNvPr id="53" name="Shape 53"/>
          <p:cNvSpPr txBox="1">
            <a:spLocks noGrp="1"/>
          </p:cNvSpPr>
          <p:nvPr>
            <p:ph type="title"/>
          </p:nvPr>
        </p:nvSpPr>
        <p:spPr>
          <a:xfrm>
            <a:off x="311700" y="957125"/>
            <a:ext cx="8520600" cy="2128800"/>
          </a:xfrm>
          <a:prstGeom prst="rect">
            <a:avLst/>
          </a:prstGeom>
        </p:spPr>
        <p:txBody>
          <a:bodyPr lIns="91425" tIns="91425" rIns="91425" bIns="91425" anchor="ctr" anchorCtr="0"/>
          <a:lstStyle>
            <a:lvl1pPr lvl="0" algn="ctr">
              <a:spcBef>
                <a:spcPts val="0"/>
              </a:spcBef>
              <a:buClr>
                <a:schemeClr val="lt2"/>
              </a:buClr>
              <a:buSzPct val="100000"/>
              <a:defRPr sz="16000">
                <a:solidFill>
                  <a:schemeClr val="lt2"/>
                </a:solidFill>
              </a:defRPr>
            </a:lvl1pPr>
            <a:lvl2pPr lvl="1" algn="ctr">
              <a:spcBef>
                <a:spcPts val="0"/>
              </a:spcBef>
              <a:buClr>
                <a:schemeClr val="lt2"/>
              </a:buClr>
              <a:buSzPct val="100000"/>
              <a:defRPr sz="16000">
                <a:solidFill>
                  <a:schemeClr val="lt2"/>
                </a:solidFill>
              </a:defRPr>
            </a:lvl2pPr>
            <a:lvl3pPr lvl="2" algn="ctr">
              <a:spcBef>
                <a:spcPts val="0"/>
              </a:spcBef>
              <a:buClr>
                <a:schemeClr val="lt2"/>
              </a:buClr>
              <a:buSzPct val="100000"/>
              <a:defRPr sz="16000">
                <a:solidFill>
                  <a:schemeClr val="lt2"/>
                </a:solidFill>
              </a:defRPr>
            </a:lvl3pPr>
            <a:lvl4pPr lvl="3" algn="ctr">
              <a:spcBef>
                <a:spcPts val="0"/>
              </a:spcBef>
              <a:buClr>
                <a:schemeClr val="lt2"/>
              </a:buClr>
              <a:buSzPct val="100000"/>
              <a:defRPr sz="16000">
                <a:solidFill>
                  <a:schemeClr val="lt2"/>
                </a:solidFill>
              </a:defRPr>
            </a:lvl4pPr>
            <a:lvl5pPr lvl="4" algn="ctr">
              <a:spcBef>
                <a:spcPts val="0"/>
              </a:spcBef>
              <a:buClr>
                <a:schemeClr val="lt2"/>
              </a:buClr>
              <a:buSzPct val="100000"/>
              <a:defRPr sz="16000">
                <a:solidFill>
                  <a:schemeClr val="lt2"/>
                </a:solidFill>
              </a:defRPr>
            </a:lvl5pPr>
            <a:lvl6pPr lvl="5" algn="ctr">
              <a:spcBef>
                <a:spcPts val="0"/>
              </a:spcBef>
              <a:buClr>
                <a:schemeClr val="lt2"/>
              </a:buClr>
              <a:buSzPct val="100000"/>
              <a:defRPr sz="16000">
                <a:solidFill>
                  <a:schemeClr val="lt2"/>
                </a:solidFill>
              </a:defRPr>
            </a:lvl6pPr>
            <a:lvl7pPr lvl="6" algn="ctr">
              <a:spcBef>
                <a:spcPts val="0"/>
              </a:spcBef>
              <a:buClr>
                <a:schemeClr val="lt2"/>
              </a:buClr>
              <a:buSzPct val="100000"/>
              <a:defRPr sz="16000">
                <a:solidFill>
                  <a:schemeClr val="lt2"/>
                </a:solidFill>
              </a:defRPr>
            </a:lvl7pPr>
            <a:lvl8pPr lvl="7" algn="ctr">
              <a:spcBef>
                <a:spcPts val="0"/>
              </a:spcBef>
              <a:buClr>
                <a:schemeClr val="lt2"/>
              </a:buClr>
              <a:buSzPct val="100000"/>
              <a:defRPr sz="16000">
                <a:solidFill>
                  <a:schemeClr val="lt2"/>
                </a:solidFill>
              </a:defRPr>
            </a:lvl8pPr>
            <a:lvl9pPr lvl="8" algn="ctr">
              <a:spcBef>
                <a:spcPts val="0"/>
              </a:spcBef>
              <a:buClr>
                <a:schemeClr val="lt2"/>
              </a:buClr>
              <a:buSzPct val="100000"/>
              <a:defRPr sz="16000">
                <a:solidFill>
                  <a:schemeClr val="lt2"/>
                </a:solidFill>
              </a:defRPr>
            </a:lvl9pPr>
          </a:lstStyle>
          <a:p>
            <a:endParaRPr/>
          </a:p>
        </p:txBody>
      </p:sp>
      <p:sp>
        <p:nvSpPr>
          <p:cNvPr id="54" name="Shape 54"/>
          <p:cNvSpPr txBox="1">
            <a:spLocks noGrp="1"/>
          </p:cNvSpPr>
          <p:nvPr>
            <p:ph type="body" idx="1"/>
          </p:nvPr>
        </p:nvSpPr>
        <p:spPr>
          <a:xfrm>
            <a:off x="311700" y="3162000"/>
            <a:ext cx="8520600" cy="1071600"/>
          </a:xfrm>
          <a:prstGeom prst="rect">
            <a:avLst/>
          </a:prstGeom>
        </p:spPr>
        <p:txBody>
          <a:bodyPr lIns="91425" tIns="91425" rIns="91425" bIns="91425" anchor="t" anchorCtr="0"/>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a:endParaRPr/>
          </a:p>
        </p:txBody>
      </p:sp>
      <p:sp>
        <p:nvSpPr>
          <p:cNvPr id="55" name="Shape 55"/>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6"/>
        <p:cNvGrpSpPr/>
        <p:nvPr/>
      </p:nvGrpSpPr>
      <p:grpSpPr>
        <a:xfrm>
          <a:off x="0" y="0"/>
          <a:ext cx="0" cy="0"/>
          <a:chOff x="0" y="0"/>
          <a:chExt cx="0" cy="0"/>
        </a:xfrm>
      </p:grpSpPr>
      <p:sp>
        <p:nvSpPr>
          <p:cNvPr id="57" name="Shape 57"/>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315925"/>
            <a:ext cx="8520600" cy="831300"/>
          </a:xfrm>
          <a:prstGeom prst="rect">
            <a:avLst/>
          </a:prstGeom>
          <a:noFill/>
          <a:ln>
            <a:noFill/>
          </a:ln>
        </p:spPr>
        <p:txBody>
          <a:bodyPr lIns="91425" tIns="91425" rIns="91425" bIns="91425" anchor="b" anchorCtr="0"/>
          <a:lstStyle>
            <a:lvl1pPr lvl="0">
              <a:spcBef>
                <a:spcPts val="0"/>
              </a:spcBef>
              <a:buClr>
                <a:schemeClr val="dk1"/>
              </a:buClr>
              <a:buSzPct val="100000"/>
              <a:buFont typeface="Economica"/>
              <a:buNone/>
              <a:defRPr sz="4200">
                <a:solidFill>
                  <a:schemeClr val="dk1"/>
                </a:solidFill>
                <a:latin typeface="Economica"/>
                <a:ea typeface="Economica"/>
                <a:cs typeface="Economica"/>
                <a:sym typeface="Economica"/>
              </a:defRPr>
            </a:lvl1pPr>
            <a:lvl2pPr lvl="1">
              <a:spcBef>
                <a:spcPts val="0"/>
              </a:spcBef>
              <a:buClr>
                <a:schemeClr val="dk1"/>
              </a:buClr>
              <a:buSzPct val="100000"/>
              <a:buFont typeface="Economica"/>
              <a:buNone/>
              <a:defRPr sz="4200">
                <a:solidFill>
                  <a:schemeClr val="dk1"/>
                </a:solidFill>
                <a:latin typeface="Economica"/>
                <a:ea typeface="Economica"/>
                <a:cs typeface="Economica"/>
                <a:sym typeface="Economica"/>
              </a:defRPr>
            </a:lvl2pPr>
            <a:lvl3pPr lvl="2">
              <a:spcBef>
                <a:spcPts val="0"/>
              </a:spcBef>
              <a:buClr>
                <a:schemeClr val="dk1"/>
              </a:buClr>
              <a:buSzPct val="100000"/>
              <a:buFont typeface="Economica"/>
              <a:buNone/>
              <a:defRPr sz="4200">
                <a:solidFill>
                  <a:schemeClr val="dk1"/>
                </a:solidFill>
                <a:latin typeface="Economica"/>
                <a:ea typeface="Economica"/>
                <a:cs typeface="Economica"/>
                <a:sym typeface="Economica"/>
              </a:defRPr>
            </a:lvl3pPr>
            <a:lvl4pPr lvl="3">
              <a:spcBef>
                <a:spcPts val="0"/>
              </a:spcBef>
              <a:buClr>
                <a:schemeClr val="dk1"/>
              </a:buClr>
              <a:buSzPct val="100000"/>
              <a:buFont typeface="Economica"/>
              <a:buNone/>
              <a:defRPr sz="4200">
                <a:solidFill>
                  <a:schemeClr val="dk1"/>
                </a:solidFill>
                <a:latin typeface="Economica"/>
                <a:ea typeface="Economica"/>
                <a:cs typeface="Economica"/>
                <a:sym typeface="Economica"/>
              </a:defRPr>
            </a:lvl4pPr>
            <a:lvl5pPr lvl="4">
              <a:spcBef>
                <a:spcPts val="0"/>
              </a:spcBef>
              <a:buClr>
                <a:schemeClr val="dk1"/>
              </a:buClr>
              <a:buSzPct val="100000"/>
              <a:buFont typeface="Economica"/>
              <a:buNone/>
              <a:defRPr sz="4200">
                <a:solidFill>
                  <a:schemeClr val="dk1"/>
                </a:solidFill>
                <a:latin typeface="Economica"/>
                <a:ea typeface="Economica"/>
                <a:cs typeface="Economica"/>
                <a:sym typeface="Economica"/>
              </a:defRPr>
            </a:lvl5pPr>
            <a:lvl6pPr lvl="5">
              <a:spcBef>
                <a:spcPts val="0"/>
              </a:spcBef>
              <a:buClr>
                <a:schemeClr val="dk1"/>
              </a:buClr>
              <a:buSzPct val="100000"/>
              <a:buFont typeface="Economica"/>
              <a:buNone/>
              <a:defRPr sz="4200">
                <a:solidFill>
                  <a:schemeClr val="dk1"/>
                </a:solidFill>
                <a:latin typeface="Economica"/>
                <a:ea typeface="Economica"/>
                <a:cs typeface="Economica"/>
                <a:sym typeface="Economica"/>
              </a:defRPr>
            </a:lvl6pPr>
            <a:lvl7pPr lvl="6">
              <a:spcBef>
                <a:spcPts val="0"/>
              </a:spcBef>
              <a:buClr>
                <a:schemeClr val="dk1"/>
              </a:buClr>
              <a:buSzPct val="100000"/>
              <a:buFont typeface="Economica"/>
              <a:buNone/>
              <a:defRPr sz="4200">
                <a:solidFill>
                  <a:schemeClr val="dk1"/>
                </a:solidFill>
                <a:latin typeface="Economica"/>
                <a:ea typeface="Economica"/>
                <a:cs typeface="Economica"/>
                <a:sym typeface="Economica"/>
              </a:defRPr>
            </a:lvl7pPr>
            <a:lvl8pPr lvl="7">
              <a:spcBef>
                <a:spcPts val="0"/>
              </a:spcBef>
              <a:buClr>
                <a:schemeClr val="dk1"/>
              </a:buClr>
              <a:buSzPct val="100000"/>
              <a:buFont typeface="Economica"/>
              <a:buNone/>
              <a:defRPr sz="4200">
                <a:solidFill>
                  <a:schemeClr val="dk1"/>
                </a:solidFill>
                <a:latin typeface="Economica"/>
                <a:ea typeface="Economica"/>
                <a:cs typeface="Economica"/>
                <a:sym typeface="Economica"/>
              </a:defRPr>
            </a:lvl8pPr>
            <a:lvl9pPr lvl="8">
              <a:spcBef>
                <a:spcPts val="0"/>
              </a:spcBef>
              <a:buClr>
                <a:schemeClr val="dk1"/>
              </a:buClr>
              <a:buSzPct val="100000"/>
              <a:buFont typeface="Economica"/>
              <a:buNone/>
              <a:defRPr sz="4200">
                <a:solidFill>
                  <a:schemeClr val="dk1"/>
                </a:solidFill>
                <a:latin typeface="Economica"/>
                <a:ea typeface="Economica"/>
                <a:cs typeface="Economica"/>
                <a:sym typeface="Economica"/>
              </a:defRPr>
            </a:lvl9pPr>
          </a:lstStyle>
          <a:p>
            <a:endParaRPr/>
          </a:p>
        </p:txBody>
      </p:sp>
      <p:sp>
        <p:nvSpPr>
          <p:cNvPr id="7" name="Shape 7"/>
          <p:cNvSpPr txBox="1">
            <a:spLocks noGrp="1"/>
          </p:cNvSpPr>
          <p:nvPr>
            <p:ph type="body" idx="1"/>
          </p:nvPr>
        </p:nvSpPr>
        <p:spPr>
          <a:xfrm>
            <a:off x="311700" y="1225225"/>
            <a:ext cx="8520600" cy="3354000"/>
          </a:xfrm>
          <a:prstGeom prst="rect">
            <a:avLst/>
          </a:prstGeom>
          <a:noFill/>
          <a:ln>
            <a:noFill/>
          </a:ln>
        </p:spPr>
        <p:txBody>
          <a:bodyPr lIns="91425" tIns="91425" rIns="91425" bIns="91425" anchor="t" anchorCtr="0"/>
          <a:lstStyle>
            <a:lvl1pPr lvl="0">
              <a:lnSpc>
                <a:spcPct val="115000"/>
              </a:lnSpc>
              <a:spcBef>
                <a:spcPts val="0"/>
              </a:spcBef>
              <a:spcAft>
                <a:spcPts val="1600"/>
              </a:spcAft>
              <a:buClr>
                <a:schemeClr val="dk1"/>
              </a:buClr>
              <a:buSzPct val="100000"/>
              <a:buFont typeface="Open Sans"/>
              <a:defRPr sz="1800">
                <a:solidFill>
                  <a:schemeClr val="dk1"/>
                </a:solidFill>
                <a:latin typeface="Open Sans"/>
                <a:ea typeface="Open Sans"/>
                <a:cs typeface="Open Sans"/>
                <a:sym typeface="Open Sans"/>
              </a:defRPr>
            </a:lvl1pPr>
            <a:lvl2pPr lvl="1">
              <a:lnSpc>
                <a:spcPct val="115000"/>
              </a:lnSpc>
              <a:spcBef>
                <a:spcPts val="0"/>
              </a:spcBef>
              <a:spcAft>
                <a:spcPts val="1600"/>
              </a:spcAft>
              <a:buClr>
                <a:schemeClr val="dk1"/>
              </a:buClr>
              <a:buFont typeface="Open Sans"/>
              <a:defRPr>
                <a:solidFill>
                  <a:schemeClr val="dk1"/>
                </a:solidFill>
                <a:latin typeface="Open Sans"/>
                <a:ea typeface="Open Sans"/>
                <a:cs typeface="Open Sans"/>
                <a:sym typeface="Open Sans"/>
              </a:defRPr>
            </a:lvl2pPr>
            <a:lvl3pPr lvl="2">
              <a:lnSpc>
                <a:spcPct val="115000"/>
              </a:lnSpc>
              <a:spcBef>
                <a:spcPts val="0"/>
              </a:spcBef>
              <a:spcAft>
                <a:spcPts val="1600"/>
              </a:spcAft>
              <a:buClr>
                <a:schemeClr val="dk1"/>
              </a:buClr>
              <a:buFont typeface="Open Sans"/>
              <a:defRPr>
                <a:solidFill>
                  <a:schemeClr val="dk1"/>
                </a:solidFill>
                <a:latin typeface="Open Sans"/>
                <a:ea typeface="Open Sans"/>
                <a:cs typeface="Open Sans"/>
                <a:sym typeface="Open Sans"/>
              </a:defRPr>
            </a:lvl3pPr>
            <a:lvl4pPr lvl="3">
              <a:lnSpc>
                <a:spcPct val="115000"/>
              </a:lnSpc>
              <a:spcBef>
                <a:spcPts val="0"/>
              </a:spcBef>
              <a:spcAft>
                <a:spcPts val="1600"/>
              </a:spcAft>
              <a:buClr>
                <a:schemeClr val="dk1"/>
              </a:buClr>
              <a:buFont typeface="Open Sans"/>
              <a:defRPr>
                <a:solidFill>
                  <a:schemeClr val="dk1"/>
                </a:solidFill>
                <a:latin typeface="Open Sans"/>
                <a:ea typeface="Open Sans"/>
                <a:cs typeface="Open Sans"/>
                <a:sym typeface="Open Sans"/>
              </a:defRPr>
            </a:lvl4pPr>
            <a:lvl5pPr lvl="4">
              <a:lnSpc>
                <a:spcPct val="115000"/>
              </a:lnSpc>
              <a:spcBef>
                <a:spcPts val="0"/>
              </a:spcBef>
              <a:spcAft>
                <a:spcPts val="1600"/>
              </a:spcAft>
              <a:buClr>
                <a:schemeClr val="dk1"/>
              </a:buClr>
              <a:buFont typeface="Open Sans"/>
              <a:defRPr>
                <a:solidFill>
                  <a:schemeClr val="dk1"/>
                </a:solidFill>
                <a:latin typeface="Open Sans"/>
                <a:ea typeface="Open Sans"/>
                <a:cs typeface="Open Sans"/>
                <a:sym typeface="Open Sans"/>
              </a:defRPr>
            </a:lvl5pPr>
            <a:lvl6pPr lvl="5">
              <a:lnSpc>
                <a:spcPct val="115000"/>
              </a:lnSpc>
              <a:spcBef>
                <a:spcPts val="0"/>
              </a:spcBef>
              <a:spcAft>
                <a:spcPts val="1600"/>
              </a:spcAft>
              <a:buClr>
                <a:schemeClr val="dk1"/>
              </a:buClr>
              <a:buFont typeface="Open Sans"/>
              <a:defRPr>
                <a:solidFill>
                  <a:schemeClr val="dk1"/>
                </a:solidFill>
                <a:latin typeface="Open Sans"/>
                <a:ea typeface="Open Sans"/>
                <a:cs typeface="Open Sans"/>
                <a:sym typeface="Open Sans"/>
              </a:defRPr>
            </a:lvl6pPr>
            <a:lvl7pPr lvl="6">
              <a:lnSpc>
                <a:spcPct val="115000"/>
              </a:lnSpc>
              <a:spcBef>
                <a:spcPts val="0"/>
              </a:spcBef>
              <a:spcAft>
                <a:spcPts val="1600"/>
              </a:spcAft>
              <a:buClr>
                <a:schemeClr val="dk1"/>
              </a:buClr>
              <a:buFont typeface="Open Sans"/>
              <a:defRPr>
                <a:solidFill>
                  <a:schemeClr val="dk1"/>
                </a:solidFill>
                <a:latin typeface="Open Sans"/>
                <a:ea typeface="Open Sans"/>
                <a:cs typeface="Open Sans"/>
                <a:sym typeface="Open Sans"/>
              </a:defRPr>
            </a:lvl7pPr>
            <a:lvl8pPr lvl="7">
              <a:lnSpc>
                <a:spcPct val="115000"/>
              </a:lnSpc>
              <a:spcBef>
                <a:spcPts val="0"/>
              </a:spcBef>
              <a:spcAft>
                <a:spcPts val="1600"/>
              </a:spcAft>
              <a:buClr>
                <a:schemeClr val="dk1"/>
              </a:buClr>
              <a:buFont typeface="Open Sans"/>
              <a:defRPr>
                <a:solidFill>
                  <a:schemeClr val="dk1"/>
                </a:solidFill>
                <a:latin typeface="Open Sans"/>
                <a:ea typeface="Open Sans"/>
                <a:cs typeface="Open Sans"/>
                <a:sym typeface="Open Sans"/>
              </a:defRPr>
            </a:lvl8pPr>
            <a:lvl9pPr lvl="8">
              <a:lnSpc>
                <a:spcPct val="115000"/>
              </a:lnSpc>
              <a:spcBef>
                <a:spcPts val="0"/>
              </a:spcBef>
              <a:spcAft>
                <a:spcPts val="1600"/>
              </a:spcAft>
              <a:buClr>
                <a:schemeClr val="dk1"/>
              </a:buClr>
              <a:buFont typeface="Open Sans"/>
              <a:defRPr>
                <a:solidFill>
                  <a:schemeClr val="dk1"/>
                </a:solidFill>
                <a:latin typeface="Open Sans"/>
                <a:ea typeface="Open Sans"/>
                <a:cs typeface="Open Sans"/>
                <a:sym typeface="Open Sans"/>
              </a:defRPr>
            </a:lvl9pPr>
          </a:lstStyle>
          <a:p>
            <a:endParaRPr/>
          </a:p>
        </p:txBody>
      </p:sp>
      <p:sp>
        <p:nvSpPr>
          <p:cNvPr id="8" name="Shape 8"/>
          <p:cNvSpPr txBox="1">
            <a:spLocks noGrp="1"/>
          </p:cNvSpPr>
          <p:nvPr>
            <p:ph type="sldNum" idx="12"/>
          </p:nvPr>
        </p:nvSpPr>
        <p:spPr>
          <a:xfrm>
            <a:off x="8472457" y="4663216"/>
            <a:ext cx="548700" cy="393600"/>
          </a:xfrm>
          <a:prstGeom prst="rect">
            <a:avLst/>
          </a:prstGeom>
          <a:noFill/>
          <a:ln>
            <a:noFill/>
          </a:ln>
        </p:spPr>
        <p:txBody>
          <a:bodyPr lIns="91425" tIns="91425" rIns="91425" bIns="91425" anchor="ctr" anchorCtr="0">
            <a:noAutofit/>
          </a:bodyPr>
          <a:lstStyle/>
          <a:p>
            <a:pPr lvl="0" algn="r">
              <a:spcBef>
                <a:spcPts val="0"/>
              </a:spcBef>
              <a:buNone/>
            </a:pPr>
            <a:fld id="{00000000-1234-1234-1234-123412341234}" type="slidenum">
              <a:rPr lang="en" sz="1000">
                <a:solidFill>
                  <a:schemeClr val="dk1"/>
                </a:solidFill>
                <a:latin typeface="Economica"/>
                <a:ea typeface="Economica"/>
                <a:cs typeface="Economica"/>
                <a:sym typeface="Economica"/>
              </a:rPr>
              <a:t>‹#›</a:t>
            </a:fld>
            <a:endParaRPr lang="en" sz="1000">
              <a:solidFill>
                <a:schemeClr val="dk1"/>
              </a:solidFill>
              <a:latin typeface="Economica"/>
              <a:ea typeface="Economica"/>
              <a:cs typeface="Economica"/>
              <a:sym typeface="Economica"/>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comments" Target="../comments/comment1.xml"/><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hyperlink" Target="https://explorable.com/mann-whitney-u-test" TargetMode="External"/><Relationship Id="rId4" Type="http://schemas.openxmlformats.org/officeDocument/2006/relationships/hyperlink" Target="http://dx.doi.org/10.20982/tqmp.04.1.p013" TargetMode="External"/><Relationship Id="rId5" Type="http://schemas.openxmlformats.org/officeDocument/2006/relationships/hyperlink" Target="https://en.wikipedia.org/wiki/Hans_Zassenhaus" TargetMode="External"/><Relationship Id="rId6" Type="http://schemas.openxmlformats.org/officeDocument/2006/relationships/hyperlink" Target="http://www.math.ohio-state.edu/history/biographies/mann" TargetMode="External"/><Relationship Id="rId7" Type="http://schemas.openxmlformats.org/officeDocument/2006/relationships/hyperlink" Target="https://en.wikipedia.org/wiki/International_Standard_Book_Number" TargetMode="External"/><Relationship Id="rId8" Type="http://schemas.openxmlformats.org/officeDocument/2006/relationships/hyperlink" Target="https://en.wikipedia.org/wiki/Special:BookSources/0-12-776350-3" TargetMode="External"/><Relationship Id="rId9" Type="http://schemas.openxmlformats.org/officeDocument/2006/relationships/hyperlink" Target="https://en.wikipedia.org/wiki/Mathematical_Reviews" TargetMode="External"/><Relationship Id="rId10" Type="http://schemas.openxmlformats.org/officeDocument/2006/relationships/hyperlink" Target="https://www.ams.org/mathscinet-getitem?mr=469653" TargetMode="External"/><Relationship Id="rId11" Type="http://schemas.openxmlformats.org/officeDocument/2006/relationships/hyperlink" Target="NULL" TargetMode="External"/><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Shape 62"/>
          <p:cNvSpPr txBox="1">
            <a:spLocks noGrp="1"/>
          </p:cNvSpPr>
          <p:nvPr>
            <p:ph type="ctrTitle"/>
          </p:nvPr>
        </p:nvSpPr>
        <p:spPr>
          <a:xfrm>
            <a:off x="3044700" y="812801"/>
            <a:ext cx="3054600" cy="2168654"/>
          </a:xfrm>
          <a:prstGeom prst="rect">
            <a:avLst/>
          </a:prstGeom>
        </p:spPr>
        <p:txBody>
          <a:bodyPr lIns="91425" tIns="91425" rIns="91425" bIns="91425" anchor="b" anchorCtr="0">
            <a:noAutofit/>
          </a:bodyPr>
          <a:lstStyle/>
          <a:p>
            <a:pPr lvl="0">
              <a:spcBef>
                <a:spcPts val="0"/>
              </a:spcBef>
              <a:buNone/>
            </a:pPr>
            <a:r>
              <a:rPr lang="en" sz="4400" dirty="0"/>
              <a:t>Mann-Whitney U Test</a:t>
            </a:r>
          </a:p>
        </p:txBody>
      </p:sp>
      <p:sp>
        <p:nvSpPr>
          <p:cNvPr id="63" name="Shape 63"/>
          <p:cNvSpPr txBox="1">
            <a:spLocks noGrp="1"/>
          </p:cNvSpPr>
          <p:nvPr>
            <p:ph type="subTitle" idx="1"/>
          </p:nvPr>
        </p:nvSpPr>
        <p:spPr>
          <a:xfrm>
            <a:off x="3044700" y="3116575"/>
            <a:ext cx="3054600" cy="1299600"/>
          </a:xfrm>
          <a:prstGeom prst="rect">
            <a:avLst/>
          </a:prstGeom>
        </p:spPr>
        <p:txBody>
          <a:bodyPr lIns="91425" tIns="91425" rIns="91425" bIns="91425" anchor="t" anchorCtr="0">
            <a:noAutofit/>
          </a:bodyPr>
          <a:lstStyle/>
          <a:p>
            <a:pPr lvl="0" rtl="0">
              <a:spcBef>
                <a:spcPts val="0"/>
              </a:spcBef>
              <a:buNone/>
            </a:pPr>
            <a:r>
              <a:rPr lang="en" sz="2000" dirty="0"/>
              <a:t>By: Ryan Anderson, Zack Guinn, Tyler </a:t>
            </a:r>
            <a:r>
              <a:rPr lang="en" sz="2000" dirty="0" err="1"/>
              <a:t>Kozisek</a:t>
            </a:r>
            <a:r>
              <a:rPr lang="en" sz="2000" dirty="0"/>
              <a:t> &amp; Candace </a:t>
            </a:r>
            <a:r>
              <a:rPr lang="en" sz="2000" dirty="0" err="1"/>
              <a:t>Sorden</a:t>
            </a:r>
            <a:endParaRPr lang="en"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Shape 68"/>
          <p:cNvSpPr txBox="1">
            <a:spLocks noGrp="1"/>
          </p:cNvSpPr>
          <p:nvPr>
            <p:ph type="title"/>
          </p:nvPr>
        </p:nvSpPr>
        <p:spPr>
          <a:xfrm>
            <a:off x="311700" y="315925"/>
            <a:ext cx="8520600" cy="831300"/>
          </a:xfrm>
          <a:prstGeom prst="rect">
            <a:avLst/>
          </a:prstGeom>
        </p:spPr>
        <p:txBody>
          <a:bodyPr lIns="91425" tIns="91425" rIns="91425" bIns="91425" anchor="b" anchorCtr="0">
            <a:noAutofit/>
          </a:bodyPr>
          <a:lstStyle/>
          <a:p>
            <a:pPr lvl="0">
              <a:spcBef>
                <a:spcPts val="0"/>
              </a:spcBef>
              <a:buNone/>
            </a:pPr>
            <a:r>
              <a:rPr lang="en" dirty="0"/>
              <a:t>History</a:t>
            </a:r>
          </a:p>
        </p:txBody>
      </p:sp>
      <p:sp>
        <p:nvSpPr>
          <p:cNvPr id="69" name="Shape 69"/>
          <p:cNvSpPr txBox="1">
            <a:spLocks noGrp="1"/>
          </p:cNvSpPr>
          <p:nvPr>
            <p:ph type="body" idx="1"/>
          </p:nvPr>
        </p:nvSpPr>
        <p:spPr>
          <a:xfrm>
            <a:off x="311700" y="1225225"/>
            <a:ext cx="5889600" cy="3354000"/>
          </a:xfrm>
          <a:prstGeom prst="rect">
            <a:avLst/>
          </a:prstGeom>
        </p:spPr>
        <p:txBody>
          <a:bodyPr lIns="91425" tIns="91425" rIns="91425" bIns="91425" anchor="t" anchorCtr="0">
            <a:noAutofit/>
          </a:bodyPr>
          <a:lstStyle/>
          <a:p>
            <a:pPr marL="457200" lvl="0" indent="-228600" rtl="0">
              <a:spcBef>
                <a:spcPts val="0"/>
              </a:spcBef>
            </a:pPr>
            <a:r>
              <a:rPr lang="en" dirty="0"/>
              <a:t>Introduced by Mann and Whitney in 1947.</a:t>
            </a:r>
          </a:p>
          <a:p>
            <a:pPr lvl="0" rtl="0">
              <a:spcBef>
                <a:spcPts val="0"/>
              </a:spcBef>
              <a:buNone/>
            </a:pPr>
            <a:endParaRPr dirty="0"/>
          </a:p>
          <a:p>
            <a:pPr marL="457200" lvl="0" indent="-228600" rtl="0">
              <a:spcBef>
                <a:spcPts val="0"/>
              </a:spcBef>
            </a:pPr>
            <a:r>
              <a:rPr lang="en" dirty="0"/>
              <a:t> Henry Mann</a:t>
            </a:r>
          </a:p>
          <a:p>
            <a:pPr marL="914400" lvl="1" indent="-342900" rtl="0">
              <a:spcBef>
                <a:spcPts val="0"/>
              </a:spcBef>
              <a:buSzPct val="100000"/>
              <a:buFont typeface="Arial" charset="0"/>
              <a:buChar char="•"/>
            </a:pPr>
            <a:r>
              <a:rPr lang="en" sz="1800" dirty="0"/>
              <a:t>Mathematics and statistics professor at Ohio State University</a:t>
            </a:r>
          </a:p>
          <a:p>
            <a:pPr marL="914400" lvl="1" indent="-342900" rtl="0">
              <a:spcBef>
                <a:spcPts val="0"/>
              </a:spcBef>
              <a:buSzPct val="100000"/>
              <a:buFont typeface="Arial" charset="0"/>
              <a:buChar char="•"/>
            </a:pPr>
            <a:r>
              <a:rPr lang="en" sz="1800" dirty="0"/>
              <a:t>He and his student, Donald Whitney, developed this test</a:t>
            </a:r>
          </a:p>
        </p:txBody>
      </p:sp>
      <p:pic>
        <p:nvPicPr>
          <p:cNvPr id="70" name="Shape 70" descr="http://math.osu.edu/sites/math.osu.edu/files/styles/full_width/public/mann.jpg?itok=cQjYQgLk"/>
          <p:cNvPicPr preferRelativeResize="0"/>
          <p:nvPr/>
        </p:nvPicPr>
        <p:blipFill>
          <a:blip r:embed="rId3">
            <a:alphaModFix/>
          </a:blip>
          <a:stretch>
            <a:fillRect/>
          </a:stretch>
        </p:blipFill>
        <p:spPr>
          <a:xfrm>
            <a:off x="6395474" y="261450"/>
            <a:ext cx="2283049" cy="3200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311700" y="315925"/>
            <a:ext cx="8520600" cy="831300"/>
          </a:xfrm>
          <a:prstGeom prst="rect">
            <a:avLst/>
          </a:prstGeom>
        </p:spPr>
        <p:txBody>
          <a:bodyPr lIns="91425" tIns="91425" rIns="91425" bIns="91425" anchor="b" anchorCtr="0">
            <a:noAutofit/>
          </a:bodyPr>
          <a:lstStyle/>
          <a:p>
            <a:pPr lvl="0">
              <a:spcBef>
                <a:spcPts val="0"/>
              </a:spcBef>
              <a:buNone/>
            </a:pPr>
            <a:r>
              <a:rPr lang="en"/>
              <a:t>How can this test be utilized?</a:t>
            </a:r>
          </a:p>
        </p:txBody>
      </p:sp>
      <p:sp>
        <p:nvSpPr>
          <p:cNvPr id="76" name="Shape 76"/>
          <p:cNvSpPr txBox="1">
            <a:spLocks noGrp="1"/>
          </p:cNvSpPr>
          <p:nvPr>
            <p:ph type="body" idx="1"/>
          </p:nvPr>
        </p:nvSpPr>
        <p:spPr>
          <a:xfrm>
            <a:off x="311700" y="1225225"/>
            <a:ext cx="8520600" cy="3354000"/>
          </a:xfrm>
          <a:prstGeom prst="rect">
            <a:avLst/>
          </a:prstGeom>
        </p:spPr>
        <p:txBody>
          <a:bodyPr lIns="91425" tIns="91425" rIns="91425" bIns="91425" anchor="t" anchorCtr="0">
            <a:noAutofit/>
          </a:bodyPr>
          <a:lstStyle/>
          <a:p>
            <a:pPr marL="457200" lvl="0" indent="-228600" rtl="0">
              <a:lnSpc>
                <a:spcPct val="138000"/>
              </a:lnSpc>
              <a:spcBef>
                <a:spcPts val="0"/>
              </a:spcBef>
              <a:spcAft>
                <a:spcPts val="800"/>
              </a:spcAft>
            </a:pPr>
            <a:r>
              <a:rPr lang="en" dirty="0"/>
              <a:t>It can be used to compare the means of two populations</a:t>
            </a:r>
          </a:p>
          <a:p>
            <a:pPr marL="914400" lvl="1" indent="-342900" rtl="0">
              <a:lnSpc>
                <a:spcPct val="138000"/>
              </a:lnSpc>
              <a:spcBef>
                <a:spcPts val="0"/>
              </a:spcBef>
              <a:spcAft>
                <a:spcPts val="800"/>
              </a:spcAft>
              <a:buSzPct val="100000"/>
              <a:buFont typeface="Arial" charset="0"/>
              <a:buChar char="•"/>
            </a:pPr>
            <a:r>
              <a:rPr lang="en" sz="1800" dirty="0"/>
              <a:t>Why not use a two sample t-test?</a:t>
            </a:r>
          </a:p>
          <a:p>
            <a:pPr marL="1428750" lvl="2" indent="-285750" rtl="0">
              <a:lnSpc>
                <a:spcPct val="138000"/>
              </a:lnSpc>
              <a:spcBef>
                <a:spcPts val="0"/>
              </a:spcBef>
              <a:spcAft>
                <a:spcPts val="800"/>
              </a:spcAft>
              <a:buFont typeface="Arial" charset="0"/>
              <a:buChar char="•"/>
            </a:pPr>
            <a:r>
              <a:rPr lang="en" dirty="0"/>
              <a:t>A researcher does not have to assume that the difference between the samples is normally distributed, or that the variances of the two populations are equal. </a:t>
            </a:r>
          </a:p>
          <a:p>
            <a:pPr marL="457200" lvl="0" indent="-228600">
              <a:lnSpc>
                <a:spcPct val="138000"/>
              </a:lnSpc>
              <a:spcBef>
                <a:spcPts val="0"/>
              </a:spcBef>
              <a:spcAft>
                <a:spcPts val="800"/>
              </a:spcAft>
            </a:pPr>
            <a:r>
              <a:rPr lang="en" dirty="0"/>
              <a:t>It is most commonly done on ordinal data.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Shape 81"/>
          <p:cNvSpPr txBox="1">
            <a:spLocks noGrp="1"/>
          </p:cNvSpPr>
          <p:nvPr>
            <p:ph type="title" idx="4294967295"/>
          </p:nvPr>
        </p:nvSpPr>
        <p:spPr>
          <a:xfrm>
            <a:off x="0" y="146756"/>
            <a:ext cx="9144000" cy="722488"/>
          </a:xfrm>
          <a:prstGeom prst="rect">
            <a:avLst/>
          </a:prstGeom>
        </p:spPr>
        <p:txBody>
          <a:bodyPr lIns="91425" tIns="91425" rIns="91425" bIns="91425" anchor="b" anchorCtr="0">
            <a:noAutofit/>
          </a:bodyPr>
          <a:lstStyle/>
          <a:p>
            <a:pPr lvl="0">
              <a:spcBef>
                <a:spcPts val="0"/>
              </a:spcBef>
              <a:buNone/>
            </a:pPr>
            <a:r>
              <a:rPr lang="en" sz="3600" dirty="0"/>
              <a:t>What to know before testing the two populations</a:t>
            </a:r>
          </a:p>
        </p:txBody>
      </p:sp>
      <p:sp>
        <p:nvSpPr>
          <p:cNvPr id="82" name="Shape 82"/>
          <p:cNvSpPr txBox="1">
            <a:spLocks noGrp="1"/>
          </p:cNvSpPr>
          <p:nvPr>
            <p:ph type="body" idx="4294967295"/>
          </p:nvPr>
        </p:nvSpPr>
        <p:spPr>
          <a:xfrm>
            <a:off x="119789" y="989180"/>
            <a:ext cx="8520600" cy="3918275"/>
          </a:xfrm>
          <a:prstGeom prst="rect">
            <a:avLst/>
          </a:prstGeom>
        </p:spPr>
        <p:txBody>
          <a:bodyPr lIns="91425" tIns="91425" rIns="91425" bIns="91425" anchor="t" anchorCtr="0">
            <a:noAutofit/>
          </a:bodyPr>
          <a:lstStyle/>
          <a:p>
            <a:pPr marL="514350" lvl="0" indent="-285750" rtl="0">
              <a:spcBef>
                <a:spcPts val="0"/>
              </a:spcBef>
              <a:buFont typeface="Arial" charset="0"/>
              <a:buChar char="•"/>
            </a:pPr>
            <a:r>
              <a:rPr lang="en" dirty="0"/>
              <a:t>The Mann-Whitney test is based on the comparison of each observation from the first group with each observation in the second group.</a:t>
            </a:r>
          </a:p>
          <a:p>
            <a:pPr marL="514350" lvl="0" indent="-285750" rtl="0">
              <a:spcBef>
                <a:spcPts val="0"/>
              </a:spcBef>
              <a:buFont typeface="Arial" charset="0"/>
              <a:buChar char="•"/>
            </a:pPr>
            <a:r>
              <a:rPr lang="en" dirty="0"/>
              <a:t>This means, the data must be ranked in ascending order.</a:t>
            </a:r>
          </a:p>
          <a:p>
            <a:pPr marL="457200" lvl="0" indent="0" rtl="0">
              <a:spcBef>
                <a:spcPts val="0"/>
              </a:spcBef>
              <a:buNone/>
            </a:pPr>
            <a:endParaRPr dirty="0"/>
          </a:p>
          <a:p>
            <a:pPr marL="514350" lvl="0" indent="-285750" rtl="0">
              <a:spcBef>
                <a:spcPts val="0"/>
              </a:spcBef>
              <a:buFont typeface="Arial" charset="0"/>
              <a:buChar char="•"/>
            </a:pPr>
            <a:r>
              <a:rPr lang="en" dirty="0"/>
              <a:t>Three assumptions must be made:</a:t>
            </a:r>
          </a:p>
          <a:p>
            <a:pPr marL="914400" lvl="1" indent="-228600" rtl="0">
              <a:spcBef>
                <a:spcPts val="0"/>
              </a:spcBef>
            </a:pPr>
            <a:r>
              <a:rPr lang="en" dirty="0"/>
              <a:t>1. Random selection</a:t>
            </a:r>
          </a:p>
          <a:p>
            <a:pPr marL="914400" lvl="1" indent="-228600" rtl="0">
              <a:spcBef>
                <a:spcPts val="0"/>
              </a:spcBef>
            </a:pPr>
            <a:r>
              <a:rPr lang="en" dirty="0"/>
              <a:t>2. Independent samples</a:t>
            </a:r>
          </a:p>
          <a:p>
            <a:pPr marL="914400" lvl="1" indent="-228600" rtl="0">
              <a:spcBef>
                <a:spcPts val="0"/>
              </a:spcBef>
            </a:pPr>
            <a:r>
              <a:rPr lang="en" dirty="0"/>
              <a:t>3.  Ordinal or Continuous data type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Shape 87"/>
          <p:cNvSpPr txBox="1">
            <a:spLocks noGrp="1"/>
          </p:cNvSpPr>
          <p:nvPr>
            <p:ph type="title"/>
          </p:nvPr>
        </p:nvSpPr>
        <p:spPr>
          <a:xfrm>
            <a:off x="311700" y="315925"/>
            <a:ext cx="8520600" cy="831300"/>
          </a:xfrm>
          <a:prstGeom prst="rect">
            <a:avLst/>
          </a:prstGeom>
        </p:spPr>
        <p:txBody>
          <a:bodyPr lIns="91425" tIns="91425" rIns="91425" bIns="91425" anchor="b" anchorCtr="0">
            <a:noAutofit/>
          </a:bodyPr>
          <a:lstStyle/>
          <a:p>
            <a:pPr lvl="0">
              <a:spcBef>
                <a:spcPts val="0"/>
              </a:spcBef>
              <a:buNone/>
            </a:pPr>
            <a:r>
              <a:rPr lang="en"/>
              <a:t>Hypothesis</a:t>
            </a:r>
          </a:p>
        </p:txBody>
      </p:sp>
      <p:sp>
        <p:nvSpPr>
          <p:cNvPr id="88" name="Shape 88"/>
          <p:cNvSpPr txBox="1">
            <a:spLocks noGrp="1"/>
          </p:cNvSpPr>
          <p:nvPr>
            <p:ph type="body" idx="1"/>
          </p:nvPr>
        </p:nvSpPr>
        <p:spPr>
          <a:xfrm>
            <a:off x="311700" y="1674400"/>
            <a:ext cx="2689800" cy="2015100"/>
          </a:xfrm>
          <a:prstGeom prst="rect">
            <a:avLst/>
          </a:prstGeom>
        </p:spPr>
        <p:txBody>
          <a:bodyPr lIns="91425" tIns="91425" rIns="91425" bIns="91425" anchor="t" anchorCtr="0">
            <a:noAutofit/>
          </a:bodyPr>
          <a:lstStyle/>
          <a:p>
            <a:pPr marL="457200" lvl="0" indent="-419100" rtl="0">
              <a:spcBef>
                <a:spcPts val="0"/>
              </a:spcBef>
              <a:buSzPct val="100000"/>
              <a:buChar char="❖"/>
            </a:pPr>
            <a:r>
              <a:rPr lang="en" sz="3000">
                <a:latin typeface="Times New Roman"/>
                <a:ea typeface="Times New Roman"/>
                <a:cs typeface="Times New Roman"/>
                <a:sym typeface="Times New Roman"/>
              </a:rPr>
              <a:t>H</a:t>
            </a:r>
            <a:r>
              <a:rPr lang="en" sz="3000" baseline="-25000">
                <a:latin typeface="Times New Roman"/>
                <a:ea typeface="Times New Roman"/>
                <a:cs typeface="Times New Roman"/>
                <a:sym typeface="Times New Roman"/>
              </a:rPr>
              <a:t>0</a:t>
            </a:r>
            <a:r>
              <a:rPr lang="en" sz="3000">
                <a:latin typeface="Times New Roman"/>
                <a:ea typeface="Times New Roman"/>
                <a:cs typeface="Times New Roman"/>
                <a:sym typeface="Times New Roman"/>
              </a:rPr>
              <a:t>: µ</a:t>
            </a:r>
            <a:r>
              <a:rPr lang="en" sz="3000" baseline="-25000">
                <a:latin typeface="Times New Roman"/>
                <a:ea typeface="Times New Roman"/>
                <a:cs typeface="Times New Roman"/>
                <a:sym typeface="Times New Roman"/>
              </a:rPr>
              <a:t>1</a:t>
            </a:r>
            <a:r>
              <a:rPr lang="en" sz="3000">
                <a:latin typeface="Times New Roman"/>
                <a:ea typeface="Times New Roman"/>
                <a:cs typeface="Times New Roman"/>
                <a:sym typeface="Times New Roman"/>
              </a:rPr>
              <a:t> = µ</a:t>
            </a:r>
            <a:r>
              <a:rPr lang="en" sz="3000" baseline="-25000">
                <a:latin typeface="Times New Roman"/>
                <a:ea typeface="Times New Roman"/>
                <a:cs typeface="Times New Roman"/>
                <a:sym typeface="Times New Roman"/>
              </a:rPr>
              <a:t>2</a:t>
            </a:r>
            <a:r>
              <a:rPr lang="en" sz="3000">
                <a:latin typeface="Times New Roman"/>
                <a:ea typeface="Times New Roman"/>
                <a:cs typeface="Times New Roman"/>
                <a:sym typeface="Times New Roman"/>
              </a:rPr>
              <a:t> </a:t>
            </a:r>
          </a:p>
          <a:p>
            <a:pPr marL="457200" lvl="0" indent="-419100" rtl="0">
              <a:spcBef>
                <a:spcPts val="0"/>
              </a:spcBef>
              <a:buSzPct val="100000"/>
              <a:buFont typeface="Times New Roman"/>
              <a:buChar char="❖"/>
            </a:pPr>
            <a:r>
              <a:rPr lang="en" sz="3000">
                <a:latin typeface="Times New Roman"/>
                <a:ea typeface="Times New Roman"/>
                <a:cs typeface="Times New Roman"/>
                <a:sym typeface="Times New Roman"/>
              </a:rPr>
              <a:t>H</a:t>
            </a:r>
            <a:r>
              <a:rPr lang="en" sz="3000" baseline="-25000">
                <a:latin typeface="Times New Roman"/>
                <a:ea typeface="Times New Roman"/>
                <a:cs typeface="Times New Roman"/>
                <a:sym typeface="Times New Roman"/>
              </a:rPr>
              <a:t>0</a:t>
            </a:r>
            <a:r>
              <a:rPr lang="en" sz="3000">
                <a:latin typeface="Times New Roman"/>
                <a:ea typeface="Times New Roman"/>
                <a:cs typeface="Times New Roman"/>
                <a:sym typeface="Times New Roman"/>
              </a:rPr>
              <a:t>: µ</a:t>
            </a:r>
            <a:r>
              <a:rPr lang="en" sz="3000" baseline="-25000">
                <a:latin typeface="Times New Roman"/>
                <a:ea typeface="Times New Roman"/>
                <a:cs typeface="Times New Roman"/>
                <a:sym typeface="Times New Roman"/>
              </a:rPr>
              <a:t>1</a:t>
            </a:r>
            <a:r>
              <a:rPr lang="en" sz="3000">
                <a:latin typeface="Times New Roman"/>
                <a:ea typeface="Times New Roman"/>
                <a:cs typeface="Times New Roman"/>
                <a:sym typeface="Times New Roman"/>
              </a:rPr>
              <a:t> ≤ µ</a:t>
            </a:r>
            <a:r>
              <a:rPr lang="en" sz="3000" baseline="-25000">
                <a:latin typeface="Times New Roman"/>
                <a:ea typeface="Times New Roman"/>
                <a:cs typeface="Times New Roman"/>
                <a:sym typeface="Times New Roman"/>
              </a:rPr>
              <a:t>2</a:t>
            </a:r>
          </a:p>
          <a:p>
            <a:pPr marL="457200" lvl="0" indent="-419100" rtl="0">
              <a:spcBef>
                <a:spcPts val="0"/>
              </a:spcBef>
              <a:buSzPct val="100000"/>
              <a:buFont typeface="Times New Roman"/>
              <a:buChar char="❖"/>
            </a:pPr>
            <a:r>
              <a:rPr lang="en" sz="3000">
                <a:latin typeface="Times New Roman"/>
                <a:ea typeface="Times New Roman"/>
                <a:cs typeface="Times New Roman"/>
                <a:sym typeface="Times New Roman"/>
              </a:rPr>
              <a:t>H</a:t>
            </a:r>
            <a:r>
              <a:rPr lang="en" sz="3000" baseline="-25000">
                <a:latin typeface="Times New Roman"/>
                <a:ea typeface="Times New Roman"/>
                <a:cs typeface="Times New Roman"/>
                <a:sym typeface="Times New Roman"/>
              </a:rPr>
              <a:t>0</a:t>
            </a:r>
            <a:r>
              <a:rPr lang="en" sz="3000">
                <a:latin typeface="Times New Roman"/>
                <a:ea typeface="Times New Roman"/>
                <a:cs typeface="Times New Roman"/>
                <a:sym typeface="Times New Roman"/>
              </a:rPr>
              <a:t>: µ</a:t>
            </a:r>
            <a:r>
              <a:rPr lang="en" sz="3000" baseline="-25000">
                <a:latin typeface="Times New Roman"/>
                <a:ea typeface="Times New Roman"/>
                <a:cs typeface="Times New Roman"/>
                <a:sym typeface="Times New Roman"/>
              </a:rPr>
              <a:t>1</a:t>
            </a:r>
            <a:r>
              <a:rPr lang="en" sz="3000">
                <a:latin typeface="Times New Roman"/>
                <a:ea typeface="Times New Roman"/>
                <a:cs typeface="Times New Roman"/>
                <a:sym typeface="Times New Roman"/>
              </a:rPr>
              <a:t> ≥ µ</a:t>
            </a:r>
            <a:r>
              <a:rPr lang="en" sz="3000" baseline="-25000">
                <a:latin typeface="Times New Roman"/>
                <a:ea typeface="Times New Roman"/>
                <a:cs typeface="Times New Roman"/>
                <a:sym typeface="Times New Roman"/>
              </a:rPr>
              <a:t>2</a:t>
            </a:r>
          </a:p>
          <a:p>
            <a:pPr lvl="0" rtl="0">
              <a:spcBef>
                <a:spcPts val="0"/>
              </a:spcBef>
              <a:buNone/>
            </a:pPr>
            <a:endParaRPr sz="2400" baseline="-25000">
              <a:latin typeface="Times New Roman"/>
              <a:ea typeface="Times New Roman"/>
              <a:cs typeface="Times New Roman"/>
              <a:sym typeface="Times New Roman"/>
            </a:endParaRPr>
          </a:p>
          <a:p>
            <a:pPr lvl="0">
              <a:spcBef>
                <a:spcPts val="0"/>
              </a:spcBef>
              <a:buNone/>
            </a:pPr>
            <a:endParaRPr sz="2400">
              <a:latin typeface="Times New Roman"/>
              <a:ea typeface="Times New Roman"/>
              <a:cs typeface="Times New Roman"/>
              <a:sym typeface="Times New Roman"/>
            </a:endParaRPr>
          </a:p>
        </p:txBody>
      </p:sp>
      <p:sp>
        <p:nvSpPr>
          <p:cNvPr id="89" name="Shape 89"/>
          <p:cNvSpPr txBox="1"/>
          <p:nvPr/>
        </p:nvSpPr>
        <p:spPr>
          <a:xfrm>
            <a:off x="3778775" y="1674400"/>
            <a:ext cx="2689800" cy="1488000"/>
          </a:xfrm>
          <a:prstGeom prst="rect">
            <a:avLst/>
          </a:prstGeom>
          <a:noFill/>
          <a:ln>
            <a:noFill/>
          </a:ln>
        </p:spPr>
        <p:txBody>
          <a:bodyPr lIns="91425" tIns="91425" rIns="91425" bIns="91425" anchor="t" anchorCtr="0">
            <a:noAutofit/>
          </a:bodyPr>
          <a:lstStyle/>
          <a:p>
            <a:pPr marL="457200" lvl="0" indent="-419100" rtl="0">
              <a:lnSpc>
                <a:spcPct val="115000"/>
              </a:lnSpc>
              <a:spcBef>
                <a:spcPts val="0"/>
              </a:spcBef>
              <a:spcAft>
                <a:spcPts val="1600"/>
              </a:spcAft>
              <a:buClr>
                <a:schemeClr val="dk1"/>
              </a:buClr>
              <a:buSzPct val="100000"/>
              <a:buFont typeface="Times New Roman"/>
              <a:buChar char="❖"/>
            </a:pPr>
            <a:r>
              <a:rPr lang="en" sz="3000">
                <a:solidFill>
                  <a:schemeClr val="dk1"/>
                </a:solidFill>
                <a:latin typeface="Times New Roman"/>
                <a:ea typeface="Times New Roman"/>
                <a:cs typeface="Times New Roman"/>
                <a:sym typeface="Times New Roman"/>
              </a:rPr>
              <a:t>H</a:t>
            </a:r>
            <a:r>
              <a:rPr lang="en" sz="3000" baseline="-25000">
                <a:solidFill>
                  <a:schemeClr val="dk1"/>
                </a:solidFill>
                <a:latin typeface="Times New Roman"/>
                <a:ea typeface="Times New Roman"/>
                <a:cs typeface="Times New Roman"/>
                <a:sym typeface="Times New Roman"/>
              </a:rPr>
              <a:t>a</a:t>
            </a:r>
            <a:r>
              <a:rPr lang="en" sz="3000">
                <a:solidFill>
                  <a:schemeClr val="dk1"/>
                </a:solidFill>
                <a:latin typeface="Times New Roman"/>
                <a:ea typeface="Times New Roman"/>
                <a:cs typeface="Times New Roman"/>
                <a:sym typeface="Times New Roman"/>
              </a:rPr>
              <a:t>: µ</a:t>
            </a:r>
            <a:r>
              <a:rPr lang="en" sz="3000" baseline="-25000">
                <a:solidFill>
                  <a:schemeClr val="dk1"/>
                </a:solidFill>
                <a:latin typeface="Times New Roman"/>
                <a:ea typeface="Times New Roman"/>
                <a:cs typeface="Times New Roman"/>
                <a:sym typeface="Times New Roman"/>
              </a:rPr>
              <a:t>1</a:t>
            </a:r>
            <a:r>
              <a:rPr lang="en" sz="3000">
                <a:solidFill>
                  <a:schemeClr val="dk1"/>
                </a:solidFill>
                <a:latin typeface="Times New Roman"/>
                <a:ea typeface="Times New Roman"/>
                <a:cs typeface="Times New Roman"/>
                <a:sym typeface="Times New Roman"/>
              </a:rPr>
              <a:t> ≠ µ</a:t>
            </a:r>
            <a:r>
              <a:rPr lang="en" sz="3000" baseline="-25000">
                <a:solidFill>
                  <a:schemeClr val="dk1"/>
                </a:solidFill>
                <a:latin typeface="Times New Roman"/>
                <a:ea typeface="Times New Roman"/>
                <a:cs typeface="Times New Roman"/>
                <a:sym typeface="Times New Roman"/>
              </a:rPr>
              <a:t>2 </a:t>
            </a:r>
          </a:p>
          <a:p>
            <a:pPr marL="457200" lvl="0" indent="-419100" rtl="0">
              <a:lnSpc>
                <a:spcPct val="115000"/>
              </a:lnSpc>
              <a:spcBef>
                <a:spcPts val="0"/>
              </a:spcBef>
              <a:spcAft>
                <a:spcPts val="1600"/>
              </a:spcAft>
              <a:buClr>
                <a:schemeClr val="dk1"/>
              </a:buClr>
              <a:buSzPct val="100000"/>
              <a:buFont typeface="Times New Roman"/>
              <a:buChar char="❖"/>
            </a:pPr>
            <a:r>
              <a:rPr lang="en" sz="3000">
                <a:solidFill>
                  <a:schemeClr val="dk1"/>
                </a:solidFill>
                <a:latin typeface="Times New Roman"/>
                <a:ea typeface="Times New Roman"/>
                <a:cs typeface="Times New Roman"/>
                <a:sym typeface="Times New Roman"/>
              </a:rPr>
              <a:t>H</a:t>
            </a:r>
            <a:r>
              <a:rPr lang="en" sz="3000" baseline="-25000">
                <a:solidFill>
                  <a:schemeClr val="dk1"/>
                </a:solidFill>
                <a:latin typeface="Times New Roman"/>
                <a:ea typeface="Times New Roman"/>
                <a:cs typeface="Times New Roman"/>
                <a:sym typeface="Times New Roman"/>
              </a:rPr>
              <a:t>a</a:t>
            </a:r>
            <a:r>
              <a:rPr lang="en" sz="3000">
                <a:solidFill>
                  <a:schemeClr val="dk1"/>
                </a:solidFill>
                <a:latin typeface="Times New Roman"/>
                <a:ea typeface="Times New Roman"/>
                <a:cs typeface="Times New Roman"/>
                <a:sym typeface="Times New Roman"/>
              </a:rPr>
              <a:t>: µ</a:t>
            </a:r>
            <a:r>
              <a:rPr lang="en" sz="3000" baseline="-25000">
                <a:solidFill>
                  <a:schemeClr val="dk1"/>
                </a:solidFill>
                <a:latin typeface="Times New Roman"/>
                <a:ea typeface="Times New Roman"/>
                <a:cs typeface="Times New Roman"/>
                <a:sym typeface="Times New Roman"/>
              </a:rPr>
              <a:t>1</a:t>
            </a:r>
            <a:r>
              <a:rPr lang="en" sz="3000">
                <a:solidFill>
                  <a:schemeClr val="dk1"/>
                </a:solidFill>
                <a:latin typeface="Times New Roman"/>
                <a:ea typeface="Times New Roman"/>
                <a:cs typeface="Times New Roman"/>
                <a:sym typeface="Times New Roman"/>
              </a:rPr>
              <a:t> &gt; µ</a:t>
            </a:r>
            <a:r>
              <a:rPr lang="en" sz="3000" baseline="-25000">
                <a:solidFill>
                  <a:schemeClr val="dk1"/>
                </a:solidFill>
                <a:latin typeface="Times New Roman"/>
                <a:ea typeface="Times New Roman"/>
                <a:cs typeface="Times New Roman"/>
                <a:sym typeface="Times New Roman"/>
              </a:rPr>
              <a:t>2</a:t>
            </a:r>
          </a:p>
          <a:p>
            <a:pPr marL="457200" lvl="0" indent="-419100" rtl="0">
              <a:lnSpc>
                <a:spcPct val="115000"/>
              </a:lnSpc>
              <a:spcBef>
                <a:spcPts val="0"/>
              </a:spcBef>
              <a:spcAft>
                <a:spcPts val="1600"/>
              </a:spcAft>
              <a:buClr>
                <a:schemeClr val="dk1"/>
              </a:buClr>
              <a:buSzPct val="100000"/>
              <a:buFont typeface="Times New Roman"/>
              <a:buChar char="❖"/>
            </a:pPr>
            <a:r>
              <a:rPr lang="en" sz="3000">
                <a:solidFill>
                  <a:schemeClr val="dk1"/>
                </a:solidFill>
                <a:latin typeface="Times New Roman"/>
                <a:ea typeface="Times New Roman"/>
                <a:cs typeface="Times New Roman"/>
                <a:sym typeface="Times New Roman"/>
              </a:rPr>
              <a:t>H</a:t>
            </a:r>
            <a:r>
              <a:rPr lang="en" sz="3000" baseline="-25000">
                <a:solidFill>
                  <a:schemeClr val="dk1"/>
                </a:solidFill>
                <a:latin typeface="Times New Roman"/>
                <a:ea typeface="Times New Roman"/>
                <a:cs typeface="Times New Roman"/>
                <a:sym typeface="Times New Roman"/>
              </a:rPr>
              <a:t>a</a:t>
            </a:r>
            <a:r>
              <a:rPr lang="en" sz="3000">
                <a:solidFill>
                  <a:schemeClr val="dk1"/>
                </a:solidFill>
                <a:latin typeface="Times New Roman"/>
                <a:ea typeface="Times New Roman"/>
                <a:cs typeface="Times New Roman"/>
                <a:sym typeface="Times New Roman"/>
              </a:rPr>
              <a:t>: µ</a:t>
            </a:r>
            <a:r>
              <a:rPr lang="en" sz="3000" baseline="-25000">
                <a:solidFill>
                  <a:schemeClr val="dk1"/>
                </a:solidFill>
                <a:latin typeface="Times New Roman"/>
                <a:ea typeface="Times New Roman"/>
                <a:cs typeface="Times New Roman"/>
                <a:sym typeface="Times New Roman"/>
              </a:rPr>
              <a:t>1</a:t>
            </a:r>
            <a:r>
              <a:rPr lang="en" sz="3000">
                <a:solidFill>
                  <a:schemeClr val="dk1"/>
                </a:solidFill>
                <a:latin typeface="Times New Roman"/>
                <a:ea typeface="Times New Roman"/>
                <a:cs typeface="Times New Roman"/>
                <a:sym typeface="Times New Roman"/>
              </a:rPr>
              <a:t> &lt; µ</a:t>
            </a:r>
            <a:r>
              <a:rPr lang="en" sz="3000" baseline="-25000">
                <a:solidFill>
                  <a:schemeClr val="dk1"/>
                </a:solidFill>
                <a:latin typeface="Times New Roman"/>
                <a:ea typeface="Times New Roman"/>
                <a:cs typeface="Times New Roman"/>
                <a:sym typeface="Times New Roman"/>
              </a:rPr>
              <a:t>2</a:t>
            </a:r>
          </a:p>
        </p:txBody>
      </p:sp>
      <p:sp>
        <p:nvSpPr>
          <p:cNvPr id="90" name="Shape 90"/>
          <p:cNvSpPr txBox="1"/>
          <p:nvPr/>
        </p:nvSpPr>
        <p:spPr>
          <a:xfrm>
            <a:off x="6468575" y="1854500"/>
            <a:ext cx="2313900" cy="443100"/>
          </a:xfrm>
          <a:prstGeom prst="rect">
            <a:avLst/>
          </a:prstGeom>
          <a:noFill/>
          <a:ln>
            <a:noFill/>
          </a:ln>
        </p:spPr>
        <p:txBody>
          <a:bodyPr lIns="91425" tIns="91425" rIns="91425" bIns="91425" anchor="t" anchorCtr="0">
            <a:noAutofit/>
          </a:bodyPr>
          <a:lstStyle/>
          <a:p>
            <a:pPr lvl="0">
              <a:spcBef>
                <a:spcPts val="0"/>
              </a:spcBef>
              <a:buNone/>
            </a:pPr>
            <a:r>
              <a:rPr lang="en" sz="1800"/>
              <a:t>Reject if U ≤ U</a:t>
            </a:r>
            <a:r>
              <a:rPr lang="en" sz="1800" baseline="-25000"/>
              <a:t>n1,n2</a:t>
            </a:r>
          </a:p>
        </p:txBody>
      </p:sp>
      <p:sp>
        <p:nvSpPr>
          <p:cNvPr id="91" name="Shape 91"/>
          <p:cNvSpPr txBox="1"/>
          <p:nvPr/>
        </p:nvSpPr>
        <p:spPr>
          <a:xfrm>
            <a:off x="6468575" y="2569900"/>
            <a:ext cx="1807800" cy="532500"/>
          </a:xfrm>
          <a:prstGeom prst="rect">
            <a:avLst/>
          </a:prstGeom>
          <a:noFill/>
          <a:ln>
            <a:noFill/>
          </a:ln>
        </p:spPr>
        <p:txBody>
          <a:bodyPr lIns="91425" tIns="91425" rIns="91425" bIns="91425" anchor="t" anchorCtr="0">
            <a:noAutofit/>
          </a:bodyPr>
          <a:lstStyle/>
          <a:p>
            <a:pPr lvl="0">
              <a:spcBef>
                <a:spcPts val="0"/>
              </a:spcBef>
              <a:buNone/>
            </a:pPr>
            <a:r>
              <a:rPr lang="en" sz="1800"/>
              <a:t>One-tailed Test</a:t>
            </a:r>
          </a:p>
        </p:txBody>
      </p:sp>
      <p:sp>
        <p:nvSpPr>
          <p:cNvPr id="92" name="Shape 92"/>
          <p:cNvSpPr txBox="1"/>
          <p:nvPr/>
        </p:nvSpPr>
        <p:spPr>
          <a:xfrm>
            <a:off x="6083675" y="2179800"/>
            <a:ext cx="384900" cy="783900"/>
          </a:xfrm>
          <a:prstGeom prst="rect">
            <a:avLst/>
          </a:prstGeom>
          <a:noFill/>
          <a:ln>
            <a:noFill/>
          </a:ln>
        </p:spPr>
        <p:txBody>
          <a:bodyPr lIns="91425" tIns="91425" rIns="91425" bIns="91425" anchor="t" anchorCtr="0">
            <a:noAutofit/>
          </a:bodyPr>
          <a:lstStyle/>
          <a:p>
            <a:pPr lvl="0">
              <a:spcBef>
                <a:spcPts val="0"/>
              </a:spcBef>
              <a:buNone/>
            </a:pPr>
            <a:r>
              <a:rPr lang="en" sz="6000"/>
              <a:t>}</a:t>
            </a:r>
          </a:p>
        </p:txBody>
      </p:sp>
      <p:cxnSp>
        <p:nvCxnSpPr>
          <p:cNvPr id="93" name="Shape 93"/>
          <p:cNvCxnSpPr/>
          <p:nvPr/>
        </p:nvCxnSpPr>
        <p:spPr>
          <a:xfrm>
            <a:off x="6002075" y="2076050"/>
            <a:ext cx="548100" cy="0"/>
          </a:xfrm>
          <a:prstGeom prst="straightConnector1">
            <a:avLst/>
          </a:prstGeom>
          <a:noFill/>
          <a:ln w="38100" cap="flat" cmpd="sng">
            <a:solidFill>
              <a:schemeClr val="dk2"/>
            </a:solidFill>
            <a:prstDash val="solid"/>
            <a:round/>
            <a:headEnd type="none" w="lg" len="lg"/>
            <a:tailEnd type="triangle" w="lg" len="lg"/>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Shape 98"/>
          <p:cNvSpPr txBox="1">
            <a:spLocks noGrp="1"/>
          </p:cNvSpPr>
          <p:nvPr>
            <p:ph type="title"/>
          </p:nvPr>
        </p:nvSpPr>
        <p:spPr>
          <a:xfrm>
            <a:off x="311700" y="158043"/>
            <a:ext cx="8520600" cy="711201"/>
          </a:xfrm>
          <a:prstGeom prst="rect">
            <a:avLst/>
          </a:prstGeom>
        </p:spPr>
        <p:txBody>
          <a:bodyPr lIns="91425" tIns="91425" rIns="91425" bIns="91425" anchor="b" anchorCtr="0">
            <a:noAutofit/>
          </a:bodyPr>
          <a:lstStyle/>
          <a:p>
            <a:pPr lvl="0">
              <a:spcBef>
                <a:spcPts val="0"/>
              </a:spcBef>
              <a:buNone/>
            </a:pPr>
            <a:r>
              <a:rPr lang="en" sz="3600" dirty="0"/>
              <a:t>Steps to using the Mann-Whitney U Test</a:t>
            </a:r>
          </a:p>
        </p:txBody>
      </p:sp>
      <p:sp>
        <p:nvSpPr>
          <p:cNvPr id="99" name="Shape 99"/>
          <p:cNvSpPr txBox="1">
            <a:spLocks noGrp="1"/>
          </p:cNvSpPr>
          <p:nvPr>
            <p:ph type="body" idx="1"/>
          </p:nvPr>
        </p:nvSpPr>
        <p:spPr>
          <a:xfrm>
            <a:off x="311700" y="995599"/>
            <a:ext cx="8520600" cy="4016667"/>
          </a:xfrm>
          <a:prstGeom prst="rect">
            <a:avLst/>
          </a:prstGeom>
        </p:spPr>
        <p:txBody>
          <a:bodyPr lIns="91425" tIns="91425" rIns="91425" bIns="91425" anchor="t" anchorCtr="0">
            <a:noAutofit/>
          </a:bodyPr>
          <a:lstStyle/>
          <a:p>
            <a:pPr lvl="0">
              <a:spcBef>
                <a:spcPts val="0"/>
              </a:spcBef>
              <a:buNone/>
            </a:pPr>
            <a:r>
              <a:rPr lang="en" sz="1400" b="1" dirty="0"/>
              <a:t>Step 1</a:t>
            </a:r>
            <a:r>
              <a:rPr lang="en" sz="1400" dirty="0"/>
              <a:t>: Rank all scores together, ignoring which group they came from.</a:t>
            </a:r>
          </a:p>
          <a:p>
            <a:pPr lvl="0">
              <a:spcBef>
                <a:spcPts val="0"/>
              </a:spcBef>
              <a:buNone/>
            </a:pPr>
            <a:r>
              <a:rPr lang="en" sz="1400" b="1" dirty="0"/>
              <a:t>Step 2</a:t>
            </a:r>
            <a:r>
              <a:rPr lang="en" sz="1400" dirty="0"/>
              <a:t>: Add up the ranks for group 1 to get R</a:t>
            </a:r>
            <a:r>
              <a:rPr lang="en" sz="1400" baseline="-25000" dirty="0"/>
              <a:t>1</a:t>
            </a:r>
            <a:r>
              <a:rPr lang="en" sz="1400" dirty="0"/>
              <a:t>.</a:t>
            </a:r>
          </a:p>
          <a:p>
            <a:pPr lvl="0">
              <a:spcBef>
                <a:spcPts val="0"/>
              </a:spcBef>
              <a:buNone/>
            </a:pPr>
            <a:r>
              <a:rPr lang="en" sz="1400" b="1" dirty="0"/>
              <a:t>Step 3</a:t>
            </a:r>
            <a:r>
              <a:rPr lang="en" sz="1400" dirty="0"/>
              <a:t>: Add up the ranks for group 2 to get R</a:t>
            </a:r>
            <a:r>
              <a:rPr lang="en" sz="1400" baseline="-25000" dirty="0"/>
              <a:t>2</a:t>
            </a:r>
            <a:r>
              <a:rPr lang="en" sz="1400" dirty="0"/>
              <a:t>.</a:t>
            </a:r>
          </a:p>
          <a:p>
            <a:pPr lvl="0">
              <a:spcBef>
                <a:spcPts val="0"/>
              </a:spcBef>
              <a:buNone/>
            </a:pPr>
            <a:r>
              <a:rPr lang="en" sz="1400" b="1" dirty="0"/>
              <a:t>Step 4</a:t>
            </a:r>
            <a:r>
              <a:rPr lang="en" sz="1400" dirty="0"/>
              <a:t>: Select the larger rank total, R</a:t>
            </a:r>
            <a:r>
              <a:rPr lang="en" sz="1400" baseline="-25000" dirty="0"/>
              <a:t>x</a:t>
            </a:r>
            <a:r>
              <a:rPr lang="en" sz="1400" dirty="0"/>
              <a:t>.</a:t>
            </a:r>
          </a:p>
          <a:p>
            <a:pPr lvl="0">
              <a:spcBef>
                <a:spcPts val="0"/>
              </a:spcBef>
              <a:buNone/>
            </a:pPr>
            <a:r>
              <a:rPr lang="en" sz="1400" b="1" dirty="0"/>
              <a:t>Step 5</a:t>
            </a:r>
            <a:r>
              <a:rPr lang="en" sz="1400" dirty="0"/>
              <a:t>: Calculate N</a:t>
            </a:r>
            <a:r>
              <a:rPr lang="en" sz="1400" baseline="-25000" dirty="0"/>
              <a:t>1</a:t>
            </a:r>
            <a:r>
              <a:rPr lang="en" sz="1400" dirty="0"/>
              <a:t>, N</a:t>
            </a:r>
            <a:r>
              <a:rPr lang="en" sz="1400" baseline="-25000" dirty="0"/>
              <a:t>2</a:t>
            </a:r>
            <a:r>
              <a:rPr lang="en" sz="1400" dirty="0"/>
              <a:t>, and </a:t>
            </a:r>
            <a:r>
              <a:rPr lang="en" sz="1400" dirty="0" err="1"/>
              <a:t>N</a:t>
            </a:r>
            <a:r>
              <a:rPr lang="en" sz="1400" baseline="-25000" dirty="0" err="1"/>
              <a:t>x</a:t>
            </a:r>
            <a:r>
              <a:rPr lang="en" sz="1400" dirty="0"/>
              <a:t>, where N</a:t>
            </a:r>
            <a:r>
              <a:rPr lang="en" sz="1400" baseline="-25000" dirty="0"/>
              <a:t>1</a:t>
            </a:r>
            <a:r>
              <a:rPr lang="en" sz="1400" dirty="0"/>
              <a:t> and N</a:t>
            </a:r>
            <a:r>
              <a:rPr lang="en" sz="1400" baseline="-25000" dirty="0"/>
              <a:t>2</a:t>
            </a:r>
            <a:r>
              <a:rPr lang="en" sz="1400" dirty="0"/>
              <a:t> are the sample sizes for group 1 and 2, respectively, and </a:t>
            </a:r>
            <a:r>
              <a:rPr lang="en" sz="1400" dirty="0" err="1"/>
              <a:t>N</a:t>
            </a:r>
            <a:r>
              <a:rPr lang="en" sz="1400" baseline="-25000" dirty="0" err="1"/>
              <a:t>x</a:t>
            </a:r>
            <a:r>
              <a:rPr lang="en" sz="1400" dirty="0"/>
              <a:t> is the sample size of the group with the largest rank total.</a:t>
            </a:r>
          </a:p>
          <a:p>
            <a:pPr lvl="0">
              <a:spcBef>
                <a:spcPts val="0"/>
              </a:spcBef>
              <a:buNone/>
            </a:pPr>
            <a:r>
              <a:rPr lang="en" sz="1400" b="1" dirty="0"/>
              <a:t>Step 6</a:t>
            </a:r>
            <a:r>
              <a:rPr lang="en" sz="1400" dirty="0"/>
              <a:t>: Calculate the U value for the two groups, making sure to use the correct </a:t>
            </a:r>
            <a:r>
              <a:rPr lang="en" sz="1400" dirty="0" err="1"/>
              <a:t>N</a:t>
            </a:r>
            <a:r>
              <a:rPr lang="en" sz="1400" baseline="-25000" dirty="0" err="1"/>
              <a:t>x</a:t>
            </a:r>
            <a:r>
              <a:rPr lang="en" sz="1400" dirty="0"/>
              <a:t> and R</a:t>
            </a:r>
            <a:r>
              <a:rPr lang="en" sz="1400" baseline="-25000" dirty="0"/>
              <a:t>x</a:t>
            </a:r>
            <a:r>
              <a:rPr lang="en" sz="1400" dirty="0"/>
              <a:t>.</a:t>
            </a:r>
          </a:p>
          <a:p>
            <a:pPr lvl="0">
              <a:spcBef>
                <a:spcPts val="0"/>
              </a:spcBef>
              <a:buNone/>
            </a:pPr>
            <a:r>
              <a:rPr lang="en" sz="1400" b="1" dirty="0"/>
              <a:t>Step 7</a:t>
            </a:r>
            <a:r>
              <a:rPr lang="en" sz="1400" dirty="0"/>
              <a:t>: Use the Mann-Whitney U Test table to find the critical U value.</a:t>
            </a:r>
          </a:p>
          <a:p>
            <a:pPr lvl="0">
              <a:spcBef>
                <a:spcPts val="0"/>
              </a:spcBef>
              <a:buNone/>
            </a:pPr>
            <a:r>
              <a:rPr lang="en" sz="1400" b="1" dirty="0"/>
              <a:t>Step 8</a:t>
            </a:r>
            <a:r>
              <a:rPr lang="en" sz="1400" dirty="0"/>
              <a:t>: Compare critical U value to calculated U value.  There’s only a statistical difference if U calculated is </a:t>
            </a:r>
            <a:r>
              <a:rPr lang="en" sz="1400" b="1" u="sng" dirty="0"/>
              <a:t>LESS</a:t>
            </a:r>
            <a:r>
              <a:rPr lang="en" sz="1400" u="sng" dirty="0"/>
              <a:t> </a:t>
            </a:r>
            <a:r>
              <a:rPr lang="en" sz="1400" b="1" u="sng" dirty="0"/>
              <a:t>THAN</a:t>
            </a:r>
            <a:r>
              <a:rPr lang="en" sz="1400" b="1" dirty="0"/>
              <a:t> </a:t>
            </a:r>
            <a:r>
              <a:rPr lang="en" sz="1400" dirty="0"/>
              <a:t>or </a:t>
            </a:r>
            <a:r>
              <a:rPr lang="en" sz="1400" b="1" u="sng" dirty="0"/>
              <a:t>EQUAL TO</a:t>
            </a:r>
            <a:r>
              <a:rPr lang="en" sz="1400" b="1" dirty="0"/>
              <a:t> </a:t>
            </a:r>
            <a:r>
              <a:rPr lang="en" sz="1400" dirty="0"/>
              <a:t>U critical.</a:t>
            </a:r>
          </a:p>
          <a:p>
            <a:pPr lvl="0">
              <a:spcBef>
                <a:spcPts val="0"/>
              </a:spcBef>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Shape 104"/>
          <p:cNvSpPr txBox="1"/>
          <p:nvPr/>
        </p:nvSpPr>
        <p:spPr>
          <a:xfrm>
            <a:off x="578650" y="334325"/>
            <a:ext cx="5452200" cy="681600"/>
          </a:xfrm>
          <a:prstGeom prst="rect">
            <a:avLst/>
          </a:prstGeom>
          <a:noFill/>
          <a:ln>
            <a:noFill/>
          </a:ln>
        </p:spPr>
        <p:txBody>
          <a:bodyPr lIns="91425" tIns="91425" rIns="91425" bIns="91425" anchor="t" anchorCtr="0">
            <a:noAutofit/>
          </a:bodyPr>
          <a:lstStyle/>
          <a:p>
            <a:pPr lvl="0">
              <a:spcBef>
                <a:spcPts val="0"/>
              </a:spcBef>
              <a:buNone/>
            </a:pPr>
            <a:r>
              <a:rPr lang="en" sz="3600">
                <a:latin typeface="Economica"/>
                <a:ea typeface="Economica"/>
                <a:cs typeface="Economica"/>
                <a:sym typeface="Economica"/>
              </a:rPr>
              <a:t>Statistic Defined</a:t>
            </a:r>
          </a:p>
        </p:txBody>
      </p:sp>
      <p:sp>
        <p:nvSpPr>
          <p:cNvPr id="105" name="Shape 105"/>
          <p:cNvSpPr txBox="1"/>
          <p:nvPr/>
        </p:nvSpPr>
        <p:spPr>
          <a:xfrm>
            <a:off x="578650" y="2490850"/>
            <a:ext cx="3946800" cy="548100"/>
          </a:xfrm>
          <a:prstGeom prst="rect">
            <a:avLst/>
          </a:prstGeom>
          <a:noFill/>
          <a:ln>
            <a:noFill/>
          </a:ln>
        </p:spPr>
        <p:txBody>
          <a:bodyPr lIns="91425" tIns="91425" rIns="91425" bIns="91425" anchor="t" anchorCtr="0">
            <a:noAutofit/>
          </a:bodyPr>
          <a:lstStyle/>
          <a:p>
            <a:pPr marL="0" lvl="0" indent="-69850" rtl="0">
              <a:lnSpc>
                <a:spcPct val="115000"/>
              </a:lnSpc>
              <a:spcBef>
                <a:spcPts val="0"/>
              </a:spcBef>
              <a:spcAft>
                <a:spcPts val="1600"/>
              </a:spcAft>
              <a:buClr>
                <a:schemeClr val="dk1"/>
              </a:buClr>
              <a:buSzPct val="45833"/>
              <a:buFont typeface="Arial"/>
              <a:buNone/>
            </a:pPr>
            <a:r>
              <a:rPr lang="en" sz="2400" i="1">
                <a:solidFill>
                  <a:schemeClr val="dk1"/>
                </a:solidFill>
                <a:latin typeface="Open Sans"/>
                <a:ea typeface="Open Sans"/>
                <a:cs typeface="Open Sans"/>
                <a:sym typeface="Open Sans"/>
              </a:rPr>
              <a:t>U = N</a:t>
            </a:r>
            <a:r>
              <a:rPr lang="en" sz="2400" i="1" baseline="-25000">
                <a:solidFill>
                  <a:schemeClr val="dk1"/>
                </a:solidFill>
                <a:latin typeface="Open Sans"/>
                <a:ea typeface="Open Sans"/>
                <a:cs typeface="Open Sans"/>
                <a:sym typeface="Open Sans"/>
              </a:rPr>
              <a:t>1</a:t>
            </a:r>
            <a:r>
              <a:rPr lang="en" sz="2400" i="1">
                <a:solidFill>
                  <a:schemeClr val="dk1"/>
                </a:solidFill>
                <a:latin typeface="Open Sans"/>
                <a:ea typeface="Open Sans"/>
                <a:cs typeface="Open Sans"/>
                <a:sym typeface="Open Sans"/>
              </a:rPr>
              <a:t>*N</a:t>
            </a:r>
            <a:r>
              <a:rPr lang="en" sz="2400" i="1" baseline="-25000">
                <a:solidFill>
                  <a:schemeClr val="dk1"/>
                </a:solidFill>
                <a:latin typeface="Open Sans"/>
                <a:ea typeface="Open Sans"/>
                <a:cs typeface="Open Sans"/>
                <a:sym typeface="Open Sans"/>
              </a:rPr>
              <a:t>2</a:t>
            </a:r>
            <a:r>
              <a:rPr lang="en" sz="2400" i="1">
                <a:solidFill>
                  <a:schemeClr val="dk1"/>
                </a:solidFill>
                <a:latin typeface="Open Sans"/>
                <a:ea typeface="Open Sans"/>
                <a:cs typeface="Open Sans"/>
                <a:sym typeface="Open Sans"/>
              </a:rPr>
              <a:t>+N</a:t>
            </a:r>
            <a:r>
              <a:rPr lang="en" sz="2400" i="1" baseline="-25000">
                <a:solidFill>
                  <a:schemeClr val="dk1"/>
                </a:solidFill>
                <a:latin typeface="Open Sans"/>
                <a:ea typeface="Open Sans"/>
                <a:cs typeface="Open Sans"/>
                <a:sym typeface="Open Sans"/>
              </a:rPr>
              <a:t>x</a:t>
            </a:r>
            <a:r>
              <a:rPr lang="en" sz="2400" i="1">
                <a:solidFill>
                  <a:schemeClr val="dk1"/>
                </a:solidFill>
                <a:latin typeface="Open Sans"/>
                <a:ea typeface="Open Sans"/>
                <a:cs typeface="Open Sans"/>
                <a:sym typeface="Open Sans"/>
              </a:rPr>
              <a:t>*(N</a:t>
            </a:r>
            <a:r>
              <a:rPr lang="en" sz="2400" i="1" baseline="-25000">
                <a:solidFill>
                  <a:schemeClr val="dk1"/>
                </a:solidFill>
                <a:latin typeface="Open Sans"/>
                <a:ea typeface="Open Sans"/>
                <a:cs typeface="Open Sans"/>
                <a:sym typeface="Open Sans"/>
              </a:rPr>
              <a:t>x</a:t>
            </a:r>
            <a:r>
              <a:rPr lang="en" sz="2400" i="1">
                <a:solidFill>
                  <a:schemeClr val="dk1"/>
                </a:solidFill>
                <a:latin typeface="Open Sans"/>
                <a:ea typeface="Open Sans"/>
                <a:cs typeface="Open Sans"/>
                <a:sym typeface="Open Sans"/>
              </a:rPr>
              <a:t>+1)/2-R</a:t>
            </a:r>
            <a:r>
              <a:rPr lang="en" sz="2400" i="1" baseline="-25000">
                <a:solidFill>
                  <a:schemeClr val="dk1"/>
                </a:solidFill>
                <a:latin typeface="Open Sans"/>
                <a:ea typeface="Open Sans"/>
                <a:cs typeface="Open Sans"/>
                <a:sym typeface="Open Sans"/>
              </a:rPr>
              <a:t>x</a:t>
            </a:r>
          </a:p>
        </p:txBody>
      </p:sp>
      <p:sp>
        <p:nvSpPr>
          <p:cNvPr id="106" name="Shape 106"/>
          <p:cNvSpPr txBox="1"/>
          <p:nvPr/>
        </p:nvSpPr>
        <p:spPr>
          <a:xfrm>
            <a:off x="5528400" y="1144450"/>
            <a:ext cx="3417300" cy="3240900"/>
          </a:xfrm>
          <a:prstGeom prst="rect">
            <a:avLst/>
          </a:prstGeom>
          <a:noFill/>
          <a:ln>
            <a:noFill/>
          </a:ln>
        </p:spPr>
        <p:txBody>
          <a:bodyPr lIns="91425" tIns="91425" rIns="91425" bIns="91425" anchor="t" anchorCtr="0">
            <a:noAutofit/>
          </a:bodyPr>
          <a:lstStyle/>
          <a:p>
            <a:pPr lvl="0">
              <a:lnSpc>
                <a:spcPct val="150000"/>
              </a:lnSpc>
              <a:spcBef>
                <a:spcPts val="0"/>
              </a:spcBef>
              <a:buNone/>
            </a:pPr>
            <a:r>
              <a:rPr lang="en" sz="1800"/>
              <a:t>Where:</a:t>
            </a:r>
          </a:p>
          <a:p>
            <a:pPr lvl="0">
              <a:lnSpc>
                <a:spcPct val="150000"/>
              </a:lnSpc>
              <a:spcBef>
                <a:spcPts val="0"/>
              </a:spcBef>
              <a:buNone/>
            </a:pPr>
            <a:r>
              <a:rPr lang="en" sz="2400" i="1"/>
              <a:t>U </a:t>
            </a:r>
            <a:r>
              <a:rPr lang="en" sz="1800"/>
              <a:t>= Mann-Whitney U test</a:t>
            </a:r>
          </a:p>
          <a:p>
            <a:pPr lvl="0">
              <a:lnSpc>
                <a:spcPct val="150000"/>
              </a:lnSpc>
              <a:spcBef>
                <a:spcPts val="0"/>
              </a:spcBef>
              <a:buNone/>
            </a:pPr>
            <a:r>
              <a:rPr lang="en" sz="2400" i="1">
                <a:solidFill>
                  <a:schemeClr val="dk1"/>
                </a:solidFill>
                <a:latin typeface="Open Sans"/>
                <a:ea typeface="Open Sans"/>
                <a:cs typeface="Open Sans"/>
                <a:sym typeface="Open Sans"/>
              </a:rPr>
              <a:t>N</a:t>
            </a:r>
            <a:r>
              <a:rPr lang="en" sz="2400" i="1" baseline="-25000">
                <a:solidFill>
                  <a:schemeClr val="dk1"/>
                </a:solidFill>
                <a:latin typeface="Open Sans"/>
                <a:ea typeface="Open Sans"/>
                <a:cs typeface="Open Sans"/>
                <a:sym typeface="Open Sans"/>
              </a:rPr>
              <a:t>1 </a:t>
            </a:r>
            <a:r>
              <a:rPr lang="en" sz="1800"/>
              <a:t>= Sample size of group 1</a:t>
            </a:r>
          </a:p>
          <a:p>
            <a:pPr lvl="0">
              <a:lnSpc>
                <a:spcPct val="150000"/>
              </a:lnSpc>
              <a:spcBef>
                <a:spcPts val="0"/>
              </a:spcBef>
              <a:buNone/>
            </a:pPr>
            <a:r>
              <a:rPr lang="en" sz="2400" i="1">
                <a:solidFill>
                  <a:schemeClr val="dk1"/>
                </a:solidFill>
                <a:latin typeface="Open Sans"/>
                <a:ea typeface="Open Sans"/>
                <a:cs typeface="Open Sans"/>
                <a:sym typeface="Open Sans"/>
              </a:rPr>
              <a:t>N</a:t>
            </a:r>
            <a:r>
              <a:rPr lang="en" sz="2400" i="1" baseline="-25000">
                <a:solidFill>
                  <a:schemeClr val="dk1"/>
                </a:solidFill>
                <a:latin typeface="Open Sans"/>
                <a:ea typeface="Open Sans"/>
                <a:cs typeface="Open Sans"/>
                <a:sym typeface="Open Sans"/>
              </a:rPr>
              <a:t>2</a:t>
            </a:r>
            <a:r>
              <a:rPr lang="en" sz="1800"/>
              <a:t> = Sample size of group 2</a:t>
            </a:r>
          </a:p>
          <a:p>
            <a:pPr lvl="0" rtl="0">
              <a:lnSpc>
                <a:spcPct val="150000"/>
              </a:lnSpc>
              <a:spcBef>
                <a:spcPts val="0"/>
              </a:spcBef>
              <a:buNone/>
            </a:pPr>
            <a:r>
              <a:rPr lang="en" sz="2400" i="1">
                <a:solidFill>
                  <a:schemeClr val="dk1"/>
                </a:solidFill>
                <a:latin typeface="Open Sans"/>
                <a:ea typeface="Open Sans"/>
                <a:cs typeface="Open Sans"/>
                <a:sym typeface="Open Sans"/>
              </a:rPr>
              <a:t>R</a:t>
            </a:r>
            <a:r>
              <a:rPr lang="en" sz="2400" i="1" baseline="-25000">
                <a:solidFill>
                  <a:schemeClr val="dk1"/>
                </a:solidFill>
                <a:latin typeface="Open Sans"/>
                <a:ea typeface="Open Sans"/>
                <a:cs typeface="Open Sans"/>
                <a:sym typeface="Open Sans"/>
              </a:rPr>
              <a:t>x</a:t>
            </a:r>
            <a:r>
              <a:rPr lang="en" sz="1800"/>
              <a:t> = Larger sum of ranks</a:t>
            </a:r>
          </a:p>
          <a:p>
            <a:pPr lvl="0">
              <a:lnSpc>
                <a:spcPct val="150000"/>
              </a:lnSpc>
              <a:spcBef>
                <a:spcPts val="0"/>
              </a:spcBef>
              <a:buClr>
                <a:schemeClr val="dk1"/>
              </a:buClr>
              <a:buSzPct val="45833"/>
              <a:buFont typeface="Arial"/>
              <a:buNone/>
            </a:pPr>
            <a:r>
              <a:rPr lang="en" sz="2400" i="1">
                <a:solidFill>
                  <a:schemeClr val="dk1"/>
                </a:solidFill>
                <a:latin typeface="Open Sans"/>
                <a:ea typeface="Open Sans"/>
                <a:cs typeface="Open Sans"/>
                <a:sym typeface="Open Sans"/>
              </a:rPr>
              <a:t>N</a:t>
            </a:r>
            <a:r>
              <a:rPr lang="en" sz="2400" i="1" baseline="-25000">
                <a:solidFill>
                  <a:schemeClr val="dk1"/>
                </a:solidFill>
                <a:latin typeface="Open Sans"/>
                <a:ea typeface="Open Sans"/>
                <a:cs typeface="Open Sans"/>
                <a:sym typeface="Open Sans"/>
              </a:rPr>
              <a:t>x</a:t>
            </a:r>
            <a:r>
              <a:rPr lang="en" sz="1800">
                <a:solidFill>
                  <a:schemeClr val="dk1"/>
                </a:solidFill>
              </a:rPr>
              <a:t> = Sample size with larger 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Shape 111"/>
          <p:cNvSpPr txBox="1">
            <a:spLocks noGrp="1"/>
          </p:cNvSpPr>
          <p:nvPr>
            <p:ph type="title"/>
          </p:nvPr>
        </p:nvSpPr>
        <p:spPr>
          <a:xfrm>
            <a:off x="311700" y="315925"/>
            <a:ext cx="8520600" cy="831300"/>
          </a:xfrm>
          <a:prstGeom prst="rect">
            <a:avLst/>
          </a:prstGeom>
        </p:spPr>
        <p:txBody>
          <a:bodyPr lIns="91425" tIns="91425" rIns="91425" bIns="91425" anchor="b" anchorCtr="0">
            <a:noAutofit/>
          </a:bodyPr>
          <a:lstStyle/>
          <a:p>
            <a:pPr lvl="0">
              <a:spcBef>
                <a:spcPts val="0"/>
              </a:spcBef>
              <a:buNone/>
            </a:pPr>
            <a:r>
              <a:rPr lang="en"/>
              <a:t>U Test Table</a:t>
            </a:r>
          </a:p>
        </p:txBody>
      </p:sp>
      <p:pic>
        <p:nvPicPr>
          <p:cNvPr id="112" name="Shape 112"/>
          <p:cNvPicPr preferRelativeResize="0"/>
          <p:nvPr/>
        </p:nvPicPr>
        <p:blipFill>
          <a:blip r:embed="rId3">
            <a:alphaModFix/>
          </a:blip>
          <a:stretch>
            <a:fillRect/>
          </a:stretch>
        </p:blipFill>
        <p:spPr>
          <a:xfrm>
            <a:off x="1481125" y="1299500"/>
            <a:ext cx="6181725" cy="3524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Shape 117"/>
          <p:cNvSpPr txBox="1">
            <a:spLocks noGrp="1"/>
          </p:cNvSpPr>
          <p:nvPr>
            <p:ph type="title"/>
          </p:nvPr>
        </p:nvSpPr>
        <p:spPr>
          <a:xfrm>
            <a:off x="311700" y="180622"/>
            <a:ext cx="8520600" cy="1350425"/>
          </a:xfrm>
          <a:prstGeom prst="rect">
            <a:avLst/>
          </a:prstGeom>
        </p:spPr>
        <p:txBody>
          <a:bodyPr lIns="91425" tIns="91425" rIns="91425" bIns="91425" anchor="b" anchorCtr="0">
            <a:noAutofit/>
          </a:bodyPr>
          <a:lstStyle/>
          <a:p>
            <a:pPr lvl="0">
              <a:spcBef>
                <a:spcPts val="0"/>
              </a:spcBef>
              <a:buNone/>
            </a:pPr>
            <a:r>
              <a:rPr lang="en" sz="4000" dirty="0"/>
              <a:t>Mann-Whitney U Example: The Power of Advertising</a:t>
            </a:r>
            <a:r>
              <a:rPr lang="en" dirty="0"/>
              <a:t> </a:t>
            </a:r>
          </a:p>
        </p:txBody>
      </p:sp>
      <p:sp>
        <p:nvSpPr>
          <p:cNvPr id="118" name="Shape 118"/>
          <p:cNvSpPr txBox="1">
            <a:spLocks noGrp="1"/>
          </p:cNvSpPr>
          <p:nvPr>
            <p:ph type="body" idx="1"/>
          </p:nvPr>
        </p:nvSpPr>
        <p:spPr>
          <a:xfrm>
            <a:off x="311700" y="1620336"/>
            <a:ext cx="8520600" cy="3354000"/>
          </a:xfrm>
          <a:prstGeom prst="rect">
            <a:avLst/>
          </a:prstGeom>
        </p:spPr>
        <p:txBody>
          <a:bodyPr lIns="91425" tIns="91425" rIns="91425" bIns="91425" anchor="t" anchorCtr="0">
            <a:noAutofit/>
          </a:bodyPr>
          <a:lstStyle/>
          <a:p>
            <a:pPr lvl="0">
              <a:spcBef>
                <a:spcPts val="0"/>
              </a:spcBef>
              <a:buNone/>
            </a:pPr>
            <a:r>
              <a:rPr lang="en-US" dirty="0" smtClean="0"/>
              <a:t>12</a:t>
            </a:r>
            <a:r>
              <a:rPr lang="en" dirty="0" smtClean="0"/>
              <a:t> </a:t>
            </a:r>
            <a:r>
              <a:rPr lang="en" dirty="0"/>
              <a:t>participants at a local mall were shown advertisements for two rival colleges.  They were asked to rate the two colleges on the likelihood of them attending that college (out of 10, with 10 being “Definitely going to attend that college”).  The participants were split in half at random; half gave ratings for University of Nebraska Lincoln, the other half for University of Iowa.  The results can be seen on the following table: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Shape 123"/>
          <p:cNvSpPr txBox="1">
            <a:spLocks noGrp="1"/>
          </p:cNvSpPr>
          <p:nvPr>
            <p:ph type="title"/>
          </p:nvPr>
        </p:nvSpPr>
        <p:spPr>
          <a:xfrm>
            <a:off x="311700" y="320526"/>
            <a:ext cx="8520600" cy="966603"/>
          </a:xfrm>
          <a:prstGeom prst="rect">
            <a:avLst/>
          </a:prstGeom>
        </p:spPr>
        <p:txBody>
          <a:bodyPr lIns="91425" tIns="91425" rIns="91425" bIns="91425" anchor="b" anchorCtr="0">
            <a:noAutofit/>
          </a:bodyPr>
          <a:lstStyle/>
          <a:p>
            <a:pPr lvl="0">
              <a:spcBef>
                <a:spcPts val="0"/>
              </a:spcBef>
              <a:buClr>
                <a:schemeClr val="dk1"/>
              </a:buClr>
              <a:buSzPct val="27500"/>
              <a:buFont typeface="Arial"/>
              <a:buNone/>
            </a:pPr>
            <a:r>
              <a:rPr lang="en" sz="3600" dirty="0"/>
              <a:t>Mann-Whitney U Example: The Power of Advertising</a:t>
            </a:r>
          </a:p>
        </p:txBody>
      </p:sp>
      <p:pic>
        <p:nvPicPr>
          <p:cNvPr id="124" name="Shape 124"/>
          <p:cNvPicPr preferRelativeResize="0"/>
          <p:nvPr/>
        </p:nvPicPr>
        <p:blipFill>
          <a:blip r:embed="rId3">
            <a:alphaModFix/>
          </a:blip>
          <a:stretch>
            <a:fillRect/>
          </a:stretch>
        </p:blipFill>
        <p:spPr>
          <a:xfrm>
            <a:off x="683650" y="1287129"/>
            <a:ext cx="7603875" cy="30865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Shape 129"/>
          <p:cNvSpPr txBox="1">
            <a:spLocks noGrp="1"/>
          </p:cNvSpPr>
          <p:nvPr>
            <p:ph type="title"/>
          </p:nvPr>
        </p:nvSpPr>
        <p:spPr>
          <a:xfrm>
            <a:off x="311700" y="315925"/>
            <a:ext cx="8520600" cy="831300"/>
          </a:xfrm>
          <a:prstGeom prst="rect">
            <a:avLst/>
          </a:prstGeom>
        </p:spPr>
        <p:txBody>
          <a:bodyPr lIns="91425" tIns="91425" rIns="91425" bIns="91425" anchor="b" anchorCtr="0">
            <a:noAutofit/>
          </a:bodyPr>
          <a:lstStyle/>
          <a:p>
            <a:pPr lvl="0">
              <a:spcBef>
                <a:spcPts val="0"/>
              </a:spcBef>
              <a:buNone/>
            </a:pPr>
            <a:r>
              <a:rPr lang="en" sz="3000"/>
              <a:t>Can we use the Mann-Whitney U test for this problem?</a:t>
            </a:r>
          </a:p>
        </p:txBody>
      </p:sp>
      <p:sp>
        <p:nvSpPr>
          <p:cNvPr id="130" name="Shape 130"/>
          <p:cNvSpPr txBox="1">
            <a:spLocks noGrp="1"/>
          </p:cNvSpPr>
          <p:nvPr>
            <p:ph type="body" idx="1"/>
          </p:nvPr>
        </p:nvSpPr>
        <p:spPr>
          <a:xfrm>
            <a:off x="311700" y="1225225"/>
            <a:ext cx="8520600" cy="3354000"/>
          </a:xfrm>
          <a:prstGeom prst="rect">
            <a:avLst/>
          </a:prstGeom>
        </p:spPr>
        <p:txBody>
          <a:bodyPr lIns="91425" tIns="91425" rIns="91425" bIns="91425" anchor="t" anchorCtr="0">
            <a:noAutofit/>
          </a:bodyPr>
          <a:lstStyle/>
          <a:p>
            <a:pPr marL="457200" lvl="0" indent="-228600" rtl="0">
              <a:spcBef>
                <a:spcPts val="0"/>
              </a:spcBef>
              <a:buAutoNum type="arabicPeriod"/>
            </a:pPr>
            <a:r>
              <a:rPr lang="en"/>
              <a:t>Are we comparing only two groups? Yes, we are comparing participant’s ratings for Iowa and Nebraska.</a:t>
            </a:r>
          </a:p>
          <a:p>
            <a:pPr marL="457200" lvl="0" indent="-228600" rtl="0">
              <a:spcBef>
                <a:spcPts val="0"/>
              </a:spcBef>
              <a:buAutoNum type="arabicPeriod"/>
            </a:pPr>
            <a:r>
              <a:rPr lang="en"/>
              <a:t>Are the samples independent? Yes, each participant only gives ratings for one college, which does not influence the other group’s ratings.</a:t>
            </a:r>
          </a:p>
          <a:p>
            <a:pPr marL="457200" lvl="0" indent="-228600" rtl="0">
              <a:spcBef>
                <a:spcPts val="0"/>
              </a:spcBef>
              <a:buAutoNum type="arabicPeriod"/>
            </a:pPr>
            <a:r>
              <a:rPr lang="en"/>
              <a:t>Is the data ordinal? Yes, the data are ratings.</a:t>
            </a:r>
          </a:p>
          <a:p>
            <a:pPr lvl="0" rtl="0">
              <a:spcBef>
                <a:spcPts val="0"/>
              </a:spcBef>
              <a:buNone/>
            </a:pPr>
            <a:r>
              <a:rPr lang="en"/>
              <a:t>We can use the Mann-Whitney U test!</a:t>
            </a:r>
          </a:p>
          <a:p>
            <a:pPr lvl="0" rtl="0">
              <a:spcBef>
                <a:spcPts val="0"/>
              </a:spcBef>
              <a:buNone/>
            </a:pPr>
            <a:r>
              <a:rPr lang="en"/>
              <a:t>The hypothesis for this test is </a:t>
            </a:r>
            <a:r>
              <a:rPr lang="en">
                <a:latin typeface="Times New Roman"/>
                <a:ea typeface="Times New Roman"/>
                <a:cs typeface="Times New Roman"/>
                <a:sym typeface="Times New Roman"/>
              </a:rPr>
              <a:t>H</a:t>
            </a:r>
            <a:r>
              <a:rPr lang="en" baseline="-25000">
                <a:latin typeface="Times New Roman"/>
                <a:ea typeface="Times New Roman"/>
                <a:cs typeface="Times New Roman"/>
                <a:sym typeface="Times New Roman"/>
              </a:rPr>
              <a:t>0</a:t>
            </a:r>
            <a:r>
              <a:rPr lang="en">
                <a:latin typeface="Times New Roman"/>
                <a:ea typeface="Times New Roman"/>
                <a:cs typeface="Times New Roman"/>
                <a:sym typeface="Times New Roman"/>
              </a:rPr>
              <a:t>: µ</a:t>
            </a:r>
            <a:r>
              <a:rPr lang="en" baseline="-25000">
                <a:latin typeface="Times New Roman"/>
                <a:ea typeface="Times New Roman"/>
                <a:cs typeface="Times New Roman"/>
                <a:sym typeface="Times New Roman"/>
              </a:rPr>
              <a:t>1</a:t>
            </a:r>
            <a:r>
              <a:rPr lang="en">
                <a:latin typeface="Times New Roman"/>
                <a:ea typeface="Times New Roman"/>
                <a:cs typeface="Times New Roman"/>
                <a:sym typeface="Times New Roman"/>
              </a:rPr>
              <a:t> = µ</a:t>
            </a:r>
            <a:r>
              <a:rPr lang="en" baseline="-25000">
                <a:latin typeface="Times New Roman"/>
                <a:ea typeface="Times New Roman"/>
                <a:cs typeface="Times New Roman"/>
                <a:sym typeface="Times New Roman"/>
              </a:rPr>
              <a:t>2</a:t>
            </a:r>
            <a:r>
              <a:rPr lang="en"/>
              <a:t> and </a:t>
            </a:r>
            <a:r>
              <a:rPr lang="en" baseline="-25000">
                <a:latin typeface="Times New Roman"/>
                <a:ea typeface="Times New Roman"/>
                <a:cs typeface="Times New Roman"/>
                <a:sym typeface="Times New Roman"/>
              </a:rPr>
              <a:t> </a:t>
            </a:r>
            <a:r>
              <a:rPr lang="en">
                <a:latin typeface="Times New Roman"/>
                <a:ea typeface="Times New Roman"/>
                <a:cs typeface="Times New Roman"/>
                <a:sym typeface="Times New Roman"/>
              </a:rPr>
              <a:t>H</a:t>
            </a:r>
            <a:r>
              <a:rPr lang="en" baseline="-25000">
                <a:latin typeface="Times New Roman"/>
                <a:ea typeface="Times New Roman"/>
                <a:cs typeface="Times New Roman"/>
                <a:sym typeface="Times New Roman"/>
              </a:rPr>
              <a:t>a</a:t>
            </a:r>
            <a:r>
              <a:rPr lang="en">
                <a:latin typeface="Times New Roman"/>
                <a:ea typeface="Times New Roman"/>
                <a:cs typeface="Times New Roman"/>
                <a:sym typeface="Times New Roman"/>
              </a:rPr>
              <a:t>: µ</a:t>
            </a:r>
            <a:r>
              <a:rPr lang="en" baseline="-25000">
                <a:latin typeface="Times New Roman"/>
                <a:ea typeface="Times New Roman"/>
                <a:cs typeface="Times New Roman"/>
                <a:sym typeface="Times New Roman"/>
              </a:rPr>
              <a:t>1 </a:t>
            </a:r>
            <a:r>
              <a:rPr lang="en">
                <a:latin typeface="Times New Roman"/>
                <a:ea typeface="Times New Roman"/>
                <a:cs typeface="Times New Roman"/>
                <a:sym typeface="Times New Roman"/>
              </a:rPr>
              <a:t>≠</a:t>
            </a:r>
            <a:r>
              <a:rPr lang="en" baseline="-25000">
                <a:latin typeface="Times New Roman"/>
                <a:ea typeface="Times New Roman"/>
                <a:cs typeface="Times New Roman"/>
                <a:sym typeface="Times New Roman"/>
              </a:rPr>
              <a:t> </a:t>
            </a:r>
            <a:r>
              <a:rPr lang="en">
                <a:latin typeface="Times New Roman"/>
                <a:ea typeface="Times New Roman"/>
                <a:cs typeface="Times New Roman"/>
                <a:sym typeface="Times New Roman"/>
              </a:rPr>
              <a:t>µ</a:t>
            </a:r>
            <a:r>
              <a:rPr lang="en" baseline="-25000">
                <a:latin typeface="Times New Roman"/>
                <a:ea typeface="Times New Roman"/>
                <a:cs typeface="Times New Roman"/>
                <a:sym typeface="Times New Roman"/>
              </a:rPr>
              <a:t>2</a:t>
            </a:r>
            <a:r>
              <a:rPr lang="en"/>
              <a:t>.  We will use an alpha level of 0.05.</a:t>
            </a:r>
          </a:p>
          <a:p>
            <a:pPr lvl="0">
              <a:spcBef>
                <a:spcPts val="0"/>
              </a:spcBef>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Shape 135"/>
          <p:cNvSpPr txBox="1">
            <a:spLocks noGrp="1"/>
          </p:cNvSpPr>
          <p:nvPr>
            <p:ph type="title"/>
          </p:nvPr>
        </p:nvSpPr>
        <p:spPr>
          <a:xfrm>
            <a:off x="311700" y="315925"/>
            <a:ext cx="8520600" cy="831300"/>
          </a:xfrm>
          <a:prstGeom prst="rect">
            <a:avLst/>
          </a:prstGeom>
        </p:spPr>
        <p:txBody>
          <a:bodyPr lIns="91425" tIns="91425" rIns="91425" bIns="91425" anchor="b" anchorCtr="0">
            <a:noAutofit/>
          </a:bodyPr>
          <a:lstStyle/>
          <a:p>
            <a:pPr lvl="0">
              <a:spcBef>
                <a:spcPts val="0"/>
              </a:spcBef>
              <a:buNone/>
            </a:pPr>
            <a:r>
              <a:rPr lang="en" sz="3000"/>
              <a:t>Step 1: Rank all scores together, ignoring which group they came from</a:t>
            </a:r>
          </a:p>
        </p:txBody>
      </p:sp>
      <p:pic>
        <p:nvPicPr>
          <p:cNvPr id="136" name="Shape 136"/>
          <p:cNvPicPr preferRelativeResize="0"/>
          <p:nvPr/>
        </p:nvPicPr>
        <p:blipFill>
          <a:blip r:embed="rId3">
            <a:alphaModFix/>
          </a:blip>
          <a:stretch>
            <a:fillRect/>
          </a:stretch>
        </p:blipFill>
        <p:spPr>
          <a:xfrm>
            <a:off x="0" y="1446250"/>
            <a:ext cx="6505574" cy="2677428"/>
          </a:xfrm>
          <a:prstGeom prst="rect">
            <a:avLst/>
          </a:prstGeom>
          <a:noFill/>
          <a:ln>
            <a:noFill/>
          </a:ln>
        </p:spPr>
      </p:pic>
      <p:pic>
        <p:nvPicPr>
          <p:cNvPr id="137" name="Shape 137"/>
          <p:cNvPicPr preferRelativeResize="0"/>
          <p:nvPr/>
        </p:nvPicPr>
        <p:blipFill>
          <a:blip r:embed="rId4">
            <a:alphaModFix/>
          </a:blip>
          <a:stretch>
            <a:fillRect/>
          </a:stretch>
        </p:blipFill>
        <p:spPr>
          <a:xfrm>
            <a:off x="6505575" y="1489675"/>
            <a:ext cx="2638425" cy="259057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Shape 142"/>
          <p:cNvSpPr txBox="1">
            <a:spLocks noGrp="1"/>
          </p:cNvSpPr>
          <p:nvPr>
            <p:ph type="title"/>
          </p:nvPr>
        </p:nvSpPr>
        <p:spPr>
          <a:xfrm>
            <a:off x="241725" y="79023"/>
            <a:ext cx="8520600" cy="1305269"/>
          </a:xfrm>
          <a:prstGeom prst="rect">
            <a:avLst/>
          </a:prstGeom>
        </p:spPr>
        <p:txBody>
          <a:bodyPr lIns="91425" tIns="91425" rIns="91425" bIns="91425" anchor="b" anchorCtr="0">
            <a:noAutofit/>
          </a:bodyPr>
          <a:lstStyle/>
          <a:p>
            <a:pPr lvl="0">
              <a:spcBef>
                <a:spcPts val="0"/>
              </a:spcBef>
              <a:buNone/>
            </a:pPr>
            <a:r>
              <a:rPr lang="en" sz="3600" dirty="0"/>
              <a:t>Step 2 and 3: Add up the ranks for the two groups</a:t>
            </a:r>
          </a:p>
        </p:txBody>
      </p:sp>
      <p:sp>
        <p:nvSpPr>
          <p:cNvPr id="143" name="Shape 143"/>
          <p:cNvSpPr txBox="1">
            <a:spLocks noGrp="1"/>
          </p:cNvSpPr>
          <p:nvPr>
            <p:ph type="body" idx="1"/>
          </p:nvPr>
        </p:nvSpPr>
        <p:spPr>
          <a:xfrm>
            <a:off x="241725" y="1213550"/>
            <a:ext cx="8520600" cy="3354000"/>
          </a:xfrm>
          <a:prstGeom prst="rect">
            <a:avLst/>
          </a:prstGeom>
        </p:spPr>
        <p:txBody>
          <a:bodyPr lIns="91425" tIns="91425" rIns="91425" bIns="91425" anchor="t" anchorCtr="0">
            <a:noAutofit/>
          </a:bodyPr>
          <a:lstStyle/>
          <a:p>
            <a:pPr lvl="0">
              <a:spcBef>
                <a:spcPts val="0"/>
              </a:spcBef>
              <a:buNone/>
            </a:pPr>
            <a:r>
              <a:rPr lang="en" dirty="0"/>
              <a:t>Iowa: R1=3+4+1.5+7.5+1.5+5.5= 23       Nebraska: R2=11+9+5.5+12+7.5+10=55</a:t>
            </a:r>
          </a:p>
        </p:txBody>
      </p:sp>
      <p:pic>
        <p:nvPicPr>
          <p:cNvPr id="144" name="Shape 144"/>
          <p:cNvPicPr preferRelativeResize="0"/>
          <p:nvPr/>
        </p:nvPicPr>
        <p:blipFill>
          <a:blip r:embed="rId3">
            <a:alphaModFix/>
          </a:blip>
          <a:stretch>
            <a:fillRect/>
          </a:stretch>
        </p:blipFill>
        <p:spPr>
          <a:xfrm>
            <a:off x="599001" y="1778275"/>
            <a:ext cx="3077499" cy="2478824"/>
          </a:xfrm>
          <a:prstGeom prst="rect">
            <a:avLst/>
          </a:prstGeom>
          <a:noFill/>
          <a:ln>
            <a:noFill/>
          </a:ln>
        </p:spPr>
      </p:pic>
      <p:pic>
        <p:nvPicPr>
          <p:cNvPr id="145" name="Shape 145"/>
          <p:cNvPicPr preferRelativeResize="0"/>
          <p:nvPr/>
        </p:nvPicPr>
        <p:blipFill>
          <a:blip r:embed="rId4">
            <a:alphaModFix/>
          </a:blip>
          <a:stretch>
            <a:fillRect/>
          </a:stretch>
        </p:blipFill>
        <p:spPr>
          <a:xfrm>
            <a:off x="5186274" y="1778275"/>
            <a:ext cx="2966115" cy="2478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Shape 150"/>
          <p:cNvSpPr txBox="1">
            <a:spLocks noGrp="1"/>
          </p:cNvSpPr>
          <p:nvPr>
            <p:ph type="title"/>
          </p:nvPr>
        </p:nvSpPr>
        <p:spPr>
          <a:xfrm>
            <a:off x="0" y="0"/>
            <a:ext cx="8520600" cy="661967"/>
          </a:xfrm>
          <a:prstGeom prst="rect">
            <a:avLst/>
          </a:prstGeom>
        </p:spPr>
        <p:txBody>
          <a:bodyPr lIns="91425" tIns="91425" rIns="91425" bIns="91425" anchor="b" anchorCtr="0">
            <a:noAutofit/>
          </a:bodyPr>
          <a:lstStyle/>
          <a:p>
            <a:pPr lvl="0">
              <a:spcBef>
                <a:spcPts val="0"/>
              </a:spcBef>
              <a:buNone/>
            </a:pPr>
            <a:r>
              <a:rPr lang="en" sz="3200" dirty="0"/>
              <a:t>Step 4, 5, &amp; 6: Select the larger R, and calculate U</a:t>
            </a:r>
          </a:p>
        </p:txBody>
      </p:sp>
      <p:sp>
        <p:nvSpPr>
          <p:cNvPr id="151" name="Shape 151"/>
          <p:cNvSpPr txBox="1">
            <a:spLocks noGrp="1"/>
          </p:cNvSpPr>
          <p:nvPr>
            <p:ph type="body" idx="1"/>
          </p:nvPr>
        </p:nvSpPr>
        <p:spPr>
          <a:xfrm>
            <a:off x="85922" y="582944"/>
            <a:ext cx="8520600" cy="4312200"/>
          </a:xfrm>
          <a:prstGeom prst="rect">
            <a:avLst/>
          </a:prstGeom>
        </p:spPr>
        <p:txBody>
          <a:bodyPr lIns="91425" tIns="91425" rIns="91425" bIns="91425" anchor="t" anchorCtr="0">
            <a:noAutofit/>
          </a:bodyPr>
          <a:lstStyle/>
          <a:p>
            <a:pPr marL="457200" lvl="0" indent="-228600" rtl="0">
              <a:spcBef>
                <a:spcPts val="0"/>
              </a:spcBef>
              <a:buChar char="●"/>
            </a:pPr>
            <a:r>
              <a:rPr lang="en" dirty="0"/>
              <a:t>Nebraska had the larger R at 55.</a:t>
            </a:r>
          </a:p>
          <a:p>
            <a:pPr marL="457200" lvl="0" indent="-228600" rtl="0">
              <a:spcBef>
                <a:spcPts val="0"/>
              </a:spcBef>
              <a:buChar char="●"/>
            </a:pPr>
            <a:r>
              <a:rPr lang="en" dirty="0"/>
              <a:t>We need to find N</a:t>
            </a:r>
            <a:r>
              <a:rPr lang="en" baseline="-25000" dirty="0"/>
              <a:t>1</a:t>
            </a:r>
            <a:r>
              <a:rPr lang="en" dirty="0"/>
              <a:t>, N</a:t>
            </a:r>
            <a:r>
              <a:rPr lang="en" baseline="-25000" dirty="0"/>
              <a:t>2</a:t>
            </a:r>
            <a:r>
              <a:rPr lang="en" dirty="0"/>
              <a:t>, and </a:t>
            </a:r>
            <a:r>
              <a:rPr lang="en" dirty="0" err="1"/>
              <a:t>N</a:t>
            </a:r>
            <a:r>
              <a:rPr lang="en" baseline="-25000" dirty="0" err="1"/>
              <a:t>x</a:t>
            </a:r>
            <a:r>
              <a:rPr lang="en" dirty="0"/>
              <a:t>.</a:t>
            </a:r>
          </a:p>
          <a:p>
            <a:pPr marL="914400" lvl="1" indent="-228600" rtl="0">
              <a:spcBef>
                <a:spcPts val="0"/>
              </a:spcBef>
              <a:buChar char="○"/>
            </a:pPr>
            <a:r>
              <a:rPr lang="en" dirty="0"/>
              <a:t>N</a:t>
            </a:r>
            <a:r>
              <a:rPr lang="en" baseline="-25000" dirty="0"/>
              <a:t>1</a:t>
            </a:r>
            <a:r>
              <a:rPr lang="en" dirty="0"/>
              <a:t>= sample size of group 1 (Iowa)=6</a:t>
            </a:r>
          </a:p>
          <a:p>
            <a:pPr marL="914400" lvl="1" indent="-228600" rtl="0">
              <a:spcBef>
                <a:spcPts val="0"/>
              </a:spcBef>
              <a:buChar char="○"/>
            </a:pPr>
            <a:r>
              <a:rPr lang="en" dirty="0"/>
              <a:t>N</a:t>
            </a:r>
            <a:r>
              <a:rPr lang="en" baseline="-25000" dirty="0"/>
              <a:t>2</a:t>
            </a:r>
            <a:r>
              <a:rPr lang="en" dirty="0"/>
              <a:t>=sample size of group 2 (Nebraska)=6</a:t>
            </a:r>
          </a:p>
          <a:p>
            <a:pPr marL="914400" lvl="1" indent="-228600" rtl="0">
              <a:spcBef>
                <a:spcPts val="0"/>
              </a:spcBef>
              <a:buChar char="○"/>
            </a:pPr>
            <a:r>
              <a:rPr lang="en" dirty="0" err="1"/>
              <a:t>N</a:t>
            </a:r>
            <a:r>
              <a:rPr lang="en" baseline="-25000" dirty="0" err="1"/>
              <a:t>x</a:t>
            </a:r>
            <a:r>
              <a:rPr lang="en" dirty="0"/>
              <a:t>=sample size of group with largest R=group 2 (Nebraska)=6</a:t>
            </a:r>
          </a:p>
          <a:p>
            <a:pPr marL="457200" lvl="0" indent="-228600" rtl="0">
              <a:spcBef>
                <a:spcPts val="0"/>
              </a:spcBef>
              <a:buChar char="●"/>
            </a:pPr>
            <a:r>
              <a:rPr lang="en" dirty="0"/>
              <a:t>Equation to find U</a:t>
            </a:r>
          </a:p>
          <a:p>
            <a:pPr marL="457200" lvl="0" indent="0" rtl="0">
              <a:spcBef>
                <a:spcPts val="0"/>
              </a:spcBef>
              <a:buNone/>
            </a:pPr>
            <a:r>
              <a:rPr lang="en" dirty="0"/>
              <a:t>U=N</a:t>
            </a:r>
            <a:r>
              <a:rPr lang="en" baseline="-25000" dirty="0"/>
              <a:t>1</a:t>
            </a:r>
            <a:r>
              <a:rPr lang="en" dirty="0"/>
              <a:t>*N</a:t>
            </a:r>
            <a:r>
              <a:rPr lang="en" baseline="-25000" dirty="0"/>
              <a:t>2</a:t>
            </a:r>
            <a:r>
              <a:rPr lang="en" dirty="0"/>
              <a:t>+N</a:t>
            </a:r>
            <a:r>
              <a:rPr lang="en" baseline="-25000" dirty="0"/>
              <a:t>x</a:t>
            </a:r>
            <a:r>
              <a:rPr lang="en" dirty="0"/>
              <a:t>*(N</a:t>
            </a:r>
            <a:r>
              <a:rPr lang="en" baseline="-25000" dirty="0"/>
              <a:t>x</a:t>
            </a:r>
            <a:r>
              <a:rPr lang="en" dirty="0"/>
              <a:t>+1)/2-R</a:t>
            </a:r>
            <a:r>
              <a:rPr lang="en" baseline="-25000" dirty="0"/>
              <a:t>2</a:t>
            </a:r>
          </a:p>
          <a:p>
            <a:pPr marL="457200" lvl="0" indent="0" rtl="0">
              <a:spcBef>
                <a:spcPts val="0"/>
              </a:spcBef>
              <a:buNone/>
            </a:pPr>
            <a:r>
              <a:rPr lang="en" dirty="0"/>
              <a:t>U=6*6+6*(6+1)/2-55=36+21-55=57-55=2</a:t>
            </a:r>
          </a:p>
          <a:p>
            <a:pPr marL="457200" lvl="0" indent="0" rtl="0">
              <a:spcBef>
                <a:spcPts val="0"/>
              </a:spcBef>
              <a:buNone/>
            </a:pPr>
            <a:r>
              <a:rPr lang="en" dirty="0"/>
              <a:t>U=2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50799" y="184079"/>
            <a:ext cx="9042400" cy="720692"/>
          </a:xfrm>
          <a:prstGeom prst="rect">
            <a:avLst/>
          </a:prstGeom>
        </p:spPr>
        <p:txBody>
          <a:bodyPr lIns="91425" tIns="91425" rIns="91425" bIns="91425" anchor="b" anchorCtr="0">
            <a:noAutofit/>
          </a:bodyPr>
          <a:lstStyle/>
          <a:p>
            <a:pPr lvl="0">
              <a:spcBef>
                <a:spcPts val="0"/>
              </a:spcBef>
              <a:buNone/>
            </a:pPr>
            <a:r>
              <a:rPr lang="en" sz="3600" dirty="0"/>
              <a:t>Step 7: Use U test table to find the critical value</a:t>
            </a:r>
          </a:p>
        </p:txBody>
      </p:sp>
      <p:sp>
        <p:nvSpPr>
          <p:cNvPr id="157" name="Shape 157"/>
          <p:cNvSpPr txBox="1">
            <a:spLocks noGrp="1"/>
          </p:cNvSpPr>
          <p:nvPr>
            <p:ph type="body" idx="1"/>
          </p:nvPr>
        </p:nvSpPr>
        <p:spPr>
          <a:xfrm>
            <a:off x="311699" y="1033314"/>
            <a:ext cx="8520600" cy="3354000"/>
          </a:xfrm>
          <a:prstGeom prst="rect">
            <a:avLst/>
          </a:prstGeom>
        </p:spPr>
        <p:txBody>
          <a:bodyPr lIns="91425" tIns="91425" rIns="91425" bIns="91425" anchor="t" anchorCtr="0">
            <a:noAutofit/>
          </a:bodyPr>
          <a:lstStyle/>
          <a:p>
            <a:pPr lvl="0">
              <a:spcBef>
                <a:spcPts val="0"/>
              </a:spcBef>
              <a:buNone/>
            </a:pPr>
            <a:r>
              <a:rPr lang="en" dirty="0"/>
              <a:t>We need to look at the two tailed U test table for alpha level of 0.05 due to our hypothesis.  This gives a critical U value of 5.</a:t>
            </a:r>
          </a:p>
        </p:txBody>
      </p:sp>
      <p:pic>
        <p:nvPicPr>
          <p:cNvPr id="158" name="Shape 158"/>
          <p:cNvPicPr preferRelativeResize="0"/>
          <p:nvPr/>
        </p:nvPicPr>
        <p:blipFill>
          <a:blip r:embed="rId3">
            <a:alphaModFix/>
          </a:blip>
          <a:stretch>
            <a:fillRect/>
          </a:stretch>
        </p:blipFill>
        <p:spPr>
          <a:xfrm>
            <a:off x="1874562" y="1939550"/>
            <a:ext cx="5394875" cy="3075649"/>
          </a:xfrm>
          <a:prstGeom prst="rect">
            <a:avLst/>
          </a:prstGeom>
          <a:noFill/>
          <a:ln>
            <a:noFill/>
          </a:ln>
        </p:spPr>
      </p:pic>
      <p:cxnSp>
        <p:nvCxnSpPr>
          <p:cNvPr id="159" name="Shape 159"/>
          <p:cNvCxnSpPr/>
          <p:nvPr/>
        </p:nvCxnSpPr>
        <p:spPr>
          <a:xfrm>
            <a:off x="3417325" y="1912775"/>
            <a:ext cx="12000" cy="376500"/>
          </a:xfrm>
          <a:prstGeom prst="straightConnector1">
            <a:avLst/>
          </a:prstGeom>
          <a:noFill/>
          <a:ln w="9525" cap="flat" cmpd="sng">
            <a:solidFill>
              <a:srgbClr val="000000"/>
            </a:solidFill>
            <a:prstDash val="solid"/>
            <a:round/>
            <a:headEnd type="none" w="lg" len="lg"/>
            <a:tailEnd type="triangle" w="lg" len="lg"/>
          </a:ln>
        </p:spPr>
      </p:cxnSp>
      <p:cxnSp>
        <p:nvCxnSpPr>
          <p:cNvPr id="160" name="Shape 160"/>
          <p:cNvCxnSpPr/>
          <p:nvPr/>
        </p:nvCxnSpPr>
        <p:spPr>
          <a:xfrm>
            <a:off x="1352950" y="3114100"/>
            <a:ext cx="536400" cy="11700"/>
          </a:xfrm>
          <a:prstGeom prst="straightConnector1">
            <a:avLst/>
          </a:prstGeom>
          <a:noFill/>
          <a:ln w="9525" cap="flat" cmpd="sng">
            <a:solidFill>
              <a:srgbClr val="000000"/>
            </a:solidFill>
            <a:prstDash val="solid"/>
            <a:round/>
            <a:headEnd type="none" w="lg" len="lg"/>
            <a:tailEnd type="triangle" w="lg" len="lg"/>
          </a:ln>
        </p:spPr>
      </p:cxnSp>
      <p:sp>
        <p:nvSpPr>
          <p:cNvPr id="161" name="Shape 161"/>
          <p:cNvSpPr/>
          <p:nvPr/>
        </p:nvSpPr>
        <p:spPr>
          <a:xfrm>
            <a:off x="3335700" y="3079100"/>
            <a:ext cx="244800" cy="105000"/>
          </a:xfrm>
          <a:prstGeom prst="rect">
            <a:avLst/>
          </a:prstGeom>
          <a:noFill/>
          <a:ln w="9525" cap="flat" cmpd="sng">
            <a:solidFill>
              <a:srgbClr val="FF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Shape 166"/>
          <p:cNvSpPr txBox="1">
            <a:spLocks noGrp="1"/>
          </p:cNvSpPr>
          <p:nvPr>
            <p:ph type="title"/>
          </p:nvPr>
        </p:nvSpPr>
        <p:spPr>
          <a:xfrm>
            <a:off x="311700" y="119000"/>
            <a:ext cx="8520600" cy="1332300"/>
          </a:xfrm>
          <a:prstGeom prst="rect">
            <a:avLst/>
          </a:prstGeom>
        </p:spPr>
        <p:txBody>
          <a:bodyPr lIns="91425" tIns="91425" rIns="91425" bIns="91425" anchor="b" anchorCtr="0">
            <a:noAutofit/>
          </a:bodyPr>
          <a:lstStyle/>
          <a:p>
            <a:pPr lvl="0">
              <a:spcBef>
                <a:spcPts val="0"/>
              </a:spcBef>
              <a:buNone/>
            </a:pPr>
            <a:r>
              <a:rPr lang="en" sz="4100" dirty="0"/>
              <a:t>Step 8: Compare calculated U to critical U and decide</a:t>
            </a:r>
          </a:p>
        </p:txBody>
      </p:sp>
      <p:sp>
        <p:nvSpPr>
          <p:cNvPr id="167" name="Shape 167"/>
          <p:cNvSpPr txBox="1">
            <a:spLocks noGrp="1"/>
          </p:cNvSpPr>
          <p:nvPr>
            <p:ph type="body" idx="1"/>
          </p:nvPr>
        </p:nvSpPr>
        <p:spPr>
          <a:xfrm>
            <a:off x="311700" y="1451300"/>
            <a:ext cx="8520600" cy="3354000"/>
          </a:xfrm>
          <a:prstGeom prst="rect">
            <a:avLst/>
          </a:prstGeom>
        </p:spPr>
        <p:txBody>
          <a:bodyPr lIns="91425" tIns="91425" rIns="91425" bIns="91425" anchor="t" anchorCtr="0">
            <a:noAutofit/>
          </a:bodyPr>
          <a:lstStyle/>
          <a:p>
            <a:pPr marL="514350" lvl="0" indent="-285750">
              <a:spcBef>
                <a:spcPts val="0"/>
              </a:spcBef>
              <a:buFont typeface="Arial" charset="0"/>
              <a:buChar char="•"/>
            </a:pPr>
            <a:r>
              <a:rPr lang="en" dirty="0"/>
              <a:t>Our calculated U was 2.</a:t>
            </a:r>
          </a:p>
          <a:p>
            <a:pPr marL="514350" lvl="0" indent="-285750">
              <a:spcBef>
                <a:spcPts val="0"/>
              </a:spcBef>
              <a:buFont typeface="Arial" charset="0"/>
              <a:buChar char="•"/>
            </a:pPr>
            <a:r>
              <a:rPr lang="en" dirty="0"/>
              <a:t>The critical U was 5.</a:t>
            </a:r>
          </a:p>
          <a:p>
            <a:pPr marL="514350" lvl="0" indent="-285750">
              <a:spcBef>
                <a:spcPts val="0"/>
              </a:spcBef>
              <a:buFont typeface="Arial" charset="0"/>
              <a:buChar char="•"/>
            </a:pPr>
            <a:r>
              <a:rPr lang="en" dirty="0"/>
              <a:t>In order for their to be significance, our calculated U value needs to be </a:t>
            </a:r>
            <a:r>
              <a:rPr lang="en" b="1" dirty="0"/>
              <a:t>LESS THAN</a:t>
            </a:r>
            <a:r>
              <a:rPr lang="en" dirty="0"/>
              <a:t> or </a:t>
            </a:r>
            <a:r>
              <a:rPr lang="en" b="1" dirty="0"/>
              <a:t>EQUAL TO</a:t>
            </a:r>
            <a:r>
              <a:rPr lang="en" dirty="0"/>
              <a:t> the critical U value we found using the table.</a:t>
            </a:r>
          </a:p>
          <a:p>
            <a:pPr marL="514350" lvl="0" indent="-285750">
              <a:spcBef>
                <a:spcPts val="0"/>
              </a:spcBef>
              <a:buFont typeface="Arial" charset="0"/>
              <a:buChar char="•"/>
            </a:pPr>
            <a:r>
              <a:rPr lang="en" dirty="0"/>
              <a:t>Since 2 is less than 5, we can decide to reject the null and conclude that we are 95% confident that their is a statistical difference in the ratings given to each college on the likelihood of attending that college.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Shape 172"/>
          <p:cNvSpPr txBox="1">
            <a:spLocks noGrp="1"/>
          </p:cNvSpPr>
          <p:nvPr>
            <p:ph type="title"/>
          </p:nvPr>
        </p:nvSpPr>
        <p:spPr>
          <a:xfrm>
            <a:off x="311700" y="315925"/>
            <a:ext cx="8520600" cy="831300"/>
          </a:xfrm>
          <a:prstGeom prst="rect">
            <a:avLst/>
          </a:prstGeom>
        </p:spPr>
        <p:txBody>
          <a:bodyPr lIns="91425" tIns="91425" rIns="91425" bIns="91425" anchor="b" anchorCtr="0">
            <a:noAutofit/>
          </a:bodyPr>
          <a:lstStyle/>
          <a:p>
            <a:pPr lvl="0">
              <a:spcBef>
                <a:spcPts val="0"/>
              </a:spcBef>
              <a:buNone/>
            </a:pPr>
            <a:r>
              <a:rPr lang="en"/>
              <a:t>Conclusion</a:t>
            </a:r>
          </a:p>
        </p:txBody>
      </p:sp>
      <p:sp>
        <p:nvSpPr>
          <p:cNvPr id="173" name="Shape 173"/>
          <p:cNvSpPr txBox="1">
            <a:spLocks noGrp="1"/>
          </p:cNvSpPr>
          <p:nvPr>
            <p:ph type="body" idx="1"/>
          </p:nvPr>
        </p:nvSpPr>
        <p:spPr>
          <a:xfrm>
            <a:off x="311700" y="1225225"/>
            <a:ext cx="8520600" cy="3354000"/>
          </a:xfrm>
          <a:prstGeom prst="rect">
            <a:avLst/>
          </a:prstGeom>
        </p:spPr>
        <p:txBody>
          <a:bodyPr lIns="91425" tIns="91425" rIns="91425" bIns="91425" anchor="t" anchorCtr="0">
            <a:noAutofit/>
          </a:bodyPr>
          <a:lstStyle/>
          <a:p>
            <a:pPr marL="514350" lvl="0" indent="-285750" rtl="0">
              <a:spcBef>
                <a:spcPts val="0"/>
              </a:spcBef>
              <a:buFont typeface="Arial" charset="0"/>
              <a:buChar char="•"/>
            </a:pPr>
            <a:r>
              <a:rPr lang="en" dirty="0"/>
              <a:t>Mann-Whitney U test is a nonparametric test comparing two population means.</a:t>
            </a:r>
          </a:p>
          <a:p>
            <a:pPr marL="514350" lvl="0" indent="-285750" rtl="0">
              <a:spcBef>
                <a:spcPts val="0"/>
              </a:spcBef>
              <a:buFont typeface="Arial" charset="0"/>
              <a:buChar char="•"/>
            </a:pPr>
            <a:r>
              <a:rPr lang="en" dirty="0"/>
              <a:t>Data is usually ordinal (hence nonparametric).</a:t>
            </a:r>
          </a:p>
          <a:p>
            <a:pPr marL="514350" lvl="0" indent="-285750" rtl="0">
              <a:spcBef>
                <a:spcPts val="0"/>
              </a:spcBef>
              <a:buFont typeface="Arial" charset="0"/>
              <a:buChar char="•"/>
            </a:pPr>
            <a:r>
              <a:rPr lang="en" dirty="0"/>
              <a:t>State 1 of 3 hypothesis that you would like to test.</a:t>
            </a:r>
          </a:p>
          <a:p>
            <a:pPr marL="514350" lvl="0" indent="-285750" rtl="0">
              <a:spcBef>
                <a:spcPts val="0"/>
              </a:spcBef>
              <a:buFont typeface="Arial" charset="0"/>
              <a:buChar char="•"/>
            </a:pPr>
            <a:r>
              <a:rPr lang="en" dirty="0"/>
              <a:t>Follow the 8 steps to test your hypothesis</a:t>
            </a:r>
          </a:p>
          <a:p>
            <a:pPr marL="514350" lvl="0" indent="-285750">
              <a:spcBef>
                <a:spcPts val="0"/>
              </a:spcBef>
              <a:buFont typeface="Arial" charset="0"/>
              <a:buChar char="•"/>
            </a:pPr>
            <a:r>
              <a:rPr lang="en" dirty="0"/>
              <a:t>You’re done!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Shape 178"/>
          <p:cNvSpPr txBox="1">
            <a:spLocks noGrp="1"/>
          </p:cNvSpPr>
          <p:nvPr>
            <p:ph type="title"/>
          </p:nvPr>
        </p:nvSpPr>
        <p:spPr>
          <a:xfrm>
            <a:off x="311700" y="315925"/>
            <a:ext cx="8520600" cy="831300"/>
          </a:xfrm>
          <a:prstGeom prst="rect">
            <a:avLst/>
          </a:prstGeom>
        </p:spPr>
        <p:txBody>
          <a:bodyPr lIns="91425" tIns="91425" rIns="91425" bIns="91425" anchor="b" anchorCtr="0">
            <a:noAutofit/>
          </a:bodyPr>
          <a:lstStyle/>
          <a:p>
            <a:pPr lvl="0">
              <a:spcBef>
                <a:spcPts val="0"/>
              </a:spcBef>
              <a:buNone/>
            </a:pPr>
            <a:r>
              <a:rPr lang="en"/>
              <a:t>Resources</a:t>
            </a:r>
          </a:p>
        </p:txBody>
      </p:sp>
      <p:sp>
        <p:nvSpPr>
          <p:cNvPr id="179" name="Shape 179"/>
          <p:cNvSpPr txBox="1">
            <a:spLocks noGrp="1"/>
          </p:cNvSpPr>
          <p:nvPr>
            <p:ph type="body" idx="1"/>
          </p:nvPr>
        </p:nvSpPr>
        <p:spPr>
          <a:xfrm>
            <a:off x="311700" y="996625"/>
            <a:ext cx="8520600" cy="3354000"/>
          </a:xfrm>
          <a:prstGeom prst="rect">
            <a:avLst/>
          </a:prstGeom>
        </p:spPr>
        <p:txBody>
          <a:bodyPr lIns="91425" tIns="91425" rIns="91425" bIns="91425" anchor="t" anchorCtr="0">
            <a:noAutofit/>
          </a:bodyPr>
          <a:lstStyle/>
          <a:p>
            <a:pPr lvl="0">
              <a:spcBef>
                <a:spcPts val="0"/>
              </a:spcBef>
              <a:buNone/>
            </a:pPr>
            <a:r>
              <a:rPr lang="en" sz="1100" i="1">
                <a:latin typeface="Arial"/>
                <a:ea typeface="Arial"/>
                <a:cs typeface="Arial"/>
                <a:sym typeface="Arial"/>
              </a:rPr>
              <a:t>Mann-Whitney U-test / Mann-Whitney-Wilcoxon</a:t>
            </a:r>
            <a:r>
              <a:rPr lang="en" sz="1100">
                <a:latin typeface="Arial"/>
                <a:ea typeface="Arial"/>
                <a:cs typeface="Arial"/>
                <a:sym typeface="Arial"/>
              </a:rPr>
              <a:t>. (2016). </a:t>
            </a:r>
            <a:r>
              <a:rPr lang="en" sz="1100" i="1">
                <a:latin typeface="Arial"/>
                <a:ea typeface="Arial"/>
                <a:cs typeface="Arial"/>
                <a:sym typeface="Arial"/>
              </a:rPr>
              <a:t>Explorable.com</a:t>
            </a:r>
            <a:r>
              <a:rPr lang="en" sz="1100">
                <a:latin typeface="Arial"/>
                <a:ea typeface="Arial"/>
                <a:cs typeface="Arial"/>
                <a:sym typeface="Arial"/>
              </a:rPr>
              <a:t>. Retrieved 29 November 2016, from </a:t>
            </a:r>
            <a:r>
              <a:rPr lang="en" sz="1100" u="sng">
                <a:solidFill>
                  <a:schemeClr val="accent5"/>
                </a:solidFill>
                <a:latin typeface="Arial"/>
                <a:ea typeface="Arial"/>
                <a:cs typeface="Arial"/>
                <a:sym typeface="Arial"/>
                <a:hlinkClick r:id="rId3"/>
              </a:rPr>
              <a:t>https://explorable.com/mann-whitney-u-test</a:t>
            </a:r>
          </a:p>
          <a:p>
            <a:pPr lvl="0">
              <a:spcBef>
                <a:spcPts val="0"/>
              </a:spcBef>
              <a:buClr>
                <a:schemeClr val="dk1"/>
              </a:buClr>
              <a:buSzPct val="100000"/>
              <a:buFont typeface="Arial"/>
              <a:buNone/>
            </a:pPr>
            <a:r>
              <a:rPr lang="en" sz="1100" i="1">
                <a:latin typeface="Arial"/>
                <a:ea typeface="Arial"/>
                <a:cs typeface="Arial"/>
                <a:sym typeface="Arial"/>
              </a:rPr>
              <a:t>Mann–Whitney test - Oxford Reference</a:t>
            </a:r>
            <a:r>
              <a:rPr lang="en" sz="1100">
                <a:latin typeface="Arial"/>
                <a:ea typeface="Arial"/>
                <a:cs typeface="Arial"/>
                <a:sym typeface="Arial"/>
              </a:rPr>
              <a:t>. (2016). </a:t>
            </a:r>
            <a:r>
              <a:rPr lang="en" sz="1100" i="1">
                <a:latin typeface="Arial"/>
                <a:ea typeface="Arial"/>
                <a:cs typeface="Arial"/>
                <a:sym typeface="Arial"/>
              </a:rPr>
              <a:t>Oxfordreference.com</a:t>
            </a:r>
            <a:r>
              <a:rPr lang="en" sz="1100">
                <a:latin typeface="Arial"/>
                <a:ea typeface="Arial"/>
                <a:cs typeface="Arial"/>
                <a:sym typeface="Arial"/>
              </a:rPr>
              <a:t>. Retrieved 29 November 2016, from http://www.oxfordreference.com/view/10.1093/oi/authority.20110803100131510</a:t>
            </a:r>
          </a:p>
          <a:p>
            <a:pPr lvl="0">
              <a:spcBef>
                <a:spcPts val="0"/>
              </a:spcBef>
              <a:buNone/>
            </a:pPr>
            <a:r>
              <a:rPr lang="en" sz="1100">
                <a:latin typeface="Arial"/>
                <a:ea typeface="Arial"/>
                <a:cs typeface="Arial"/>
                <a:sym typeface="Arial"/>
              </a:rPr>
              <a:t>Nachar, N. (2008). The Mann-Whitney U: A Test for Assessing Whether Two Independent Samples Come from the Same Distribution. </a:t>
            </a:r>
            <a:r>
              <a:rPr lang="en" sz="1100" i="1">
                <a:latin typeface="Arial"/>
                <a:ea typeface="Arial"/>
                <a:cs typeface="Arial"/>
                <a:sym typeface="Arial"/>
              </a:rPr>
              <a:t>Tutorials In Quantitative Methods For Psychology</a:t>
            </a:r>
            <a:r>
              <a:rPr lang="en" sz="1100">
                <a:latin typeface="Arial"/>
                <a:ea typeface="Arial"/>
                <a:cs typeface="Arial"/>
                <a:sym typeface="Arial"/>
              </a:rPr>
              <a:t>, </a:t>
            </a:r>
            <a:r>
              <a:rPr lang="en" sz="1100" i="1">
                <a:latin typeface="Arial"/>
                <a:ea typeface="Arial"/>
                <a:cs typeface="Arial"/>
                <a:sym typeface="Arial"/>
              </a:rPr>
              <a:t>4</a:t>
            </a:r>
            <a:r>
              <a:rPr lang="en" sz="1100">
                <a:latin typeface="Arial"/>
                <a:ea typeface="Arial"/>
                <a:cs typeface="Arial"/>
                <a:sym typeface="Arial"/>
              </a:rPr>
              <a:t>(1), 13-20. </a:t>
            </a:r>
            <a:r>
              <a:rPr lang="en" sz="1100" u="sng">
                <a:solidFill>
                  <a:schemeClr val="hlink"/>
                </a:solidFill>
                <a:latin typeface="Arial"/>
                <a:ea typeface="Arial"/>
                <a:cs typeface="Arial"/>
                <a:sym typeface="Arial"/>
                <a:hlinkClick r:id="rId4"/>
              </a:rPr>
              <a:t>http://dx.doi.org/10.20982/tqmp.04.1.p013</a:t>
            </a:r>
          </a:p>
          <a:p>
            <a:pPr lvl="0" rtl="0">
              <a:lnSpc>
                <a:spcPct val="100000"/>
              </a:lnSpc>
              <a:spcBef>
                <a:spcPts val="0"/>
              </a:spcBef>
              <a:spcAft>
                <a:spcPts val="0"/>
              </a:spcAft>
              <a:buClr>
                <a:schemeClr val="dk1"/>
              </a:buClr>
              <a:buSzPct val="100000"/>
              <a:buFont typeface="Arial"/>
              <a:buNone/>
            </a:pPr>
            <a:r>
              <a:rPr lang="en" sz="1100">
                <a:solidFill>
                  <a:srgbClr val="000000"/>
                </a:solidFill>
                <a:latin typeface="Arial"/>
                <a:ea typeface="Arial"/>
                <a:cs typeface="Arial"/>
                <a:sym typeface="Arial"/>
              </a:rPr>
              <a:t>Olson, John (1977). "Henry B. Mann (with photograph)". In</a:t>
            </a:r>
            <a:r>
              <a:rPr lang="en" sz="1100">
                <a:solidFill>
                  <a:srgbClr val="000000"/>
                </a:solidFill>
                <a:latin typeface="Arial"/>
                <a:ea typeface="Arial"/>
                <a:cs typeface="Arial"/>
                <a:sym typeface="Arial"/>
                <a:hlinkClick r:id="rId5"/>
              </a:rPr>
              <a:t> Zassenhaus, Hans</a:t>
            </a:r>
            <a:r>
              <a:rPr lang="en" sz="1100">
                <a:solidFill>
                  <a:srgbClr val="000000"/>
                </a:solidFill>
                <a:latin typeface="Arial"/>
                <a:ea typeface="Arial"/>
                <a:cs typeface="Arial"/>
                <a:sym typeface="Arial"/>
              </a:rPr>
              <a:t>.</a:t>
            </a:r>
            <a:r>
              <a:rPr lang="en" sz="1100">
                <a:solidFill>
                  <a:srgbClr val="000000"/>
                </a:solidFill>
                <a:latin typeface="Arial"/>
                <a:ea typeface="Arial"/>
                <a:cs typeface="Arial"/>
                <a:sym typeface="Arial"/>
                <a:hlinkClick r:id="rId6"/>
              </a:rPr>
              <a:t> </a:t>
            </a:r>
            <a:r>
              <a:rPr lang="en" sz="1100" i="1">
                <a:solidFill>
                  <a:srgbClr val="000000"/>
                </a:solidFill>
                <a:latin typeface="Arial"/>
                <a:ea typeface="Arial"/>
                <a:cs typeface="Arial"/>
                <a:sym typeface="Arial"/>
                <a:hlinkClick r:id="rId6"/>
              </a:rPr>
              <a:t>Number theory and algebra: Collected papers dedicated to Henry B. Mann, Arnold E. Ross, and Olga Taussky-Todd</a:t>
            </a:r>
            <a:r>
              <a:rPr lang="en" sz="1100">
                <a:solidFill>
                  <a:srgbClr val="000000"/>
                </a:solidFill>
                <a:latin typeface="Arial"/>
                <a:ea typeface="Arial"/>
                <a:cs typeface="Arial"/>
                <a:sym typeface="Arial"/>
              </a:rPr>
              <a:t>. New York-London: Academic Press [Harcourt Brace Jovanovich, Publishers]. pp. xx–xxv.</a:t>
            </a:r>
            <a:r>
              <a:rPr lang="en" sz="1100">
                <a:solidFill>
                  <a:srgbClr val="000000"/>
                </a:solidFill>
                <a:latin typeface="Arial"/>
                <a:ea typeface="Arial"/>
                <a:cs typeface="Arial"/>
                <a:sym typeface="Arial"/>
                <a:hlinkClick r:id="rId7"/>
              </a:rPr>
              <a:t> ISBN</a:t>
            </a:r>
            <a:r>
              <a:rPr lang="en" sz="1100">
                <a:solidFill>
                  <a:srgbClr val="000000"/>
                </a:solidFill>
                <a:latin typeface="Arial"/>
                <a:ea typeface="Arial"/>
                <a:cs typeface="Arial"/>
                <a:sym typeface="Arial"/>
              </a:rPr>
              <a:t> </a:t>
            </a:r>
            <a:r>
              <a:rPr lang="en" sz="1100">
                <a:solidFill>
                  <a:srgbClr val="000000"/>
                </a:solidFill>
                <a:latin typeface="Arial"/>
                <a:ea typeface="Arial"/>
                <a:cs typeface="Arial"/>
                <a:sym typeface="Arial"/>
                <a:hlinkClick r:id="rId8"/>
              </a:rPr>
              <a:t>0-12-776350-3</a:t>
            </a:r>
            <a:r>
              <a:rPr lang="en" sz="1100">
                <a:solidFill>
                  <a:srgbClr val="000000"/>
                </a:solidFill>
                <a:latin typeface="Arial"/>
                <a:ea typeface="Arial"/>
                <a:cs typeface="Arial"/>
                <a:sym typeface="Arial"/>
              </a:rPr>
              <a:t>.</a:t>
            </a:r>
            <a:r>
              <a:rPr lang="en" sz="1100">
                <a:solidFill>
                  <a:srgbClr val="000000"/>
                </a:solidFill>
                <a:latin typeface="Arial"/>
                <a:ea typeface="Arial"/>
                <a:cs typeface="Arial"/>
                <a:sym typeface="Arial"/>
                <a:hlinkClick r:id="rId9"/>
              </a:rPr>
              <a:t> MR</a:t>
            </a:r>
            <a:r>
              <a:rPr lang="en" sz="1100">
                <a:solidFill>
                  <a:srgbClr val="000000"/>
                </a:solidFill>
                <a:latin typeface="Arial"/>
                <a:ea typeface="Arial"/>
                <a:cs typeface="Arial"/>
                <a:sym typeface="Arial"/>
              </a:rPr>
              <a:t> </a:t>
            </a:r>
            <a:r>
              <a:rPr lang="en" sz="1100">
                <a:solidFill>
                  <a:srgbClr val="000000"/>
                </a:solidFill>
                <a:latin typeface="Arial"/>
                <a:ea typeface="Arial"/>
                <a:cs typeface="Arial"/>
                <a:sym typeface="Arial"/>
                <a:hlinkClick r:id="rId10"/>
              </a:rPr>
              <a:t>469653</a:t>
            </a:r>
          </a:p>
          <a:p>
            <a:pPr lvl="0" rtl="0">
              <a:lnSpc>
                <a:spcPct val="100000"/>
              </a:lnSpc>
              <a:spcBef>
                <a:spcPts val="0"/>
              </a:spcBef>
              <a:spcAft>
                <a:spcPts val="0"/>
              </a:spcAft>
              <a:buClr>
                <a:schemeClr val="dk1"/>
              </a:buClr>
              <a:buSzPct val="100000"/>
              <a:buFont typeface="Arial"/>
              <a:buNone/>
            </a:pPr>
            <a:endParaRPr sz="1100">
              <a:solidFill>
                <a:srgbClr val="000000"/>
              </a:solidFill>
              <a:latin typeface="Arial"/>
              <a:ea typeface="Arial"/>
              <a:cs typeface="Arial"/>
              <a:sym typeface="Arial"/>
            </a:endParaRPr>
          </a:p>
          <a:p>
            <a:pPr lvl="0" rtl="0">
              <a:lnSpc>
                <a:spcPct val="100000"/>
              </a:lnSpc>
              <a:spcBef>
                <a:spcPts val="0"/>
              </a:spcBef>
              <a:spcAft>
                <a:spcPts val="0"/>
              </a:spcAft>
              <a:buClr>
                <a:schemeClr val="dk1"/>
              </a:buClr>
              <a:buSzPct val="100000"/>
              <a:buFont typeface="Arial"/>
              <a:buNone/>
            </a:pPr>
            <a:r>
              <a:rPr lang="en" sz="1100">
                <a:solidFill>
                  <a:srgbClr val="000000"/>
                </a:solidFill>
                <a:latin typeface="Arial"/>
                <a:ea typeface="Arial"/>
                <a:cs typeface="Arial"/>
                <a:sym typeface="Arial"/>
              </a:rPr>
              <a:t>Mann-Whitney U test worked example.  Retrieved 3 December 2016, from </a:t>
            </a:r>
            <a:r>
              <a:rPr lang="en" sz="1100" u="sng">
                <a:solidFill>
                  <a:schemeClr val="hlink"/>
                </a:solidFill>
                <a:latin typeface="Arial"/>
                <a:ea typeface="Arial"/>
                <a:cs typeface="Arial"/>
                <a:sym typeface="Arial"/>
                <a:hlinkClick r:id="rId11" invalidUrl="http://users.sussex.ac.uk/~grahamh/RM1web/Mann-Whitney worked example.pdf"/>
              </a:rPr>
              <a:t>http://users.sussex.ac.uk/~grahamh/RM1web/Mann-Whitney%20worked%20example.pdf</a:t>
            </a:r>
          </a:p>
          <a:p>
            <a:pPr lvl="0" rtl="0">
              <a:lnSpc>
                <a:spcPct val="100000"/>
              </a:lnSpc>
              <a:spcBef>
                <a:spcPts val="0"/>
              </a:spcBef>
              <a:spcAft>
                <a:spcPts val="0"/>
              </a:spcAft>
              <a:buClr>
                <a:schemeClr val="dk1"/>
              </a:buClr>
              <a:buSzPct val="100000"/>
              <a:buFont typeface="Arial"/>
              <a:buNone/>
            </a:pPr>
            <a:endParaRPr sz="1100">
              <a:solidFill>
                <a:srgbClr val="000000"/>
              </a:solidFill>
              <a:latin typeface="Arial"/>
              <a:ea typeface="Arial"/>
              <a:cs typeface="Arial"/>
              <a:sym typeface="Arial"/>
            </a:endParaRPr>
          </a:p>
          <a:p>
            <a:pPr lvl="0">
              <a:spcBef>
                <a:spcPts val="0"/>
              </a:spcBef>
              <a:buNone/>
            </a:pP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Shape 184"/>
          <p:cNvSpPr txBox="1">
            <a:spLocks noGrp="1"/>
          </p:cNvSpPr>
          <p:nvPr>
            <p:ph type="title"/>
          </p:nvPr>
        </p:nvSpPr>
        <p:spPr>
          <a:xfrm>
            <a:off x="311700" y="315925"/>
            <a:ext cx="8520600" cy="831300"/>
          </a:xfrm>
          <a:prstGeom prst="rect">
            <a:avLst/>
          </a:prstGeom>
        </p:spPr>
        <p:txBody>
          <a:bodyPr lIns="91425" tIns="91425" rIns="91425" bIns="91425" anchor="b" anchorCtr="0">
            <a:noAutofit/>
          </a:bodyPr>
          <a:lstStyle/>
          <a:p>
            <a:pPr lvl="0">
              <a:spcBef>
                <a:spcPts val="0"/>
              </a:spcBef>
              <a:buNone/>
            </a:pPr>
            <a:r>
              <a:rPr lang="en"/>
              <a:t>Questions?</a:t>
            </a: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1176</Words>
  <Application>Microsoft Macintosh PowerPoint</Application>
  <PresentationFormat>On-screen Show (16:9)</PresentationFormat>
  <Paragraphs>129</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Times New Roman</vt:lpstr>
      <vt:lpstr>Economica</vt:lpstr>
      <vt:lpstr>Arial</vt:lpstr>
      <vt:lpstr>Open Sans</vt:lpstr>
      <vt:lpstr>luxe</vt:lpstr>
      <vt:lpstr>Mann-Whitney U Test</vt:lpstr>
      <vt:lpstr>History</vt:lpstr>
      <vt:lpstr>How can this test be utilized?</vt:lpstr>
      <vt:lpstr>What to know before testing the two populations</vt:lpstr>
      <vt:lpstr>Hypothesis</vt:lpstr>
      <vt:lpstr>Steps to using the Mann-Whitney U Test</vt:lpstr>
      <vt:lpstr>PowerPoint Presentation</vt:lpstr>
      <vt:lpstr>U Test Table</vt:lpstr>
      <vt:lpstr>Mann-Whitney U Example: The Power of Advertising </vt:lpstr>
      <vt:lpstr>Mann-Whitney U Example: The Power of Advertising</vt:lpstr>
      <vt:lpstr>Can we use the Mann-Whitney U test for this problem?</vt:lpstr>
      <vt:lpstr>Step 1: Rank all scores together, ignoring which group they came from</vt:lpstr>
      <vt:lpstr>Step 2 and 3: Add up the ranks for the two groups</vt:lpstr>
      <vt:lpstr>Step 4, 5, &amp; 6: Select the larger R, and calculate U</vt:lpstr>
      <vt:lpstr>Step 7: Use U test table to find the critical value</vt:lpstr>
      <vt:lpstr>Step 8: Compare calculated U to critical U and decide</vt:lpstr>
      <vt:lpstr>Conclusion</vt:lpstr>
      <vt:lpstr>Resources</vt:lpstr>
      <vt:lpstr>Questions?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Mann-Whitney U Test</dc:title>
  <cp:lastModifiedBy>candace.sorden@huskers.unl.edu</cp:lastModifiedBy>
  <cp:revision>1</cp:revision>
  <dcterms:modified xsi:type="dcterms:W3CDTF">2016-12-05T02:04:06Z</dcterms:modified>
</cp:coreProperties>
</file>