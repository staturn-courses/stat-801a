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  <p:sldMasterId id="2147483684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38" autoAdjust="0"/>
    <p:restoredTop sz="94660"/>
  </p:normalViewPr>
  <p:slideViewPr>
    <p:cSldViewPr snapToGrid="0">
      <p:cViewPr varScale="1">
        <p:scale>
          <a:sx n="87" d="100"/>
          <a:sy n="87" d="100"/>
        </p:scale>
        <p:origin x="533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image" Target="../media/image5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1" name="Picture 9" descr="V2_1p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4117" cy="6859588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3352800"/>
            <a:ext cx="10363200" cy="1143000"/>
          </a:xfrm>
        </p:spPr>
        <p:txBody>
          <a:bodyPr/>
          <a:lstStyle>
            <a:lvl1pPr algn="ctr">
              <a:defRPr sz="35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962400"/>
            <a:ext cx="8534400" cy="1219200"/>
          </a:xfrm>
        </p:spPr>
        <p:txBody>
          <a:bodyPr/>
          <a:lstStyle>
            <a:lvl1pPr marL="0" indent="0" algn="ctr">
              <a:buFontTx/>
              <a:buNone/>
              <a:defRPr sz="2600">
                <a:solidFill>
                  <a:schemeClr val="bg1"/>
                </a:solidFill>
                <a:latin typeface="URWGroteskTReg" pitchFamily="-4" charset="0"/>
              </a:defRPr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3082" name="Line 10"/>
          <p:cNvSpPr>
            <a:spLocks noChangeShapeType="1"/>
          </p:cNvSpPr>
          <p:nvPr/>
        </p:nvSpPr>
        <p:spPr bwMode="auto">
          <a:xfrm>
            <a:off x="1828800" y="3209925"/>
            <a:ext cx="8534400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3084" name="Line 12"/>
          <p:cNvSpPr>
            <a:spLocks noChangeShapeType="1"/>
          </p:cNvSpPr>
          <p:nvPr/>
        </p:nvSpPr>
        <p:spPr bwMode="auto">
          <a:xfrm>
            <a:off x="1828800" y="4594225"/>
            <a:ext cx="8534400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2699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50432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885287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3716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3716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501947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44049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623988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29439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373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36650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290841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6800" y="635000"/>
            <a:ext cx="2590800" cy="4851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635000"/>
            <a:ext cx="7569200" cy="48514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19153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1" name="Picture 9" descr="V2_1page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4117" cy="6859588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3352800"/>
            <a:ext cx="10363200" cy="1143000"/>
          </a:xfrm>
        </p:spPr>
        <p:txBody>
          <a:bodyPr/>
          <a:lstStyle>
            <a:lvl1pPr algn="ctr">
              <a:defRPr sz="35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TITLE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962400"/>
            <a:ext cx="8534400" cy="1219200"/>
          </a:xfrm>
        </p:spPr>
        <p:txBody>
          <a:bodyPr/>
          <a:lstStyle>
            <a:lvl1pPr marL="0" indent="0" algn="ctr">
              <a:buFontTx/>
              <a:buNone/>
              <a:defRPr sz="2600">
                <a:solidFill>
                  <a:schemeClr val="bg1"/>
                </a:solidFill>
                <a:latin typeface="URWGroteskTReg" pitchFamily="-4" charset="0"/>
              </a:defRPr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3082" name="Line 10"/>
          <p:cNvSpPr>
            <a:spLocks noChangeShapeType="1"/>
          </p:cNvSpPr>
          <p:nvPr userDrawn="1"/>
        </p:nvSpPr>
        <p:spPr bwMode="auto">
          <a:xfrm>
            <a:off x="1828800" y="3209925"/>
            <a:ext cx="8534400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3084" name="Line 12"/>
          <p:cNvSpPr>
            <a:spLocks noChangeShapeType="1"/>
          </p:cNvSpPr>
          <p:nvPr userDrawn="1"/>
        </p:nvSpPr>
        <p:spPr bwMode="auto">
          <a:xfrm>
            <a:off x="1828800" y="4594225"/>
            <a:ext cx="8534400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12765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573319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078228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3716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3716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730361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060789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7497278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372074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627574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945113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5236588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6800" y="635000"/>
            <a:ext cx="2590800" cy="4851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635000"/>
            <a:ext cx="7569200" cy="4851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5523174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1" name="Picture 9" descr="V2_1p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4117" cy="6859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3352800"/>
            <a:ext cx="10363200" cy="1143000"/>
          </a:xfrm>
        </p:spPr>
        <p:txBody>
          <a:bodyPr/>
          <a:lstStyle>
            <a:lvl1pPr algn="ctr">
              <a:defRPr sz="35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962400"/>
            <a:ext cx="8534400" cy="1219200"/>
          </a:xfrm>
        </p:spPr>
        <p:txBody>
          <a:bodyPr/>
          <a:lstStyle>
            <a:lvl1pPr marL="0" indent="0" algn="ctr">
              <a:buFontTx/>
              <a:buNone/>
              <a:defRPr sz="2600">
                <a:solidFill>
                  <a:schemeClr val="bg1"/>
                </a:solidFill>
                <a:latin typeface="URWGroteskTReg" pitchFamily="-4" charset="0"/>
              </a:defRPr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3082" name="Line 10"/>
          <p:cNvSpPr>
            <a:spLocks noChangeShapeType="1"/>
          </p:cNvSpPr>
          <p:nvPr/>
        </p:nvSpPr>
        <p:spPr bwMode="auto">
          <a:xfrm>
            <a:off x="1828800" y="3209925"/>
            <a:ext cx="8534400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3084" name="Line 12"/>
          <p:cNvSpPr>
            <a:spLocks noChangeShapeType="1"/>
          </p:cNvSpPr>
          <p:nvPr/>
        </p:nvSpPr>
        <p:spPr bwMode="auto">
          <a:xfrm>
            <a:off x="1828800" y="4594225"/>
            <a:ext cx="8534400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436933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5015396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6100751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3716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3716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9657188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5960584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6333659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640546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8862139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5782771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0844923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6800" y="635000"/>
            <a:ext cx="2590800" cy="4851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635000"/>
            <a:ext cx="7569200" cy="48514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65768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5" name="Picture 11" descr="V2_2page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4117" cy="6859588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35000"/>
            <a:ext cx="103632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371600"/>
            <a:ext cx="10363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2045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URWGroteskTBol" pitchFamily="-4" charset="0"/>
          <a:ea typeface="ＭＳ Ｐゴシック" pitchFamily="-4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URWGroteskTBol" pitchFamily="-4" charset="0"/>
          <a:ea typeface="ＭＳ Ｐゴシック" pitchFamily="-4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URWGroteskTBol" pitchFamily="-4" charset="0"/>
          <a:ea typeface="ＭＳ Ｐゴシック" pitchFamily="-4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URWGroteskTBol" pitchFamily="-4" charset="0"/>
          <a:ea typeface="ＭＳ Ｐゴシック" pitchFamily="-4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URWGroteskTBol" pitchFamily="-4" charset="0"/>
          <a:ea typeface="ＭＳ Ｐゴシック" pitchFamily="-4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URWGroteskTBol" pitchFamily="-4" charset="0"/>
          <a:ea typeface="ＭＳ Ｐゴシック" pitchFamily="-4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URWGroteskTBol" pitchFamily="-4" charset="0"/>
          <a:ea typeface="ＭＳ Ｐゴシック" pitchFamily="-4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URWGroteskTBol" pitchFamily="-4" charset="0"/>
          <a:ea typeface="ＭＳ Ｐゴシック" pitchFamily="-4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6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2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5" name="Picture 11" descr="V2_2page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4117" cy="6859588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35000"/>
            <a:ext cx="103632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371600"/>
            <a:ext cx="10363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90994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fontAlgn="base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URWGroteskTBol" pitchFamily="-4" charset="0"/>
          <a:ea typeface="ＭＳ Ｐゴシック" pitchFamily="-4" charset="-128"/>
        </a:defRPr>
      </a:lvl2pPr>
      <a:lvl3pPr algn="l" rtl="0" fontAlgn="base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URWGroteskTBol" pitchFamily="-4" charset="0"/>
          <a:ea typeface="ＭＳ Ｐゴシック" pitchFamily="-4" charset="-128"/>
        </a:defRPr>
      </a:lvl3pPr>
      <a:lvl4pPr algn="l" rtl="0" fontAlgn="base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URWGroteskTBol" pitchFamily="-4" charset="0"/>
          <a:ea typeface="ＭＳ Ｐゴシック" pitchFamily="-4" charset="-128"/>
        </a:defRPr>
      </a:lvl4pPr>
      <a:lvl5pPr algn="l" rtl="0" fontAlgn="base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URWGroteskTBol" pitchFamily="-4" charset="0"/>
          <a:ea typeface="ＭＳ Ｐゴシック" pitchFamily="-4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URWGroteskTBol" pitchFamily="-4" charset="0"/>
          <a:ea typeface="ＭＳ Ｐゴシック" pitchFamily="-4" charset="-128"/>
        </a:defRPr>
      </a:lvl6pPr>
      <a:lvl7pPr marL="914400" algn="l" rtl="0" fontAlgn="base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URWGroteskTBol" pitchFamily="-4" charset="0"/>
          <a:ea typeface="ＭＳ Ｐゴシック" pitchFamily="-4" charset="-128"/>
        </a:defRPr>
      </a:lvl7pPr>
      <a:lvl8pPr marL="1371600" algn="l" rtl="0" fontAlgn="base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URWGroteskTBol" pitchFamily="-4" charset="0"/>
          <a:ea typeface="ＭＳ Ｐゴシック" pitchFamily="-4" charset="-128"/>
        </a:defRPr>
      </a:lvl8pPr>
      <a:lvl9pPr marL="1828800" algn="l" rtl="0" fontAlgn="base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URWGroteskTBol" pitchFamily="-4" charset="0"/>
          <a:ea typeface="ＭＳ Ｐゴシック" pitchFamily="-4" charset="-128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6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2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5" name="Picture 11" descr="V2_2page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4117" cy="6859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35000"/>
            <a:ext cx="103632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371600"/>
            <a:ext cx="10363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83711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URWGroteskTBol" pitchFamily="-4" charset="0"/>
          <a:ea typeface="ＭＳ Ｐゴシック" pitchFamily="-4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URWGroteskTBol" pitchFamily="-4" charset="0"/>
          <a:ea typeface="ＭＳ Ｐゴシック" pitchFamily="-4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URWGroteskTBol" pitchFamily="-4" charset="0"/>
          <a:ea typeface="ＭＳ Ｐゴシック" pitchFamily="-4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URWGroteskTBol" pitchFamily="-4" charset="0"/>
          <a:ea typeface="ＭＳ Ｐゴシック" pitchFamily="-4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URWGroteskTBol" pitchFamily="-4" charset="0"/>
          <a:ea typeface="ＭＳ Ｐゴシック" pitchFamily="-4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URWGroteskTBol" pitchFamily="-4" charset="0"/>
          <a:ea typeface="ＭＳ Ｐゴシック" pitchFamily="-4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URWGroteskTBol" pitchFamily="-4" charset="0"/>
          <a:ea typeface="ＭＳ Ｐゴシック" pitchFamily="-4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URWGroteskTBol" pitchFamily="-4" charset="0"/>
          <a:ea typeface="ＭＳ Ｐゴシック" pitchFamily="-4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6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2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3.w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7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8.e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://www.ruf.rice.edu/~lane/" TargetMode="External"/><Relationship Id="rId1" Type="http://schemas.openxmlformats.org/officeDocument/2006/relationships/slideLayout" Target="../slideLayouts/slideLayout2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Multivariate Analysis of Variance</a:t>
            </a:r>
            <a:br>
              <a:rPr lang="en-US" dirty="0"/>
            </a:br>
            <a:r>
              <a:rPr lang="en-US" dirty="0"/>
              <a:t>(MANOVA)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683369"/>
            <a:ext cx="8534400" cy="1219200"/>
          </a:xfrm>
        </p:spPr>
        <p:txBody>
          <a:bodyPr/>
          <a:lstStyle/>
          <a:p>
            <a:r>
              <a:rPr lang="en-US" dirty="0"/>
              <a:t>Brett Melton, Ben Hansen, and Caitlin Ohnoutka</a:t>
            </a:r>
          </a:p>
          <a:p>
            <a:r>
              <a:rPr lang="en-US" dirty="0"/>
              <a:t>STAT 801</a:t>
            </a:r>
          </a:p>
        </p:txBody>
      </p:sp>
    </p:spTree>
    <p:extLst>
      <p:ext uri="{BB962C8B-B14F-4D97-AF65-F5344CB8AC3E}">
        <p14:creationId xmlns:p14="http://schemas.microsoft.com/office/powerpoint/2010/main" val="18690284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MANOVA?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ANOVA table with many different dependent variables</a:t>
            </a:r>
          </a:p>
          <a:p>
            <a:r>
              <a:rPr lang="en-US" dirty="0"/>
              <a:t>Looking at two or more different vectors in the means</a:t>
            </a:r>
          </a:p>
          <a:p>
            <a:r>
              <a:rPr lang="en-US" dirty="0"/>
              <a:t>Main objective is to determine if the response variables are affected by manipulation of the independent variables</a:t>
            </a:r>
          </a:p>
        </p:txBody>
      </p:sp>
    </p:spTree>
    <p:extLst>
      <p:ext uri="{BB962C8B-B14F-4D97-AF65-F5344CB8AC3E}">
        <p14:creationId xmlns:p14="http://schemas.microsoft.com/office/powerpoint/2010/main" val="140759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Comparing MANOVA to ANOVA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ANOVA looks at the variation that may occur between or within groups, which make inferences about the mean</a:t>
            </a:r>
          </a:p>
          <a:p>
            <a:r>
              <a:rPr lang="en-US" dirty="0"/>
              <a:t>MANOVA table looks at different vectors of population means to compare</a:t>
            </a:r>
          </a:p>
          <a:p>
            <a:pPr lvl="1"/>
            <a:r>
              <a:rPr lang="en-US" dirty="0"/>
              <a:t>Example: </a:t>
            </a:r>
          </a:p>
          <a:p>
            <a:pPr lvl="2"/>
            <a:r>
              <a:rPr lang="en-US" dirty="0"/>
              <a:t>ANOVA table- do two different text books affect how a child learns math? </a:t>
            </a:r>
          </a:p>
          <a:p>
            <a:pPr lvl="2"/>
            <a:r>
              <a:rPr lang="en-US" dirty="0"/>
              <a:t>MANOVA table – do two different text books affect how a child learns math AND physics?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17223" y="6040315"/>
            <a:ext cx="46379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French, et al., 2008; Lane, onlinestatbook.com</a:t>
            </a:r>
          </a:p>
        </p:txBody>
      </p:sp>
    </p:spTree>
    <p:extLst>
      <p:ext uri="{BB962C8B-B14F-4D97-AF65-F5344CB8AC3E}">
        <p14:creationId xmlns:p14="http://schemas.microsoft.com/office/powerpoint/2010/main" val="3736904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kind of questions can be answered with MANOVA?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are the main effects of the independent variables?</a:t>
            </a:r>
          </a:p>
          <a:p>
            <a:pPr lvl="1"/>
            <a:r>
              <a:rPr lang="en-US" sz="1600" dirty="0"/>
              <a:t>Effect of an independent variable on a dependent variable (treatment effects) </a:t>
            </a:r>
          </a:p>
          <a:p>
            <a:r>
              <a:rPr lang="en-US" dirty="0"/>
              <a:t>What are the interactions between independent variables?</a:t>
            </a:r>
          </a:p>
          <a:p>
            <a:pPr lvl="1"/>
            <a:r>
              <a:rPr lang="en-US" sz="1600" dirty="0"/>
              <a:t>Effect of one independent variable on another independent variable </a:t>
            </a:r>
          </a:p>
          <a:p>
            <a:r>
              <a:rPr lang="en-US" dirty="0"/>
              <a:t>What is the importance of the dependent variables? </a:t>
            </a:r>
          </a:p>
          <a:p>
            <a:r>
              <a:rPr lang="en-US" dirty="0"/>
              <a:t>What is the strength of association between dependent variables? </a:t>
            </a:r>
          </a:p>
          <a:p>
            <a:pPr lvl="1"/>
            <a:r>
              <a:rPr lang="en-US" sz="1600" dirty="0"/>
              <a:t>Correlation</a:t>
            </a:r>
          </a:p>
          <a:p>
            <a:r>
              <a:rPr lang="en-US" dirty="0"/>
              <a:t>What are the effects of covariates? How can they be used?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51431" y="5785338"/>
            <a:ext cx="28618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French et al., 2008</a:t>
            </a:r>
          </a:p>
        </p:txBody>
      </p:sp>
    </p:spTree>
    <p:extLst>
      <p:ext uri="{BB962C8B-B14F-4D97-AF65-F5344CB8AC3E}">
        <p14:creationId xmlns:p14="http://schemas.microsoft.com/office/powerpoint/2010/main" val="3947162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Assumptions for MANOVA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Normality</a:t>
            </a:r>
          </a:p>
          <a:p>
            <a:r>
              <a:rPr lang="en-US" dirty="0"/>
              <a:t>Linear relationships between variables</a:t>
            </a:r>
          </a:p>
          <a:p>
            <a:r>
              <a:rPr lang="en-US" dirty="0"/>
              <a:t>Equal Variances</a:t>
            </a:r>
          </a:p>
          <a:p>
            <a:r>
              <a:rPr lang="en-US" dirty="0"/>
              <a:t>Equal Covariance</a:t>
            </a:r>
          </a:p>
          <a:p>
            <a:pPr marL="0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8295542" y="5820507"/>
            <a:ext cx="2035420" cy="3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French, et al., 2008</a:t>
            </a:r>
          </a:p>
        </p:txBody>
      </p:sp>
    </p:spTree>
    <p:extLst>
      <p:ext uri="{BB962C8B-B14F-4D97-AF65-F5344CB8AC3E}">
        <p14:creationId xmlns:p14="http://schemas.microsoft.com/office/powerpoint/2010/main" val="9501037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Special Circumstances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Unequal Sample sizes</a:t>
            </a:r>
          </a:p>
          <a:p>
            <a:pPr lvl="1"/>
            <a:r>
              <a:rPr lang="en-US" sz="2400" dirty="0"/>
              <a:t>SS effect + error does not equal SS</a:t>
            </a:r>
            <a:r>
              <a:rPr lang="en-US" sz="2400" baseline="-25000" dirty="0"/>
              <a:t>T</a:t>
            </a:r>
            <a:r>
              <a:rPr lang="en-US" sz="2400" dirty="0"/>
              <a:t> which correlates main effects and interactions</a:t>
            </a:r>
          </a:p>
          <a:p>
            <a:r>
              <a:rPr lang="en-US" dirty="0"/>
              <a:t>Within-subject design</a:t>
            </a:r>
          </a:p>
          <a:p>
            <a:pPr lvl="1"/>
            <a:r>
              <a:rPr lang="en-US" sz="2400" dirty="0"/>
              <a:t>Issues with testing different levels of dependent variables on different occasions</a:t>
            </a:r>
          </a:p>
          <a:p>
            <a:r>
              <a:rPr lang="en-US" dirty="0"/>
              <a:t>Sensitive to outliers</a:t>
            </a:r>
          </a:p>
          <a:p>
            <a:r>
              <a:rPr lang="en-US" dirty="0"/>
              <a:t>Multicollinearity and Singularity </a:t>
            </a:r>
          </a:p>
          <a:p>
            <a:pPr lvl="1"/>
            <a:r>
              <a:rPr lang="en-US" sz="2400" dirty="0"/>
              <a:t>One dependent variable forms a linear combination of all dependent variables when highly correlated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8031773" y="6040316"/>
            <a:ext cx="2387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French et al., 2008</a:t>
            </a:r>
          </a:p>
        </p:txBody>
      </p:sp>
    </p:spTree>
    <p:extLst>
      <p:ext uri="{BB962C8B-B14F-4D97-AF65-F5344CB8AC3E}">
        <p14:creationId xmlns:p14="http://schemas.microsoft.com/office/powerpoint/2010/main" val="24359906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Equations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371600"/>
            <a:ext cx="10363200" cy="676275"/>
          </a:xfrm>
        </p:spPr>
        <p:txBody>
          <a:bodyPr/>
          <a:lstStyle/>
          <a:p>
            <a:r>
              <a:rPr lang="en-US" dirty="0"/>
              <a:t>ANOVA</a:t>
            </a:r>
          </a:p>
        </p:txBody>
      </p:sp>
      <p:graphicFrame>
        <p:nvGraphicFramePr>
          <p:cNvPr id="7" name="Object 8"/>
          <p:cNvGraphicFramePr>
            <a:graphicFrameLocks noChangeAspect="1"/>
          </p:cNvGraphicFramePr>
          <p:nvPr>
            <p:extLst/>
          </p:nvPr>
        </p:nvGraphicFramePr>
        <p:xfrm>
          <a:off x="2089150" y="2044700"/>
          <a:ext cx="800100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Equation" r:id="rId3" imgW="3556000" imgH="406400" progId="Equation.3">
                  <p:embed/>
                </p:oleObj>
              </mc:Choice>
              <mc:Fallback>
                <p:oleObj name="Equation" r:id="rId3" imgW="3556000" imgH="406400" progId="Equation.3">
                  <p:embed/>
                  <p:pic>
                    <p:nvPicPr>
                      <p:cNvPr id="7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9150" y="2044700"/>
                        <a:ext cx="8001000" cy="1143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/>
          </p:nvPr>
        </p:nvGraphicFramePr>
        <p:xfrm>
          <a:off x="3467100" y="3436937"/>
          <a:ext cx="5264150" cy="1579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" name="Equation" r:id="rId5" imgW="1511300" imgH="266700" progId="Equation.3">
                  <p:embed/>
                </p:oleObj>
              </mc:Choice>
              <mc:Fallback>
                <p:oleObj name="Equation" r:id="rId5" imgW="1511300" imgH="266700" progId="Equation.3">
                  <p:embed/>
                  <p:pic>
                    <p:nvPicPr>
                      <p:cNvPr id="8" name="Object 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467100" y="3436937"/>
                        <a:ext cx="5264150" cy="15795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66842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/>
          </p:nvPr>
        </p:nvGraphicFramePr>
        <p:xfrm>
          <a:off x="819150" y="1879600"/>
          <a:ext cx="10543036" cy="296672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2161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6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6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6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36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363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363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363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363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03632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5000"/>
                        <a:lumOff val="3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dirty="0"/>
                        <a:t>D1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dirty="0"/>
                        <a:t>D2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dirty="0"/>
                        <a:t>D3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T2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T3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T2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T3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T2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T3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Treatment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Control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39677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Equations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371600"/>
            <a:ext cx="10363200" cy="676275"/>
          </a:xfrm>
        </p:spPr>
        <p:txBody>
          <a:bodyPr/>
          <a:lstStyle/>
          <a:p>
            <a:r>
              <a:rPr lang="en-US" dirty="0"/>
              <a:t>MANOVA</a:t>
            </a:r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/>
          </p:nvPr>
        </p:nvGraphicFramePr>
        <p:xfrm>
          <a:off x="3463924" y="4719637"/>
          <a:ext cx="5330825" cy="884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" name="Equation" r:id="rId3" imgW="1422400" imgH="241300" progId="Equation.3">
                  <p:embed/>
                </p:oleObj>
              </mc:Choice>
              <mc:Fallback>
                <p:oleObj name="Equation" r:id="rId3" imgW="1422400" imgH="241300" progId="Equation.3">
                  <p:embed/>
                  <p:pic>
                    <p:nvPicPr>
                      <p:cNvPr id="7" name="Object 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463924" y="4719637"/>
                        <a:ext cx="5330825" cy="8842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4"/>
          <p:cNvGraphicFramePr>
            <a:graphicFrameLocks noChangeAspect="1"/>
          </p:cNvGraphicFramePr>
          <p:nvPr>
            <p:extLst/>
          </p:nvPr>
        </p:nvGraphicFramePr>
        <p:xfrm>
          <a:off x="1524000" y="2009775"/>
          <a:ext cx="9144000" cy="2765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3" name="Equation" r:id="rId5" imgW="4508500" imgH="1219200" progId="Equation.3">
                  <p:embed/>
                </p:oleObj>
              </mc:Choice>
              <mc:Fallback>
                <p:oleObj name="Equation" r:id="rId5" imgW="4508500" imgH="1219200" progId="Equation.3">
                  <p:embed/>
                  <p:pic>
                    <p:nvPicPr>
                      <p:cNvPr id="9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2009775"/>
                        <a:ext cx="9144000" cy="2765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65789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Test Statistic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371600"/>
            <a:ext cx="10363200" cy="723900"/>
          </a:xfrm>
        </p:spPr>
        <p:txBody>
          <a:bodyPr/>
          <a:lstStyle/>
          <a:p>
            <a:r>
              <a:rPr lang="en-US" dirty="0" err="1"/>
              <a:t>Wilk’s</a:t>
            </a:r>
            <a:r>
              <a:rPr lang="en-US" dirty="0"/>
              <a:t> Lambda</a:t>
            </a:r>
          </a:p>
        </p:txBody>
      </p:sp>
      <p:graphicFrame>
        <p:nvGraphicFramePr>
          <p:cNvPr id="4" name="Object 4"/>
          <p:cNvGraphicFramePr>
            <a:graphicFrameLocks noChangeAspect="1"/>
          </p:cNvGraphicFramePr>
          <p:nvPr>
            <p:extLst/>
          </p:nvPr>
        </p:nvGraphicFramePr>
        <p:xfrm>
          <a:off x="4086225" y="2800350"/>
          <a:ext cx="4038600" cy="180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5" name="Equation" r:id="rId3" imgW="1104421" imgH="495085" progId="Equation.3">
                  <p:embed/>
                </p:oleObj>
              </mc:Choice>
              <mc:Fallback>
                <p:oleObj name="Equation" r:id="rId3" imgW="1104421" imgH="495085" progId="Equation.3">
                  <p:embed/>
                  <p:pic>
                    <p:nvPicPr>
                      <p:cNvPr id="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86225" y="2800350"/>
                        <a:ext cx="4038600" cy="1809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38135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Test Statistic</a:t>
            </a: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/>
          </p:nvPr>
        </p:nvGraphicFramePr>
        <p:xfrm>
          <a:off x="2546350" y="1535113"/>
          <a:ext cx="7110413" cy="456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9" name="Equation" r:id="rId3" imgW="2895600" imgH="1854200" progId="Equation.3">
                  <p:embed/>
                </p:oleObj>
              </mc:Choice>
              <mc:Fallback>
                <p:oleObj name="Equation" r:id="rId3" imgW="2895600" imgH="1854200" progId="Equation.3">
                  <p:embed/>
                  <p:pic>
                    <p:nvPicPr>
                      <p:cNvPr id="4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6350" y="1535113"/>
                        <a:ext cx="7110413" cy="45624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75386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Understanding Test Statistics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Once test statistics are obtained they are translated to </a:t>
            </a:r>
            <a:r>
              <a:rPr lang="en-US" i="1" dirty="0"/>
              <a:t>F</a:t>
            </a:r>
            <a:r>
              <a:rPr lang="en-US" dirty="0"/>
              <a:t> statistics</a:t>
            </a:r>
          </a:p>
          <a:p>
            <a:r>
              <a:rPr lang="en-US" dirty="0"/>
              <a:t>The </a:t>
            </a:r>
            <a:r>
              <a:rPr lang="en-US" i="1" dirty="0"/>
              <a:t>F </a:t>
            </a:r>
            <a:r>
              <a:rPr lang="en-US" dirty="0"/>
              <a:t>statistic is calculated with its relation to the P-value</a:t>
            </a:r>
          </a:p>
          <a:p>
            <a:r>
              <a:rPr lang="en-US" dirty="0"/>
              <a:t>Our conclusion is then based on our statistical values compared to our </a:t>
            </a:r>
            <a:r>
              <a:rPr lang="el-GR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-value (generally </a:t>
            </a:r>
            <a:r>
              <a:rPr lang="el-GR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=.05)</a:t>
            </a:r>
          </a:p>
          <a:p>
            <a:endParaRPr lang="en-US" dirty="0"/>
          </a:p>
          <a:p>
            <a:endParaRPr lang="en-US" dirty="0"/>
          </a:p>
          <a:p>
            <a:endParaRPr lang="en-US" i="1" dirty="0"/>
          </a:p>
        </p:txBody>
      </p:sp>
      <p:sp>
        <p:nvSpPr>
          <p:cNvPr id="4" name="TextBox 3"/>
          <p:cNvSpPr txBox="1"/>
          <p:nvPr/>
        </p:nvSpPr>
        <p:spPr>
          <a:xfrm>
            <a:off x="9265534" y="5486400"/>
            <a:ext cx="14121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nion"/>
                <a:ea typeface="ＭＳ Ｐゴシック"/>
                <a:cs typeface="+mn-cs"/>
              </a:rPr>
              <a:t>Carey, 1998</a:t>
            </a:r>
          </a:p>
        </p:txBody>
      </p:sp>
    </p:spTree>
    <p:extLst>
      <p:ext uri="{BB962C8B-B14F-4D97-AF65-F5344CB8AC3E}">
        <p14:creationId xmlns:p14="http://schemas.microsoft.com/office/powerpoint/2010/main" val="8268725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Rejecting/Failing to reject the Null Hypothesis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we </a:t>
            </a:r>
            <a:r>
              <a:rPr lang="en-US" b="1" dirty="0"/>
              <a:t>fail</a:t>
            </a:r>
            <a:r>
              <a:rPr lang="en-US" dirty="0"/>
              <a:t> to reject the Null</a:t>
            </a:r>
          </a:p>
          <a:p>
            <a:pPr lvl="1"/>
            <a:r>
              <a:rPr lang="en-US" dirty="0"/>
              <a:t>We conclude that there are no statistical differences between groups</a:t>
            </a:r>
          </a:p>
          <a:p>
            <a:r>
              <a:rPr lang="en-US" dirty="0"/>
              <a:t>If we </a:t>
            </a:r>
            <a:r>
              <a:rPr lang="en-US" b="1" dirty="0"/>
              <a:t>reject</a:t>
            </a:r>
            <a:r>
              <a:rPr lang="en-US" dirty="0"/>
              <a:t> the Null</a:t>
            </a:r>
          </a:p>
          <a:p>
            <a:pPr lvl="1"/>
            <a:r>
              <a:rPr lang="en-US" dirty="0"/>
              <a:t>There is a difference in mean </a:t>
            </a:r>
            <a:r>
              <a:rPr lang="en-US" i="1" dirty="0"/>
              <a:t>vectors</a:t>
            </a:r>
            <a:r>
              <a:rPr lang="en-US" dirty="0"/>
              <a:t> for several groups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265534" y="5486400"/>
            <a:ext cx="14121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nion"/>
                <a:ea typeface="ＭＳ Ｐゴシック"/>
                <a:cs typeface="+mn-cs"/>
              </a:rPr>
              <a:t>Carey, 1998</a:t>
            </a:r>
          </a:p>
        </p:txBody>
      </p:sp>
    </p:spTree>
    <p:extLst>
      <p:ext uri="{BB962C8B-B14F-4D97-AF65-F5344CB8AC3E}">
        <p14:creationId xmlns:p14="http://schemas.microsoft.com/office/powerpoint/2010/main" val="5492819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 of MANOVA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Will not tell us which groups differ from which other groups on their mean </a:t>
            </a:r>
            <a:r>
              <a:rPr lang="en-US" i="1" dirty="0"/>
              <a:t>vectors</a:t>
            </a:r>
          </a:p>
          <a:p>
            <a:r>
              <a:rPr lang="en-US" dirty="0"/>
              <a:t>Also, will not tell us which variables are responsible for the differences in mean vectors</a:t>
            </a:r>
          </a:p>
          <a:p>
            <a:pPr lvl="1"/>
            <a:r>
              <a:rPr lang="en-US" dirty="0"/>
              <a:t>Can be overcome by proper contrast coding</a:t>
            </a:r>
          </a:p>
          <a:p>
            <a:r>
              <a:rPr lang="en-US" dirty="0"/>
              <a:t>Extremely sensitive to outlier</a:t>
            </a:r>
          </a:p>
          <a:p>
            <a:pPr lvl="1"/>
            <a:r>
              <a:rPr lang="en-US" dirty="0"/>
              <a:t>Outliers may produce either a Type I or Type II error with no indication of which is occurring</a:t>
            </a:r>
          </a:p>
          <a:p>
            <a:pPr lvl="1"/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265534" y="5486400"/>
            <a:ext cx="14121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nion"/>
                <a:ea typeface="ＭＳ Ｐゴシック"/>
                <a:cs typeface="+mn-cs"/>
              </a:rPr>
              <a:t>Carey, 1998</a:t>
            </a:r>
          </a:p>
        </p:txBody>
      </p:sp>
    </p:spTree>
    <p:extLst>
      <p:ext uri="{BB962C8B-B14F-4D97-AF65-F5344CB8AC3E}">
        <p14:creationId xmlns:p14="http://schemas.microsoft.com/office/powerpoint/2010/main" val="27715151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Literature Cited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Ainsworth, A. 2006. Psychology 524: Applied Multivariate Statistics. California State University Northridge-Psychology Department. Web. 12-1-2016. &lt;</a:t>
            </a:r>
            <a:r>
              <a:rPr lang="en-US" sz="2000" i="1" dirty="0"/>
              <a:t>www.csun.edu/~ata20315/psy524/docs/Psy524%20lecture%2011%20MANOVA2.ppt&gt;.</a:t>
            </a:r>
            <a:endParaRPr lang="en-US" sz="2000" dirty="0"/>
          </a:p>
          <a:p>
            <a:r>
              <a:rPr lang="en-US" sz="2000" dirty="0"/>
              <a:t>Carey, G. (1998). Multivariate analysis of variance (MANOVA): I. </a:t>
            </a:r>
            <a:r>
              <a:rPr lang="en-US" sz="2000" i="1" dirty="0"/>
              <a:t>Theory. Retrieved March</a:t>
            </a:r>
            <a:r>
              <a:rPr lang="en-US" sz="2000" dirty="0"/>
              <a:t>, </a:t>
            </a:r>
            <a:r>
              <a:rPr lang="en-US" sz="2000" i="1" dirty="0"/>
              <a:t>6</a:t>
            </a:r>
            <a:r>
              <a:rPr lang="en-US" sz="2000" dirty="0"/>
              <a:t>, 	2007.</a:t>
            </a:r>
          </a:p>
          <a:p>
            <a:r>
              <a:rPr lang="en-US" sz="2000" dirty="0"/>
              <a:t>Carey, G. (1998). Multivariate analysis of variance (MANOVA) II: practical guide to ANOVA and 	MANOVA for SAS. </a:t>
            </a:r>
            <a:r>
              <a:rPr lang="en-US" sz="2000" i="1" dirty="0"/>
              <a:t>Retrieved September</a:t>
            </a:r>
            <a:r>
              <a:rPr lang="en-US" sz="2000" dirty="0"/>
              <a:t>, </a:t>
            </a:r>
            <a:r>
              <a:rPr lang="en-US" sz="2000" i="1" dirty="0"/>
              <a:t>1</a:t>
            </a:r>
            <a:r>
              <a:rPr lang="en-US" sz="2000" dirty="0"/>
              <a:t>, 2009.</a:t>
            </a:r>
          </a:p>
          <a:p>
            <a:r>
              <a:rPr lang="en-US" sz="2000" dirty="0"/>
              <a:t>French, A., Macedo, M., </a:t>
            </a:r>
            <a:r>
              <a:rPr lang="en-US" sz="2000" dirty="0" err="1"/>
              <a:t>Poulsen</a:t>
            </a:r>
            <a:r>
              <a:rPr lang="en-US" sz="2000" dirty="0"/>
              <a:t>, J., Waterson, T., &amp; Yu, A. (2008). Multivariate analysis of 	variance (MANOVA). </a:t>
            </a:r>
            <a:r>
              <a:rPr lang="en-US" sz="2000" i="1" dirty="0"/>
              <a:t>2008-06-03 [2013-01-31]. http://</a:t>
            </a:r>
            <a:r>
              <a:rPr lang="en-US" sz="2000" i="1" dirty="0" err="1"/>
              <a:t>userwww</a:t>
            </a:r>
            <a:r>
              <a:rPr lang="en-US" sz="2000" i="1" dirty="0"/>
              <a:t>. </a:t>
            </a:r>
            <a:r>
              <a:rPr lang="en-US" sz="2000" i="1" dirty="0" err="1"/>
              <a:t>sfsu</a:t>
            </a:r>
            <a:r>
              <a:rPr lang="en-US" sz="2000" i="1" dirty="0"/>
              <a:t>. 	</a:t>
            </a:r>
            <a:r>
              <a:rPr lang="en-US" sz="2000" i="1" dirty="0" err="1"/>
              <a:t>edu</a:t>
            </a:r>
            <a:r>
              <a:rPr lang="en-US" sz="2000" i="1" dirty="0"/>
              <a:t>/</a:t>
            </a:r>
            <a:r>
              <a:rPr lang="en-US" sz="2000" i="1" dirty="0" err="1"/>
              <a:t>efc</a:t>
            </a:r>
            <a:r>
              <a:rPr lang="en-US" sz="2000" i="1" dirty="0"/>
              <a:t>/classes/biol710/</a:t>
            </a:r>
            <a:r>
              <a:rPr lang="en-US" sz="2000" i="1" dirty="0" err="1"/>
              <a:t>manova</a:t>
            </a:r>
            <a:r>
              <a:rPr lang="en-US" sz="2000" i="1" dirty="0"/>
              <a:t>/MANOVA newest, pdf</a:t>
            </a:r>
            <a:r>
              <a:rPr lang="en-US" sz="2000" dirty="0"/>
              <a:t>.</a:t>
            </a:r>
          </a:p>
          <a:p>
            <a:r>
              <a:rPr lang="en-US" sz="2000" dirty="0"/>
              <a:t>Online Statistics Education: A Multimedia Course of Study (http://</a:t>
            </a:r>
            <a:r>
              <a:rPr lang="en-US" sz="2000" dirty="0" err="1"/>
              <a:t>onlinestatbook.com</a:t>
            </a:r>
            <a:r>
              <a:rPr lang="en-US" sz="2000" dirty="0"/>
              <a:t>/). 	Project Leader: </a:t>
            </a:r>
            <a:r>
              <a:rPr lang="en-US" sz="2000" dirty="0">
                <a:hlinkClick r:id="rId2"/>
              </a:rPr>
              <a:t>David M. Lane</a:t>
            </a:r>
            <a:r>
              <a:rPr lang="en-US" sz="2000" dirty="0"/>
              <a:t>, Rice University.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57554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062045" y="1310053"/>
            <a:ext cx="337624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/>
              <a:t>Questions? </a:t>
            </a:r>
          </a:p>
        </p:txBody>
      </p:sp>
    </p:spTree>
    <p:extLst>
      <p:ext uri="{BB962C8B-B14F-4D97-AF65-F5344CB8AC3E}">
        <p14:creationId xmlns:p14="http://schemas.microsoft.com/office/powerpoint/2010/main" val="1702973096"/>
      </p:ext>
    </p:extLst>
  </p:cSld>
  <p:clrMapOvr>
    <a:masterClrMapping/>
  </p:clrMapOvr>
</p:sld>
</file>

<file path=ppt/theme/theme1.xml><?xml version="1.0" encoding="utf-8"?>
<a:theme xmlns:a="http://schemas.openxmlformats.org/drawingml/2006/main" name="Nebraska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 Presentation">
      <a:majorFont>
        <a:latin typeface="URWGroteskTBol"/>
        <a:ea typeface="ＭＳ Ｐゴシック"/>
        <a:cs typeface=""/>
      </a:majorFont>
      <a:minorFont>
        <a:latin typeface="Minion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-4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-4" charset="-128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Nebraska" id="{3FCD1571-1996-4C97-8D74-06733BF78708}" vid="{1393C19B-E2AC-4F52-9D03-EF6D5A7720F1}"/>
    </a:ext>
  </a:extLst>
</a:theme>
</file>

<file path=ppt/theme/theme2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 Presentation">
      <a:majorFont>
        <a:latin typeface="URWGroteskTBol"/>
        <a:ea typeface="ＭＳ Ｐゴシック"/>
        <a:cs typeface=""/>
      </a:majorFont>
      <a:minorFont>
        <a:latin typeface="Minion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-4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-4" charset="-128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_Nebraska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 Presentation">
      <a:majorFont>
        <a:latin typeface="URWGroteskTBol"/>
        <a:ea typeface="ＭＳ Ｐゴシック"/>
        <a:cs typeface=""/>
      </a:majorFont>
      <a:minorFont>
        <a:latin typeface="Minion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-4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-4" charset="-128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Nebraska" id="{3FCD1571-1996-4C97-8D74-06733BF78708}" vid="{1393C19B-E2AC-4F52-9D03-EF6D5A7720F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Nebraska</Template>
  <TotalTime>53</TotalTime>
  <Words>599</Words>
  <Application>Microsoft Office PowerPoint</Application>
  <PresentationFormat>Widescreen</PresentationFormat>
  <Paragraphs>140</Paragraphs>
  <Slides>16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6" baseType="lpstr">
      <vt:lpstr>ＭＳ Ｐゴシック</vt:lpstr>
      <vt:lpstr>Arial</vt:lpstr>
      <vt:lpstr>Minion</vt:lpstr>
      <vt:lpstr>Times New Roman</vt:lpstr>
      <vt:lpstr>URWGroteskTBol</vt:lpstr>
      <vt:lpstr>URWGroteskTReg</vt:lpstr>
      <vt:lpstr>Nebraska</vt:lpstr>
      <vt:lpstr>Blank Presentation</vt:lpstr>
      <vt:lpstr>1_Nebraska</vt:lpstr>
      <vt:lpstr>Equation</vt:lpstr>
      <vt:lpstr>Multivariate Analysis of Variance (MANOVA)</vt:lpstr>
      <vt:lpstr>What is MANOVA? </vt:lpstr>
      <vt:lpstr>Comparing MANOVA to ANOVA</vt:lpstr>
      <vt:lpstr>What kind of questions can be answered with MANOVA? </vt:lpstr>
      <vt:lpstr>Assumptions for MANOVA </vt:lpstr>
      <vt:lpstr>Special Circumstances</vt:lpstr>
      <vt:lpstr>Equations</vt:lpstr>
      <vt:lpstr>PowerPoint Presentation</vt:lpstr>
      <vt:lpstr>Equations</vt:lpstr>
      <vt:lpstr>Test Statistic</vt:lpstr>
      <vt:lpstr>Test Statistic</vt:lpstr>
      <vt:lpstr>Understanding Test Statistics</vt:lpstr>
      <vt:lpstr>Rejecting/Failing to reject the Null Hypothesis</vt:lpstr>
      <vt:lpstr>Limitations of MANOVA</vt:lpstr>
      <vt:lpstr>Literature Cited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Multivariate Analysis of Variance (MANOVA)</dc:title>
  <dc:creator>Caitlin Ohnoutka</dc:creator>
  <cp:lastModifiedBy>Caitlin Ohnoutka</cp:lastModifiedBy>
  <cp:revision>8</cp:revision>
  <dcterms:created xsi:type="dcterms:W3CDTF">2016-12-01T19:09:46Z</dcterms:created>
  <dcterms:modified xsi:type="dcterms:W3CDTF">2016-12-05T14:57:41Z</dcterms:modified>
</cp:coreProperties>
</file>