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 id="2147483666" r:id="rId2"/>
  </p:sldMasterIdLst>
  <p:notesMasterIdLst>
    <p:notesMasterId r:id="rId2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58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365456070"/>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685800" y="4400550"/>
            <a:ext cx="5486399" cy="360045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72" name="Shape 72"/>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7410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Shape 77"/>
          <p:cNvSpPr txBox="1">
            <a:spLocks noGrp="1"/>
          </p:cNvSpPr>
          <p:nvPr>
            <p:ph type="body" idx="1"/>
          </p:nvPr>
        </p:nvSpPr>
        <p:spPr>
          <a:xfrm>
            <a:off x="685800" y="4400550"/>
            <a:ext cx="5486399" cy="360045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78" name="Shape 78"/>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8691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Shape 82"/>
          <p:cNvSpPr txBox="1">
            <a:spLocks noGrp="1"/>
          </p:cNvSpPr>
          <p:nvPr>
            <p:ph type="body" idx="1"/>
          </p:nvPr>
        </p:nvSpPr>
        <p:spPr>
          <a:xfrm>
            <a:off x="685800" y="4400550"/>
            <a:ext cx="5486400" cy="36006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83" name="Shape 83"/>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5160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8" name="Shape 88"/>
          <p:cNvSpPr txBox="1">
            <a:spLocks noGrp="1"/>
          </p:cNvSpPr>
          <p:nvPr>
            <p:ph type="body" idx="1"/>
          </p:nvPr>
        </p:nvSpPr>
        <p:spPr>
          <a:xfrm>
            <a:off x="685800" y="4400550"/>
            <a:ext cx="5486399" cy="3600450"/>
          </a:xfrm>
          <a:prstGeom prst="rect">
            <a:avLst/>
          </a:prstGeom>
          <a:noFill/>
          <a:ln>
            <a:noFill/>
          </a:ln>
        </p:spPr>
        <p:txBody>
          <a:bodyPr lIns="91425" tIns="45700" rIns="91425" bIns="45700" anchor="t" anchorCtr="0">
            <a:noAutofit/>
          </a:bodyPr>
          <a:lstStyle/>
          <a:p>
            <a:pPr marL="0" marR="0" lvl="0" indent="0" algn="l" rtl="0">
              <a:spcBef>
                <a:spcPts val="0"/>
              </a:spcBef>
              <a:buNone/>
            </a:pPr>
            <a:endParaRPr sz="1200" b="0" i="0" u="none" strike="noStrike" cap="none">
              <a:solidFill>
                <a:schemeClr val="dk1"/>
              </a:solidFill>
              <a:latin typeface="Calibri"/>
              <a:ea typeface="Calibri"/>
              <a:cs typeface="Calibri"/>
              <a:sym typeface="Calibri"/>
            </a:endParaRPr>
          </a:p>
        </p:txBody>
      </p:sp>
      <p:sp>
        <p:nvSpPr>
          <p:cNvPr id="89" name="Shape 89"/>
          <p:cNvSpPr txBox="1">
            <a:spLocks noGrp="1"/>
          </p:cNvSpPr>
          <p:nvPr>
            <p:ph type="sldNum" idx="12"/>
          </p:nvPr>
        </p:nvSpPr>
        <p:spPr>
          <a:xfrm>
            <a:off x="3884612" y="8685213"/>
            <a:ext cx="2971799" cy="458786"/>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 sz="1200">
                <a:solidFill>
                  <a:schemeClr val="dk1"/>
                </a:solidFill>
                <a:latin typeface="Calibri"/>
                <a:ea typeface="Calibri"/>
                <a:cs typeface="Calibri"/>
                <a:sym typeface="Calibri"/>
              </a:rPr>
              <a:t>4</a:t>
            </a:fld>
            <a:endParaRPr lang="en"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39374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6" name="Shape 9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002705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Shape 10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4" name="Shape 10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641948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0" name="Shape 1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34840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Shape 12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2" name="Shape 12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349238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7" name="Shape 127"/>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973224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Shape 1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4" name="Shape 13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475167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Shape 1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0" name="Shape 14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sz="1200">
                <a:solidFill>
                  <a:srgbClr val="080E14"/>
                </a:solidFill>
                <a:highlight>
                  <a:srgbClr val="FFFFFF"/>
                </a:highlight>
              </a:rPr>
              <a:t>In a real life problem, you will have more number of population sample and different combinations of input variables.</a:t>
            </a:r>
          </a:p>
        </p:txBody>
      </p:sp>
    </p:spTree>
    <p:extLst>
      <p:ext uri="{BB962C8B-B14F-4D97-AF65-F5344CB8AC3E}">
        <p14:creationId xmlns:p14="http://schemas.microsoft.com/office/powerpoint/2010/main" val="142357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Shape 14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7" name="Shape 147"/>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88263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Shape 1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7" name="Shape 157"/>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sz="1200">
                <a:solidFill>
                  <a:srgbClr val="080E14"/>
                </a:solidFill>
                <a:highlight>
                  <a:srgbClr val="FFFFFF"/>
                </a:highlight>
              </a:rPr>
              <a:t>The final probability is simply the average of the probability in the same salary bands in different CART models. As you can see from this analysis, that there is 70% chance of this individual falling in class 1 (less than $40,000) and around 24% chance of the individual falling in class 2.</a:t>
            </a:r>
          </a:p>
          <a:p>
            <a:pPr lvl="0" rtl="0">
              <a:spcBef>
                <a:spcPts val="0"/>
              </a:spcBef>
              <a:buNone/>
            </a:pPr>
            <a:r>
              <a:rPr lang="en" sz="1200">
                <a:solidFill>
                  <a:srgbClr val="080E14"/>
                </a:solidFill>
                <a:highlight>
                  <a:srgbClr val="FFFFFF"/>
                </a:highlight>
              </a:rPr>
              <a:t>The random forests capture the variance of several input variables at the same time and enables high number of observations to participate in the prediction.</a:t>
            </a:r>
          </a:p>
        </p:txBody>
      </p:sp>
    </p:spTree>
    <p:extLst>
      <p:ext uri="{BB962C8B-B14F-4D97-AF65-F5344CB8AC3E}">
        <p14:creationId xmlns:p14="http://schemas.microsoft.com/office/powerpoint/2010/main" val="21068654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Shape 1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3" name="Shape 16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5952258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Shape 16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8" name="Shape 16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Prediction is more accurate the closer it is to the mean.</a:t>
            </a:r>
          </a:p>
          <a:p>
            <a:pPr lvl="0">
              <a:spcBef>
                <a:spcPts val="0"/>
              </a:spcBef>
              <a:buNone/>
            </a:pPr>
            <a:r>
              <a:rPr lang="en"/>
              <a:t>minimizer= yhat = average of the y’s</a:t>
            </a:r>
          </a:p>
        </p:txBody>
      </p:sp>
    </p:spTree>
    <p:extLst>
      <p:ext uri="{BB962C8B-B14F-4D97-AF65-F5344CB8AC3E}">
        <p14:creationId xmlns:p14="http://schemas.microsoft.com/office/powerpoint/2010/main" val="27769283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7" name="Shape 177"/>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sz="1000"/>
              <a:t>In random forest: We create subsets by sampling with replacement. Repeat decision tree construction for each subset and the predictor is the the average of an ensemble of trees. Randomize both data and variables. The overall variance is reduced. </a:t>
            </a:r>
            <a:r>
              <a:rPr lang="en" sz="1000">
                <a:solidFill>
                  <a:schemeClr val="dk1"/>
                </a:solidFill>
              </a:rPr>
              <a:t>Predicting drought conditions in different regions</a:t>
            </a:r>
          </a:p>
          <a:p>
            <a:pPr lvl="0" rtl="0">
              <a:spcBef>
                <a:spcPts val="0"/>
              </a:spcBef>
              <a:buNone/>
            </a:pPr>
            <a:endParaRPr/>
          </a:p>
        </p:txBody>
      </p:sp>
    </p:spTree>
    <p:extLst>
      <p:ext uri="{BB962C8B-B14F-4D97-AF65-F5344CB8AC3E}">
        <p14:creationId xmlns:p14="http://schemas.microsoft.com/office/powerpoint/2010/main" val="10946619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Shape 18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5" name="Shape 18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4720585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Shape 1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0" name="Shape 19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5200764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Shape 19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6" name="Shape 19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355186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400550"/>
            <a:ext cx="5486399" cy="360045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02" name="Shape 202"/>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79307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400550"/>
            <a:ext cx="5486399" cy="360045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02" name="Shape 202"/>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8780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lIns="91425" tIns="91425" rIns="91425" bIns="91425" anchor="b" anchorCtr="0"/>
          <a:lstStyle>
            <a:lvl1pPr lvl="0" algn="ctr">
              <a:spcBef>
                <a:spcPts val="0"/>
              </a:spcBef>
              <a:buSzPct val="100000"/>
              <a:defRPr sz="5200"/>
            </a:lvl1pPr>
            <a:lvl2pPr lvl="1" algn="ctr">
              <a:spcBef>
                <a:spcPts val="0"/>
              </a:spcBef>
              <a:buSzPct val="100000"/>
              <a:defRPr sz="5200"/>
            </a:lvl2pPr>
            <a:lvl3pPr lvl="2" algn="ctr">
              <a:spcBef>
                <a:spcPts val="0"/>
              </a:spcBef>
              <a:buSzPct val="100000"/>
              <a:defRPr sz="5200"/>
            </a:lvl3pPr>
            <a:lvl4pPr lvl="3" algn="ctr">
              <a:spcBef>
                <a:spcPts val="0"/>
              </a:spcBef>
              <a:buSzPct val="100000"/>
              <a:defRPr sz="5200"/>
            </a:lvl4pPr>
            <a:lvl5pPr lvl="4" algn="ctr">
              <a:spcBef>
                <a:spcPts val="0"/>
              </a:spcBef>
              <a:buSzPct val="100000"/>
              <a:defRPr sz="5200"/>
            </a:lvl5pPr>
            <a:lvl6pPr lvl="5" algn="ctr">
              <a:spcBef>
                <a:spcPts val="0"/>
              </a:spcBef>
              <a:buSzPct val="100000"/>
              <a:defRPr sz="5200"/>
            </a:lvl6pPr>
            <a:lvl7pPr lvl="6" algn="ctr">
              <a:spcBef>
                <a:spcPts val="0"/>
              </a:spcBef>
              <a:buSzPct val="100000"/>
              <a:defRPr sz="5200"/>
            </a:lvl7pPr>
            <a:lvl8pPr lvl="7" algn="ctr">
              <a:spcBef>
                <a:spcPts val="0"/>
              </a:spcBef>
              <a:buSzPct val="100000"/>
              <a:defRPr sz="5200"/>
            </a:lvl8pPr>
            <a:lvl9pPr lvl="8" algn="ctr">
              <a:spcBef>
                <a:spcPts val="0"/>
              </a:spcBef>
              <a:buSzPct val="100000"/>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800"/>
            </a:lvl1pPr>
            <a:lvl2pPr lvl="1" algn="ctr">
              <a:lnSpc>
                <a:spcPct val="100000"/>
              </a:lnSpc>
              <a:spcBef>
                <a:spcPts val="0"/>
              </a:spcBef>
              <a:spcAft>
                <a:spcPts val="0"/>
              </a:spcAft>
              <a:buSzPct val="100000"/>
              <a:buNone/>
              <a:defRPr sz="2800"/>
            </a:lvl2pPr>
            <a:lvl3pPr lvl="2" algn="ctr">
              <a:lnSpc>
                <a:spcPct val="100000"/>
              </a:lnSpc>
              <a:spcBef>
                <a:spcPts val="0"/>
              </a:spcBef>
              <a:spcAft>
                <a:spcPts val="0"/>
              </a:spcAft>
              <a:buSzPct val="100000"/>
              <a:buNone/>
              <a:defRPr sz="2800"/>
            </a:lvl3pPr>
            <a:lvl4pPr lvl="3" algn="ctr">
              <a:lnSpc>
                <a:spcPct val="100000"/>
              </a:lnSpc>
              <a:spcBef>
                <a:spcPts val="0"/>
              </a:spcBef>
              <a:spcAft>
                <a:spcPts val="0"/>
              </a:spcAft>
              <a:buSzPct val="100000"/>
              <a:buNone/>
              <a:defRPr sz="2800"/>
            </a:lvl4pPr>
            <a:lvl5pPr lvl="4" algn="ctr">
              <a:lnSpc>
                <a:spcPct val="100000"/>
              </a:lnSpc>
              <a:spcBef>
                <a:spcPts val="0"/>
              </a:spcBef>
              <a:spcAft>
                <a:spcPts val="0"/>
              </a:spcAft>
              <a:buSzPct val="100000"/>
              <a:buNone/>
              <a:defRPr sz="2800"/>
            </a:lvl5pPr>
            <a:lvl6pPr lvl="5" algn="ctr">
              <a:lnSpc>
                <a:spcPct val="100000"/>
              </a:lnSpc>
              <a:spcBef>
                <a:spcPts val="0"/>
              </a:spcBef>
              <a:spcAft>
                <a:spcPts val="0"/>
              </a:spcAft>
              <a:buSzPct val="100000"/>
              <a:buNone/>
              <a:defRPr sz="2800"/>
            </a:lvl6pPr>
            <a:lvl7pPr lvl="6" algn="ctr">
              <a:lnSpc>
                <a:spcPct val="100000"/>
              </a:lnSpc>
              <a:spcBef>
                <a:spcPts val="0"/>
              </a:spcBef>
              <a:spcAft>
                <a:spcPts val="0"/>
              </a:spcAft>
              <a:buSzPct val="100000"/>
              <a:buNone/>
              <a:defRPr sz="2800"/>
            </a:lvl7pPr>
            <a:lvl8pPr lvl="7" algn="ctr">
              <a:lnSpc>
                <a:spcPct val="100000"/>
              </a:lnSpc>
              <a:spcBef>
                <a:spcPts val="0"/>
              </a:spcBef>
              <a:spcAft>
                <a:spcPts val="0"/>
              </a:spcAft>
              <a:buSzPct val="100000"/>
              <a:buNone/>
              <a:defRPr sz="2800"/>
            </a:lvl8pPr>
            <a:lvl9pPr lvl="8" algn="ctr">
              <a:lnSpc>
                <a:spcPct val="100000"/>
              </a:lnSpc>
              <a:spcBef>
                <a:spcPts val="0"/>
              </a:spcBef>
              <a:spcAft>
                <a:spcPts val="0"/>
              </a:spcAft>
              <a:buSzPct val="100000"/>
              <a:buNone/>
              <a:defRPr sz="2800"/>
            </a:lvl9pPr>
          </a:lstStyle>
          <a:p>
            <a:endParaRPr/>
          </a:p>
        </p:txBody>
      </p:sp>
      <p:sp>
        <p:nvSpPr>
          <p:cNvPr id="12" name="Shape 12"/>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lIns="91425" tIns="91425" rIns="91425" bIns="91425" anchor="ctr" anchorCtr="0"/>
          <a:lstStyle>
            <a:lvl1pPr lvl="0" algn="ctr">
              <a:spcBef>
                <a:spcPts val="0"/>
              </a:spcBef>
              <a:buSzPct val="100000"/>
              <a:defRPr sz="3600"/>
            </a:lvl1pPr>
            <a:lvl2pPr lvl="1" algn="ctr">
              <a:spcBef>
                <a:spcPts val="0"/>
              </a:spcBef>
              <a:buSzPct val="100000"/>
              <a:defRPr sz="3600"/>
            </a:lvl2pPr>
            <a:lvl3pPr lvl="2" algn="ctr">
              <a:spcBef>
                <a:spcPts val="0"/>
              </a:spcBef>
              <a:buSzPct val="100000"/>
              <a:defRPr sz="3600"/>
            </a:lvl3pPr>
            <a:lvl4pPr lvl="3" algn="ctr">
              <a:spcBef>
                <a:spcPts val="0"/>
              </a:spcBef>
              <a:buSzPct val="100000"/>
              <a:defRPr sz="3600"/>
            </a:lvl4pPr>
            <a:lvl5pPr lvl="4" algn="ctr">
              <a:spcBef>
                <a:spcPts val="0"/>
              </a:spcBef>
              <a:buSzPct val="100000"/>
              <a:defRPr sz="3600"/>
            </a:lvl5pPr>
            <a:lvl6pPr lvl="5" algn="ctr">
              <a:spcBef>
                <a:spcPts val="0"/>
              </a:spcBef>
              <a:buSzPct val="100000"/>
              <a:defRPr sz="3600"/>
            </a:lvl6pPr>
            <a:lvl7pPr lvl="6" algn="ctr">
              <a:spcBef>
                <a:spcPts val="0"/>
              </a:spcBef>
              <a:buSzPct val="100000"/>
              <a:defRPr sz="3600"/>
            </a:lvl7pPr>
            <a:lvl8pPr lvl="7" algn="ctr">
              <a:spcBef>
                <a:spcPts val="0"/>
              </a:spcBef>
              <a:buSzPct val="100000"/>
              <a:defRPr sz="3600"/>
            </a:lvl8pPr>
            <a:lvl9pPr lvl="8" algn="ctr">
              <a:spcBef>
                <a:spcPts val="0"/>
              </a:spcBef>
              <a:buSzPct val="100000"/>
              <a:defRPr sz="3600"/>
            </a:lvl9pPr>
          </a:lstStyle>
          <a:p>
            <a:endParaRPr/>
          </a:p>
        </p:txBody>
      </p:sp>
      <p:sp>
        <p:nvSpPr>
          <p:cNvPr id="15" name="Shape 15"/>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9" name="Shape 19"/>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body" idx="1"/>
          </p:nvPr>
        </p:nvSpPr>
        <p:spPr>
          <a:xfrm>
            <a:off x="311700" y="1152475"/>
            <a:ext cx="3999900" cy="34164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3" name="Shape 23"/>
          <p:cNvSpPr txBox="1">
            <a:spLocks noGrp="1"/>
          </p:cNvSpPr>
          <p:nvPr>
            <p:ph type="body" idx="2"/>
          </p:nvPr>
        </p:nvSpPr>
        <p:spPr>
          <a:xfrm>
            <a:off x="4832400" y="1152475"/>
            <a:ext cx="3999900" cy="34164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4" name="Shape 2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7" name="Shape 27"/>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1" name="Shape 31"/>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lIns="91425" tIns="91425" rIns="91425" bIns="91425" anchor="ctr" anchorCtr="0"/>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a:endParaRPr/>
          </a:p>
        </p:txBody>
      </p:sp>
      <p:sp>
        <p:nvSpPr>
          <p:cNvPr id="34" name="Shape 3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lIns="91425" tIns="91425" rIns="91425" bIns="91425" anchor="ctr" anchorCtr="0">
            <a:noAutofit/>
          </a:bodyPr>
          <a:lstStyle/>
          <a:p>
            <a:pPr lvl="0">
              <a:spcBef>
                <a:spcPts val="0"/>
              </a:spcBef>
              <a:buNone/>
            </a:pPr>
            <a:endParaRPr/>
          </a:p>
        </p:txBody>
      </p:sp>
      <p:sp>
        <p:nvSpPr>
          <p:cNvPr id="37" name="Shape 37"/>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0" name="Shape 40"/>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lIns="91425" tIns="91425" rIns="91425" bIns="91425" anchor="ctr" anchorCtr="0"/>
          <a:lstStyle>
            <a:lvl1pPr lvl="0">
              <a:lnSpc>
                <a:spcPct val="100000"/>
              </a:lnSpc>
              <a:spcBef>
                <a:spcPts val="0"/>
              </a:spcBef>
              <a:spcAft>
                <a:spcPts val="0"/>
              </a:spcAft>
              <a:buNone/>
              <a:defRPr/>
            </a:lvl1pPr>
          </a:lstStyle>
          <a:p>
            <a:endParaRPr/>
          </a:p>
        </p:txBody>
      </p:sp>
      <p:sp>
        <p:nvSpPr>
          <p:cNvPr id="43" name="Shape 43"/>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106125"/>
            <a:ext cx="8520600" cy="1963500"/>
          </a:xfrm>
          <a:prstGeom prst="rect">
            <a:avLst/>
          </a:prstGeom>
        </p:spPr>
        <p:txBody>
          <a:bodyPr lIns="91425" tIns="91425" rIns="91425" bIns="91425" anchor="b" anchorCtr="0"/>
          <a:lstStyle>
            <a:lvl1pPr lvl="0" algn="ctr">
              <a:spcBef>
                <a:spcPts val="0"/>
              </a:spcBef>
              <a:buSzPct val="100000"/>
              <a:defRPr sz="12000"/>
            </a:lvl1pPr>
            <a:lvl2pPr lvl="1" algn="ctr">
              <a:spcBef>
                <a:spcPts val="0"/>
              </a:spcBef>
              <a:buSzPct val="100000"/>
              <a:defRPr sz="12000"/>
            </a:lvl2pPr>
            <a:lvl3pPr lvl="2" algn="ctr">
              <a:spcBef>
                <a:spcPts val="0"/>
              </a:spcBef>
              <a:buSzPct val="100000"/>
              <a:defRPr sz="12000"/>
            </a:lvl3pPr>
            <a:lvl4pPr lvl="3" algn="ctr">
              <a:spcBef>
                <a:spcPts val="0"/>
              </a:spcBef>
              <a:buSzPct val="100000"/>
              <a:defRPr sz="12000"/>
            </a:lvl4pPr>
            <a:lvl5pPr lvl="4" algn="ctr">
              <a:spcBef>
                <a:spcPts val="0"/>
              </a:spcBef>
              <a:buSzPct val="100000"/>
              <a:defRPr sz="12000"/>
            </a:lvl5pPr>
            <a:lvl6pPr lvl="5" algn="ctr">
              <a:spcBef>
                <a:spcPts val="0"/>
              </a:spcBef>
              <a:buSzPct val="100000"/>
              <a:defRPr sz="12000"/>
            </a:lvl6pPr>
            <a:lvl7pPr lvl="6" algn="ctr">
              <a:spcBef>
                <a:spcPts val="0"/>
              </a:spcBef>
              <a:buSzPct val="100000"/>
              <a:defRPr sz="12000"/>
            </a:lvl7pPr>
            <a:lvl8pPr lvl="7" algn="ctr">
              <a:spcBef>
                <a:spcPts val="0"/>
              </a:spcBef>
              <a:buSzPct val="100000"/>
              <a:defRPr sz="12000"/>
            </a:lvl8pPr>
            <a:lvl9pPr lvl="8" algn="ctr">
              <a:spcBef>
                <a:spcPts val="0"/>
              </a:spcBef>
              <a:buSzPct val="100000"/>
              <a:defRPr sz="12000"/>
            </a:lvl9pPr>
          </a:lstStyle>
          <a:p>
            <a:endParaRPr/>
          </a:p>
        </p:txBody>
      </p:sp>
      <p:sp>
        <p:nvSpPr>
          <p:cNvPr id="46" name="Shape 46"/>
          <p:cNvSpPr txBox="1">
            <a:spLocks noGrp="1"/>
          </p:cNvSpPr>
          <p:nvPr>
            <p:ph type="body" idx="1"/>
          </p:nvPr>
        </p:nvSpPr>
        <p:spPr>
          <a:xfrm>
            <a:off x="311700" y="3152225"/>
            <a:ext cx="8520600" cy="1300800"/>
          </a:xfrm>
          <a:prstGeom prst="rect">
            <a:avLst/>
          </a:prstGeom>
        </p:spPr>
        <p:txBody>
          <a:bodyPr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47" name="Shape 47"/>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lide">
    <p:bg>
      <p:bgPr>
        <a:blipFill rotWithShape="1">
          <a:blip r:embed="rId2">
            <a:alphaModFix/>
          </a:blip>
          <a:stretch>
            <a:fillRect/>
          </a:stretch>
        </a:blipFill>
        <a:effectLst/>
      </p:bgPr>
    </p:bg>
    <p:spTree>
      <p:nvGrpSpPr>
        <p:cNvPr id="1" name="Shape 52"/>
        <p:cNvGrpSpPr/>
        <p:nvPr/>
      </p:nvGrpSpPr>
      <p:grpSpPr>
        <a:xfrm>
          <a:off x="0" y="0"/>
          <a:ext cx="0" cy="0"/>
          <a:chOff x="0" y="0"/>
          <a:chExt cx="0" cy="0"/>
        </a:xfrm>
      </p:grpSpPr>
      <p:sp>
        <p:nvSpPr>
          <p:cNvPr id="53" name="Shape 53"/>
          <p:cNvSpPr>
            <a:spLocks noGrp="1"/>
          </p:cNvSpPr>
          <p:nvPr>
            <p:ph type="pic" idx="2"/>
          </p:nvPr>
        </p:nvSpPr>
        <p:spPr>
          <a:xfrm>
            <a:off x="0" y="0"/>
            <a:ext cx="9144000" cy="3105150"/>
          </a:xfrm>
          <a:prstGeom prst="rect">
            <a:avLst/>
          </a:prstGeom>
          <a:noFill/>
          <a:ln>
            <a:noFill/>
          </a:ln>
        </p:spPr>
        <p:txBody>
          <a:bodyPr lIns="91425" tIns="91425" rIns="91425" bIns="91425" anchor="t" anchorCtr="0"/>
          <a:lstStyle>
            <a:lvl1pPr marL="342900" marR="0" lvl="0" indent="-139700" algn="l" rtl="0">
              <a:spcBef>
                <a:spcPts val="640"/>
              </a:spcBef>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742950" marR="0" lvl="1" indent="-107950" algn="l" rtl="0">
              <a:spcBef>
                <a:spcPts val="56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spcBef>
                <a:spcPts val="48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4" name="Shape 54"/>
          <p:cNvSpPr txBox="1">
            <a:spLocks noGrp="1"/>
          </p:cNvSpPr>
          <p:nvPr>
            <p:ph type="body" idx="1"/>
          </p:nvPr>
        </p:nvSpPr>
        <p:spPr>
          <a:xfrm>
            <a:off x="914400" y="3867150"/>
            <a:ext cx="7239000" cy="533399"/>
          </a:xfrm>
          <a:prstGeom prst="rect">
            <a:avLst/>
          </a:prstGeom>
          <a:noFill/>
          <a:ln>
            <a:noFill/>
          </a:ln>
        </p:spPr>
        <p:txBody>
          <a:bodyPr lIns="91425" tIns="91425" rIns="91425" bIns="91425" anchor="t" anchorCtr="0"/>
          <a:lstStyle>
            <a:lvl1pPr marL="0" marR="0" lvl="0" indent="0" algn="ctr" rtl="0">
              <a:spcBef>
                <a:spcPts val="480"/>
              </a:spcBef>
              <a:buClr>
                <a:schemeClr val="lt1"/>
              </a:buClr>
              <a:buFont typeface="Arial"/>
              <a:buNone/>
              <a:defRPr sz="2400" b="0" i="0" u="none" strike="noStrike" cap="none">
                <a:solidFill>
                  <a:schemeClr val="lt1"/>
                </a:solidFill>
                <a:latin typeface="Arial"/>
                <a:ea typeface="Arial"/>
                <a:cs typeface="Arial"/>
                <a:sym typeface="Arial"/>
              </a:defRPr>
            </a:lvl1pPr>
            <a:lvl2pPr marL="742950" marR="0" lvl="1" indent="-107950" algn="l" rtl="0">
              <a:spcBef>
                <a:spcPts val="56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spcBef>
                <a:spcPts val="48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5" name="Shape 55"/>
          <p:cNvSpPr txBox="1">
            <a:spLocks noGrp="1"/>
          </p:cNvSpPr>
          <p:nvPr>
            <p:ph type="title"/>
          </p:nvPr>
        </p:nvSpPr>
        <p:spPr>
          <a:xfrm>
            <a:off x="457200" y="3314700"/>
            <a:ext cx="8229600" cy="857250"/>
          </a:xfrm>
          <a:prstGeom prst="rect">
            <a:avLst/>
          </a:prstGeom>
          <a:noFill/>
          <a:ln>
            <a:noFill/>
          </a:ln>
        </p:spPr>
        <p:txBody>
          <a:bodyPr lIns="91425" tIns="91425" rIns="91425" bIns="91425" anchor="t" anchorCtr="0"/>
          <a:lstStyle>
            <a:lvl1pPr marL="0" marR="0" lvl="0" indent="0" algn="ctr" rtl="0">
              <a:spcBef>
                <a:spcPts val="0"/>
              </a:spcBef>
              <a:buClr>
                <a:schemeClr val="lt1"/>
              </a:buClr>
              <a:buFont typeface="Arial"/>
              <a:buNone/>
              <a:defRPr sz="3200" b="0" i="0" u="none" strike="noStrike" cap="none">
                <a:solidFill>
                  <a:schemeClr val="lt1"/>
                </a:solidFill>
                <a:latin typeface="Arial"/>
                <a:ea typeface="Arial"/>
                <a:cs typeface="Arial"/>
                <a:sym typeface="Arial"/>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pic>
        <p:nvPicPr>
          <p:cNvPr id="56" name="Shape 56" descr="Template_powerpoint1a.psd"/>
          <p:cNvPicPr preferRelativeResize="0"/>
          <p:nvPr/>
        </p:nvPicPr>
        <p:blipFill rotWithShape="1">
          <a:blip r:embed="rId3">
            <a:alphaModFix/>
          </a:blip>
          <a:srcRect/>
          <a:stretch/>
        </p:blipFill>
        <p:spPr>
          <a:xfrm>
            <a:off x="0" y="-576"/>
            <a:ext cx="9144000" cy="69037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allout / Sub-section">
    <p:bg>
      <p:bgPr>
        <a:blipFill rotWithShape="1">
          <a:blip r:embed="rId2">
            <a:alphaModFix/>
          </a:blip>
          <a:stretch>
            <a:fillRect/>
          </a:stretch>
        </a:blipFill>
        <a:effectLst/>
      </p:bgPr>
    </p:bg>
    <p:spTree>
      <p:nvGrpSpPr>
        <p:cNvPr id="1" name="Shape 57"/>
        <p:cNvGrpSpPr/>
        <p:nvPr/>
      </p:nvGrpSpPr>
      <p:grpSpPr>
        <a:xfrm>
          <a:off x="0" y="0"/>
          <a:ext cx="0" cy="0"/>
          <a:chOff x="0" y="0"/>
          <a:chExt cx="0" cy="0"/>
        </a:xfrm>
      </p:grpSpPr>
      <p:sp>
        <p:nvSpPr>
          <p:cNvPr id="58" name="Shape 58"/>
          <p:cNvSpPr txBox="1">
            <a:spLocks noGrp="1"/>
          </p:cNvSpPr>
          <p:nvPr>
            <p:ph type="title"/>
          </p:nvPr>
        </p:nvSpPr>
        <p:spPr>
          <a:xfrm>
            <a:off x="457200" y="1200150"/>
            <a:ext cx="8229600" cy="2743199"/>
          </a:xfrm>
          <a:prstGeom prst="rect">
            <a:avLst/>
          </a:prstGeom>
          <a:noFill/>
          <a:ln>
            <a:noFill/>
          </a:ln>
        </p:spPr>
        <p:txBody>
          <a:bodyPr lIns="91425" tIns="91425" rIns="91425" bIns="91425" anchor="ctr" anchorCtr="0"/>
          <a:lstStyle>
            <a:lvl1pPr marL="0" marR="0" lvl="0" indent="0" algn="ctr" rtl="0">
              <a:spcBef>
                <a:spcPts val="0"/>
              </a:spcBef>
              <a:buClr>
                <a:schemeClr val="lt1"/>
              </a:buClr>
              <a:buFont typeface="Arial"/>
              <a:buNone/>
              <a:defRPr sz="3200" b="0" i="0" u="none" strike="noStrike" cap="none">
                <a:solidFill>
                  <a:schemeClr val="lt1"/>
                </a:solidFill>
                <a:latin typeface="Arial"/>
                <a:ea typeface="Arial"/>
                <a:cs typeface="Arial"/>
                <a:sym typeface="Arial"/>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ontent">
    <p:bg>
      <p:bgPr>
        <a:blipFill rotWithShape="1">
          <a:blip r:embed="rId2">
            <a:alphaModFix/>
          </a:blip>
          <a:stretch>
            <a:fillRect/>
          </a:stretch>
        </a:blipFill>
        <a:effectLst/>
      </p:bgPr>
    </p:bg>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457200" y="438150"/>
            <a:ext cx="8229600" cy="857250"/>
          </a:xfrm>
          <a:prstGeom prst="rect">
            <a:avLst/>
          </a:prstGeom>
          <a:noFill/>
          <a:ln>
            <a:noFill/>
          </a:ln>
        </p:spPr>
        <p:txBody>
          <a:bodyPr lIns="91425" tIns="91425" rIns="91425" bIns="91425" anchor="t" anchorCtr="0"/>
          <a:lstStyle>
            <a:lvl1pPr marL="0" marR="0" lvl="0" indent="0" algn="l" rtl="0">
              <a:spcBef>
                <a:spcPts val="0"/>
              </a:spcBef>
              <a:buClr>
                <a:schemeClr val="dk1"/>
              </a:buClr>
              <a:buFont typeface="Arial"/>
              <a:buNone/>
              <a:defRPr sz="3200" b="0" i="0" u="none" strike="noStrike" cap="none">
                <a:solidFill>
                  <a:schemeClr val="dk1"/>
                </a:solidFill>
                <a:latin typeface="Arial"/>
                <a:ea typeface="Arial"/>
                <a:cs typeface="Arial"/>
                <a:sym typeface="Arial"/>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1" name="Shape 61"/>
          <p:cNvSpPr txBox="1">
            <a:spLocks noGrp="1"/>
          </p:cNvSpPr>
          <p:nvPr>
            <p:ph type="body" idx="1"/>
          </p:nvPr>
        </p:nvSpPr>
        <p:spPr>
          <a:xfrm>
            <a:off x="762000" y="1123950"/>
            <a:ext cx="7543800" cy="3505200"/>
          </a:xfrm>
          <a:prstGeom prst="rect">
            <a:avLst/>
          </a:prstGeom>
          <a:noFill/>
          <a:ln>
            <a:noFill/>
          </a:ln>
        </p:spPr>
        <p:txBody>
          <a:bodyPr lIns="91425" tIns="91425" rIns="91425" bIns="91425" anchor="t" anchorCtr="0"/>
          <a:lstStyle>
            <a:lvl1pPr marL="0" marR="0" lvl="0" indent="0" algn="l" rtl="0">
              <a:spcBef>
                <a:spcPts val="480"/>
              </a:spcBef>
              <a:buClr>
                <a:schemeClr val="dk1"/>
              </a:buClr>
              <a:buFont typeface="Arial"/>
              <a:buNone/>
              <a:defRPr sz="2400" b="0" i="0" u="none" strike="noStrike" cap="none">
                <a:solidFill>
                  <a:schemeClr val="dk1"/>
                </a:solidFill>
                <a:latin typeface="Arial"/>
                <a:ea typeface="Arial"/>
                <a:cs typeface="Arial"/>
                <a:sym typeface="Arial"/>
              </a:defRPr>
            </a:lvl1pPr>
            <a:lvl2pPr marL="457200" marR="0" lvl="1" indent="0" algn="l" rtl="0">
              <a:spcBef>
                <a:spcPts val="480"/>
              </a:spcBef>
              <a:buClr>
                <a:schemeClr val="dk1"/>
              </a:buClr>
              <a:buFont typeface="Arial"/>
              <a:buNone/>
              <a:defRPr sz="2400" b="0" i="0" u="none" strike="noStrike" cap="none">
                <a:solidFill>
                  <a:schemeClr val="dk1"/>
                </a:solidFill>
                <a:latin typeface="Arial"/>
                <a:ea typeface="Arial"/>
                <a:cs typeface="Arial"/>
                <a:sym typeface="Arial"/>
              </a:defRPr>
            </a:lvl2pPr>
            <a:lvl3pPr marL="914400" marR="0" lvl="2" indent="0" algn="l" rtl="0">
              <a:spcBef>
                <a:spcPts val="480"/>
              </a:spcBef>
              <a:buClr>
                <a:schemeClr val="dk1"/>
              </a:buClr>
              <a:buFont typeface="Arial"/>
              <a:buNone/>
              <a:defRPr sz="2400" b="0" i="0" u="none" strike="noStrike" cap="none">
                <a:solidFill>
                  <a:schemeClr val="dk1"/>
                </a:solidFill>
                <a:latin typeface="Arial"/>
                <a:ea typeface="Arial"/>
                <a:cs typeface="Arial"/>
                <a:sym typeface="Arial"/>
              </a:defRPr>
            </a:lvl3pPr>
            <a:lvl4pPr marL="1371600" marR="0" lvl="3" indent="0" algn="l" rtl="0">
              <a:spcBef>
                <a:spcPts val="480"/>
              </a:spcBef>
              <a:buClr>
                <a:schemeClr val="dk1"/>
              </a:buClr>
              <a:buFont typeface="Arial"/>
              <a:buNone/>
              <a:defRPr sz="2400" b="0" i="0" u="none" strike="noStrike" cap="none">
                <a:solidFill>
                  <a:schemeClr val="dk1"/>
                </a:solidFill>
                <a:latin typeface="Arial"/>
                <a:ea typeface="Arial"/>
                <a:cs typeface="Arial"/>
                <a:sym typeface="Arial"/>
              </a:defRPr>
            </a:lvl4pPr>
            <a:lvl5pPr marL="1828800" marR="0" lvl="4" indent="0" algn="l" rtl="0">
              <a:spcBef>
                <a:spcPts val="480"/>
              </a:spcBef>
              <a:buClr>
                <a:schemeClr val="dk1"/>
              </a:buClr>
              <a:buFont typeface="Arial"/>
              <a:buNone/>
              <a:defRPr sz="2400" b="0" i="0" u="none" strike="noStrike" cap="none">
                <a:solidFill>
                  <a:schemeClr val="dk1"/>
                </a:solidFill>
                <a:latin typeface="Arial"/>
                <a:ea typeface="Arial"/>
                <a:cs typeface="Arial"/>
                <a:sym typeface="Arial"/>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losing Slide">
    <p:bg>
      <p:bgPr>
        <a:blipFill rotWithShape="1">
          <a:blip r:embed="rId2">
            <a:alphaModFix/>
          </a:blip>
          <a:stretch>
            <a:fillRect/>
          </a:stretch>
        </a:blipFill>
        <a:effectLst/>
      </p:bgPr>
    </p:bg>
    <p:spTree>
      <p:nvGrpSpPr>
        <p:cNvPr id="1" name="Shape 62"/>
        <p:cNvGrpSpPr/>
        <p:nvPr/>
      </p:nvGrpSpPr>
      <p:grpSpPr>
        <a:xfrm>
          <a:off x="0" y="0"/>
          <a:ext cx="0" cy="0"/>
          <a:chOff x="0" y="0"/>
          <a:chExt cx="0" cy="0"/>
        </a:xfrm>
      </p:grpSpPr>
      <p:sp>
        <p:nvSpPr>
          <p:cNvPr id="63" name="Shape 63"/>
          <p:cNvSpPr>
            <a:spLocks noGrp="1"/>
          </p:cNvSpPr>
          <p:nvPr>
            <p:ph type="pic" idx="2"/>
          </p:nvPr>
        </p:nvSpPr>
        <p:spPr>
          <a:xfrm>
            <a:off x="0" y="361950"/>
            <a:ext cx="9144000" cy="3352799"/>
          </a:xfrm>
          <a:prstGeom prst="rect">
            <a:avLst/>
          </a:prstGeom>
          <a:noFill/>
          <a:ln>
            <a:noFill/>
          </a:ln>
        </p:spPr>
        <p:txBody>
          <a:bodyPr lIns="91425" tIns="91425" rIns="91425" bIns="91425" anchor="t" anchorCtr="0"/>
          <a:lstStyle>
            <a:lvl1pPr marL="342900" marR="0" lvl="0" indent="-139700" algn="l" rtl="0">
              <a:spcBef>
                <a:spcPts val="640"/>
              </a:spcBef>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742950" marR="0" lvl="1" indent="-107950" algn="l" rtl="0">
              <a:spcBef>
                <a:spcPts val="56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spcBef>
                <a:spcPts val="48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Full Picture">
    <p:spTree>
      <p:nvGrpSpPr>
        <p:cNvPr id="1" name="Shape 64"/>
        <p:cNvGrpSpPr/>
        <p:nvPr/>
      </p:nvGrpSpPr>
      <p:grpSpPr>
        <a:xfrm>
          <a:off x="0" y="0"/>
          <a:ext cx="0" cy="0"/>
          <a:chOff x="0" y="0"/>
          <a:chExt cx="0" cy="0"/>
        </a:xfrm>
      </p:grpSpPr>
      <p:sp>
        <p:nvSpPr>
          <p:cNvPr id="65" name="Shape 65"/>
          <p:cNvSpPr>
            <a:spLocks noGrp="1"/>
          </p:cNvSpPr>
          <p:nvPr>
            <p:ph type="pic" idx="2"/>
          </p:nvPr>
        </p:nvSpPr>
        <p:spPr>
          <a:xfrm>
            <a:off x="0" y="0"/>
            <a:ext cx="9144000" cy="5143499"/>
          </a:xfrm>
          <a:prstGeom prst="rect">
            <a:avLst/>
          </a:prstGeom>
          <a:noFill/>
          <a:ln>
            <a:noFill/>
          </a:ln>
        </p:spPr>
        <p:txBody>
          <a:bodyPr lIns="91425" tIns="91425" rIns="91425" bIns="91425" anchor="t" anchorCtr="0"/>
          <a:lstStyle>
            <a:lvl1pPr marL="342900" marR="0" lvl="0" indent="-139700" algn="l" rtl="0">
              <a:spcBef>
                <a:spcPts val="640"/>
              </a:spcBef>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742950" marR="0" lvl="1" indent="-107950" algn="l" rtl="0">
              <a:spcBef>
                <a:spcPts val="56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spcBef>
                <a:spcPts val="48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3 Pictures">
    <p:spTree>
      <p:nvGrpSpPr>
        <p:cNvPr id="1" name="Shape 66"/>
        <p:cNvGrpSpPr/>
        <p:nvPr/>
      </p:nvGrpSpPr>
      <p:grpSpPr>
        <a:xfrm>
          <a:off x="0" y="0"/>
          <a:ext cx="0" cy="0"/>
          <a:chOff x="0" y="0"/>
          <a:chExt cx="0" cy="0"/>
        </a:xfrm>
      </p:grpSpPr>
      <p:sp>
        <p:nvSpPr>
          <p:cNvPr id="67" name="Shape 67"/>
          <p:cNvSpPr>
            <a:spLocks noGrp="1"/>
          </p:cNvSpPr>
          <p:nvPr>
            <p:ph type="pic" idx="2"/>
          </p:nvPr>
        </p:nvSpPr>
        <p:spPr>
          <a:xfrm>
            <a:off x="0" y="0"/>
            <a:ext cx="4495800" cy="5143499"/>
          </a:xfrm>
          <a:prstGeom prst="rect">
            <a:avLst/>
          </a:prstGeom>
          <a:noFill/>
          <a:ln>
            <a:noFill/>
          </a:ln>
        </p:spPr>
        <p:txBody>
          <a:bodyPr lIns="91425" tIns="91425" rIns="91425" bIns="91425" anchor="t" anchorCtr="0"/>
          <a:lstStyle>
            <a:lvl1pPr marL="342900" marR="0" lvl="0" indent="-139700" algn="l" rtl="0">
              <a:spcBef>
                <a:spcPts val="640"/>
              </a:spcBef>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742950" marR="0" lvl="1" indent="-107950" algn="l" rtl="0">
              <a:spcBef>
                <a:spcPts val="56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spcBef>
                <a:spcPts val="48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8" name="Shape 68"/>
          <p:cNvSpPr>
            <a:spLocks noGrp="1"/>
          </p:cNvSpPr>
          <p:nvPr>
            <p:ph type="pic" idx="3"/>
          </p:nvPr>
        </p:nvSpPr>
        <p:spPr>
          <a:xfrm>
            <a:off x="4648200" y="0"/>
            <a:ext cx="4495800" cy="2495549"/>
          </a:xfrm>
          <a:prstGeom prst="rect">
            <a:avLst/>
          </a:prstGeom>
          <a:noFill/>
          <a:ln>
            <a:noFill/>
          </a:ln>
        </p:spPr>
        <p:txBody>
          <a:bodyPr lIns="91425" tIns="91425" rIns="91425" bIns="91425" anchor="t" anchorCtr="0"/>
          <a:lstStyle>
            <a:lvl1pPr marL="342900" marR="0" lvl="0" indent="-139700" algn="l" rtl="0">
              <a:spcBef>
                <a:spcPts val="640"/>
              </a:spcBef>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742950" marR="0" lvl="1" indent="-107950" algn="l" rtl="0">
              <a:spcBef>
                <a:spcPts val="56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spcBef>
                <a:spcPts val="48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9" name="Shape 69"/>
          <p:cNvSpPr>
            <a:spLocks noGrp="1"/>
          </p:cNvSpPr>
          <p:nvPr>
            <p:ph type="pic" idx="4"/>
          </p:nvPr>
        </p:nvSpPr>
        <p:spPr>
          <a:xfrm>
            <a:off x="4648200" y="2647950"/>
            <a:ext cx="4495800" cy="2495549"/>
          </a:xfrm>
          <a:prstGeom prst="rect">
            <a:avLst/>
          </a:prstGeom>
          <a:noFill/>
          <a:ln>
            <a:noFill/>
          </a:ln>
        </p:spPr>
        <p:txBody>
          <a:bodyPr lIns="91425" tIns="91425" rIns="91425" bIns="91425" anchor="t" anchorCtr="0"/>
          <a:lstStyle>
            <a:lvl1pPr marL="342900" marR="0" lvl="0" indent="-139700" algn="l" rtl="0">
              <a:spcBef>
                <a:spcPts val="640"/>
              </a:spcBef>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742950" marR="0" lvl="1" indent="-107950" algn="l" rtl="0">
              <a:spcBef>
                <a:spcPts val="56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spcBef>
                <a:spcPts val="48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lIns="91425" tIns="91425" rIns="91425" bIns="91425" anchor="t" anchorCtr="0"/>
          <a:lstStyle>
            <a:lvl1pPr lvl="0">
              <a:spcBef>
                <a:spcPts val="0"/>
              </a:spcBef>
              <a:buClr>
                <a:schemeClr val="dk1"/>
              </a:buClr>
              <a:buSzPct val="100000"/>
              <a:buNone/>
              <a:defRPr sz="2800">
                <a:solidFill>
                  <a:schemeClr val="dk1"/>
                </a:solidFill>
              </a:defRPr>
            </a:lvl1pPr>
            <a:lvl2pPr lvl="1">
              <a:spcBef>
                <a:spcPts val="0"/>
              </a:spcBef>
              <a:buClr>
                <a:schemeClr val="dk1"/>
              </a:buClr>
              <a:buSzPct val="100000"/>
              <a:buNone/>
              <a:defRPr sz="2800">
                <a:solidFill>
                  <a:schemeClr val="dk1"/>
                </a:solidFill>
              </a:defRPr>
            </a:lvl2pPr>
            <a:lvl3pPr lvl="2">
              <a:spcBef>
                <a:spcPts val="0"/>
              </a:spcBef>
              <a:buClr>
                <a:schemeClr val="dk1"/>
              </a:buClr>
              <a:buSzPct val="100000"/>
              <a:buNone/>
              <a:defRPr sz="2800">
                <a:solidFill>
                  <a:schemeClr val="dk1"/>
                </a:solidFill>
              </a:defRPr>
            </a:lvl3pPr>
            <a:lvl4pPr lvl="3">
              <a:spcBef>
                <a:spcPts val="0"/>
              </a:spcBef>
              <a:buClr>
                <a:schemeClr val="dk1"/>
              </a:buClr>
              <a:buSzPct val="100000"/>
              <a:buNone/>
              <a:defRPr sz="2800">
                <a:solidFill>
                  <a:schemeClr val="dk1"/>
                </a:solidFill>
              </a:defRPr>
            </a:lvl4pPr>
            <a:lvl5pPr lvl="4">
              <a:spcBef>
                <a:spcPts val="0"/>
              </a:spcBef>
              <a:buClr>
                <a:schemeClr val="dk1"/>
              </a:buClr>
              <a:buSzPct val="100000"/>
              <a:buNone/>
              <a:defRPr sz="2800">
                <a:solidFill>
                  <a:schemeClr val="dk1"/>
                </a:solidFill>
              </a:defRPr>
            </a:lvl5pPr>
            <a:lvl6pPr lvl="5">
              <a:spcBef>
                <a:spcPts val="0"/>
              </a:spcBef>
              <a:buClr>
                <a:schemeClr val="dk1"/>
              </a:buClr>
              <a:buSzPct val="100000"/>
              <a:buNone/>
              <a:defRPr sz="2800">
                <a:solidFill>
                  <a:schemeClr val="dk1"/>
                </a:solidFill>
              </a:defRPr>
            </a:lvl6pPr>
            <a:lvl7pPr lvl="6">
              <a:spcBef>
                <a:spcPts val="0"/>
              </a:spcBef>
              <a:buClr>
                <a:schemeClr val="dk1"/>
              </a:buClr>
              <a:buSzPct val="100000"/>
              <a:buNone/>
              <a:defRPr sz="2800">
                <a:solidFill>
                  <a:schemeClr val="dk1"/>
                </a:solidFill>
              </a:defRPr>
            </a:lvl7pPr>
            <a:lvl8pPr lvl="7">
              <a:spcBef>
                <a:spcPts val="0"/>
              </a:spcBef>
              <a:buClr>
                <a:schemeClr val="dk1"/>
              </a:buClr>
              <a:buSzPct val="100000"/>
              <a:buNone/>
              <a:defRPr sz="2800">
                <a:solidFill>
                  <a:schemeClr val="dk1"/>
                </a:solidFill>
              </a:defRPr>
            </a:lvl8pPr>
            <a:lvl9pPr lvl="8">
              <a:spcBef>
                <a:spcPts val="0"/>
              </a:spcBef>
              <a:buClr>
                <a:schemeClr val="dk1"/>
              </a:buClr>
              <a:buSzPct val="1000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dk2"/>
              </a:buClr>
              <a:buSzPct val="100000"/>
              <a:defRPr sz="1800">
                <a:solidFill>
                  <a:schemeClr val="dk2"/>
                </a:solidFill>
              </a:defRPr>
            </a:lvl1pPr>
            <a:lvl2pPr lvl="1">
              <a:lnSpc>
                <a:spcPct val="115000"/>
              </a:lnSpc>
              <a:spcBef>
                <a:spcPts val="0"/>
              </a:spcBef>
              <a:spcAft>
                <a:spcPts val="1600"/>
              </a:spcAft>
              <a:buClr>
                <a:schemeClr val="dk2"/>
              </a:buClr>
              <a:defRPr>
                <a:solidFill>
                  <a:schemeClr val="dk2"/>
                </a:solidFill>
              </a:defRPr>
            </a:lvl2pPr>
            <a:lvl3pPr lvl="2">
              <a:lnSpc>
                <a:spcPct val="115000"/>
              </a:lnSpc>
              <a:spcBef>
                <a:spcPts val="0"/>
              </a:spcBef>
              <a:spcAft>
                <a:spcPts val="1600"/>
              </a:spcAft>
              <a:buClr>
                <a:schemeClr val="dk2"/>
              </a:buClr>
              <a:defRPr>
                <a:solidFill>
                  <a:schemeClr val="dk2"/>
                </a:solidFill>
              </a:defRPr>
            </a:lvl3pPr>
            <a:lvl4pPr lvl="3">
              <a:lnSpc>
                <a:spcPct val="115000"/>
              </a:lnSpc>
              <a:spcBef>
                <a:spcPts val="0"/>
              </a:spcBef>
              <a:spcAft>
                <a:spcPts val="1600"/>
              </a:spcAft>
              <a:buClr>
                <a:schemeClr val="dk2"/>
              </a:buClr>
              <a:defRPr>
                <a:solidFill>
                  <a:schemeClr val="dk2"/>
                </a:solidFill>
              </a:defRPr>
            </a:lvl4pPr>
            <a:lvl5pPr lvl="4">
              <a:lnSpc>
                <a:spcPct val="115000"/>
              </a:lnSpc>
              <a:spcBef>
                <a:spcPts val="0"/>
              </a:spcBef>
              <a:spcAft>
                <a:spcPts val="1600"/>
              </a:spcAft>
              <a:buClr>
                <a:schemeClr val="dk2"/>
              </a:buClr>
              <a:defRPr>
                <a:solidFill>
                  <a:schemeClr val="dk2"/>
                </a:solidFill>
              </a:defRPr>
            </a:lvl5pPr>
            <a:lvl6pPr lvl="5">
              <a:lnSpc>
                <a:spcPct val="115000"/>
              </a:lnSpc>
              <a:spcBef>
                <a:spcPts val="0"/>
              </a:spcBef>
              <a:spcAft>
                <a:spcPts val="1600"/>
              </a:spcAft>
              <a:buClr>
                <a:schemeClr val="dk2"/>
              </a:buClr>
              <a:defRPr>
                <a:solidFill>
                  <a:schemeClr val="dk2"/>
                </a:solidFill>
              </a:defRPr>
            </a:lvl6pPr>
            <a:lvl7pPr lvl="6">
              <a:lnSpc>
                <a:spcPct val="115000"/>
              </a:lnSpc>
              <a:spcBef>
                <a:spcPts val="0"/>
              </a:spcBef>
              <a:spcAft>
                <a:spcPts val="1600"/>
              </a:spcAft>
              <a:buClr>
                <a:schemeClr val="dk2"/>
              </a:buClr>
              <a:defRPr>
                <a:solidFill>
                  <a:schemeClr val="dk2"/>
                </a:solidFill>
              </a:defRPr>
            </a:lvl7pPr>
            <a:lvl8pPr lvl="7">
              <a:lnSpc>
                <a:spcPct val="115000"/>
              </a:lnSpc>
              <a:spcBef>
                <a:spcPts val="0"/>
              </a:spcBef>
              <a:spcAft>
                <a:spcPts val="1600"/>
              </a:spcAft>
              <a:buClr>
                <a:schemeClr val="dk2"/>
              </a:buClr>
              <a:defRPr>
                <a:solidFill>
                  <a:schemeClr val="dk2"/>
                </a:solidFill>
              </a:defRPr>
            </a:lvl8pPr>
            <a:lvl9pPr lvl="8">
              <a:lnSpc>
                <a:spcPct val="115000"/>
              </a:lnSpc>
              <a:spcBef>
                <a:spcPts val="0"/>
              </a:spcBef>
              <a:spcAft>
                <a:spcPts val="1600"/>
              </a:spcAft>
              <a:buClr>
                <a:schemeClr val="dk2"/>
              </a:buClr>
              <a:defRPr>
                <a:solidFill>
                  <a:schemeClr val="dk2"/>
                </a:solidFill>
              </a:defRPr>
            </a:lvl9pPr>
          </a:lstStyle>
          <a:p>
            <a:endParaRPr/>
          </a:p>
        </p:txBody>
      </p:sp>
      <p:sp>
        <p:nvSpPr>
          <p:cNvPr id="8" name="Shape 8"/>
          <p:cNvSpPr txBox="1">
            <a:spLocks noGrp="1"/>
          </p:cNvSpPr>
          <p:nvPr>
            <p:ph type="sldNum" idx="12"/>
          </p:nvPr>
        </p:nvSpPr>
        <p:spPr>
          <a:xfrm>
            <a:off x="8472457" y="4663216"/>
            <a:ext cx="548700" cy="393600"/>
          </a:xfrm>
          <a:prstGeom prst="rect">
            <a:avLst/>
          </a:prstGeom>
          <a:noFill/>
          <a:ln>
            <a:noFill/>
          </a:ln>
        </p:spPr>
        <p:txBody>
          <a:bodyPr lIns="91425" tIns="91425" rIns="91425" bIns="91425" anchor="ctr" anchorCtr="0">
            <a:noAutofit/>
          </a:bodyPr>
          <a:lstStyle/>
          <a:p>
            <a:pPr lvl="0" algn="r">
              <a:spcBef>
                <a:spcPts val="0"/>
              </a:spcBef>
              <a:buNone/>
            </a:pPr>
            <a:fld id="{00000000-1234-1234-1234-123412341234}" type="slidenum">
              <a:rPr lang="en" sz="1000">
                <a:solidFill>
                  <a:schemeClr val="dk2"/>
                </a:solidFill>
              </a:rPr>
              <a:t>‹#›</a:t>
            </a:fld>
            <a:endParaRPr lang="en"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Shape 51"/>
          <p:cNvSpPr txBox="1"/>
          <p:nvPr/>
        </p:nvSpPr>
        <p:spPr>
          <a:xfrm>
            <a:off x="369455" y="1565563"/>
            <a:ext cx="184666" cy="369332"/>
          </a:xfrm>
          <a:prstGeom prst="rect">
            <a:avLst/>
          </a:prstGeom>
          <a:noFill/>
          <a:ln>
            <a:noFill/>
          </a:ln>
        </p:spPr>
        <p:txBody>
          <a:bodyPr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Shape 74"/>
          <p:cNvSpPr txBox="1">
            <a:spLocks noGrp="1"/>
          </p:cNvSpPr>
          <p:nvPr>
            <p:ph type="body" idx="1"/>
          </p:nvPr>
        </p:nvSpPr>
        <p:spPr>
          <a:xfrm>
            <a:off x="914400" y="3867150"/>
            <a:ext cx="7239000" cy="533399"/>
          </a:xfrm>
          <a:prstGeom prst="rect">
            <a:avLst/>
          </a:prstGeom>
          <a:noFill/>
          <a:ln>
            <a:noFill/>
          </a:ln>
        </p:spPr>
        <p:txBody>
          <a:bodyPr lIns="91425" tIns="45700" rIns="91425" bIns="45700" anchor="t" anchorCtr="0">
            <a:noAutofit/>
          </a:bodyPr>
          <a:lstStyle/>
          <a:p>
            <a:pPr marL="0" marR="0" lvl="0" indent="0" algn="ctr" rtl="0">
              <a:spcBef>
                <a:spcPts val="0"/>
              </a:spcBef>
              <a:buClr>
                <a:schemeClr val="lt1"/>
              </a:buClr>
              <a:buSzPct val="25000"/>
              <a:buFont typeface="Arial"/>
              <a:buNone/>
            </a:pPr>
            <a:r>
              <a:rPr lang="en"/>
              <a:t>Car Reen, Esteban, Wanying, Yijun</a:t>
            </a:r>
          </a:p>
        </p:txBody>
      </p:sp>
      <p:sp>
        <p:nvSpPr>
          <p:cNvPr id="75" name="Shape 75"/>
          <p:cNvSpPr txBox="1">
            <a:spLocks noGrp="1"/>
          </p:cNvSpPr>
          <p:nvPr>
            <p:ph type="title"/>
          </p:nvPr>
        </p:nvSpPr>
        <p:spPr>
          <a:xfrm>
            <a:off x="609600" y="1104900"/>
            <a:ext cx="8229600" cy="857250"/>
          </a:xfrm>
          <a:prstGeom prst="rect">
            <a:avLst/>
          </a:prstGeom>
          <a:noFill/>
          <a:ln>
            <a:noFill/>
          </a:ln>
        </p:spPr>
        <p:txBody>
          <a:bodyPr lIns="91425" tIns="45700" rIns="91425" bIns="45700" anchor="t" anchorCtr="0">
            <a:noAutofit/>
          </a:bodyPr>
          <a:lstStyle/>
          <a:p>
            <a:pPr marL="0" marR="0" lvl="0" indent="0" algn="ctr" rtl="0">
              <a:spcBef>
                <a:spcPts val="0"/>
              </a:spcBef>
              <a:buClr>
                <a:schemeClr val="lt1"/>
              </a:buClr>
              <a:buSzPct val="25000"/>
              <a:buFont typeface="Arial"/>
              <a:buNone/>
            </a:pPr>
            <a:r>
              <a:rPr lang="en" b="1">
                <a:solidFill>
                  <a:schemeClr val="dk1"/>
                </a:solidFill>
              </a:rPr>
              <a:t>RANDOM FORESTS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Shape 80"/>
          <p:cNvSpPr txBox="1">
            <a:spLocks noGrp="1"/>
          </p:cNvSpPr>
          <p:nvPr>
            <p:ph type="title"/>
          </p:nvPr>
        </p:nvSpPr>
        <p:spPr>
          <a:xfrm>
            <a:off x="457200" y="1200150"/>
            <a:ext cx="8229600" cy="2743199"/>
          </a:xfrm>
          <a:prstGeom prst="rect">
            <a:avLst/>
          </a:prstGeom>
          <a:noFill/>
          <a:ln>
            <a:noFill/>
          </a:ln>
        </p:spPr>
        <p:txBody>
          <a:bodyPr lIns="91425" tIns="45700" rIns="91425" bIns="45700" anchor="ctr" anchorCtr="0">
            <a:noAutofit/>
          </a:bodyPr>
          <a:lstStyle/>
          <a:p>
            <a:pPr marL="0" marR="0" lvl="0" indent="0" algn="ctr" rtl="0">
              <a:spcBef>
                <a:spcPts val="0"/>
              </a:spcBef>
              <a:buClr>
                <a:schemeClr val="lt1"/>
              </a:buClr>
              <a:buSzPct val="25000"/>
              <a:buFont typeface="Arial"/>
              <a:buNone/>
            </a:pPr>
            <a:r>
              <a:rPr lang="en"/>
              <a:t>OUTLINE</a:t>
            </a:r>
          </a:p>
          <a:p>
            <a:pPr marL="0" marR="0" lvl="0" indent="0" algn="ctr" rtl="0">
              <a:spcBef>
                <a:spcPts val="0"/>
              </a:spcBef>
              <a:buClr>
                <a:schemeClr val="lt1"/>
              </a:buClr>
              <a:buSzPct val="25000"/>
              <a:buFont typeface="Arial"/>
              <a:buNone/>
            </a:pPr>
            <a:r>
              <a:rPr lang="en"/>
              <a:t/>
            </a:r>
            <a:br>
              <a:rPr lang="en"/>
            </a:br>
            <a:r>
              <a:rPr lang="en"/>
              <a:t>Introduction</a:t>
            </a:r>
          </a:p>
          <a:p>
            <a:pPr marL="0" marR="0" lvl="0" indent="0" algn="ctr" rtl="0">
              <a:spcBef>
                <a:spcPts val="0"/>
              </a:spcBef>
              <a:buClr>
                <a:schemeClr val="lt1"/>
              </a:buClr>
              <a:buSzPct val="25000"/>
              <a:buFont typeface="Arial"/>
              <a:buNone/>
            </a:pPr>
            <a:r>
              <a:rPr lang="en"/>
              <a:t>Example 1- Classification</a:t>
            </a:r>
          </a:p>
          <a:p>
            <a:pPr lvl="0" rtl="0">
              <a:spcBef>
                <a:spcPts val="0"/>
              </a:spcBef>
              <a:buClr>
                <a:schemeClr val="lt1"/>
              </a:buClr>
              <a:buSzPct val="25000"/>
              <a:buFont typeface="Arial"/>
              <a:buNone/>
            </a:pPr>
            <a:r>
              <a:rPr lang="en"/>
              <a:t>Example 2 - Regression</a:t>
            </a:r>
          </a:p>
          <a:p>
            <a:pPr lvl="0" rtl="0">
              <a:spcBef>
                <a:spcPts val="0"/>
              </a:spcBef>
              <a:buClr>
                <a:schemeClr val="lt1"/>
              </a:buClr>
              <a:buSzPct val="25000"/>
              <a:buFont typeface="Arial"/>
              <a:buNone/>
            </a:pPr>
            <a:r>
              <a:rPr lang="en"/>
              <a:t>Conclusion</a:t>
            </a:r>
          </a:p>
          <a:p>
            <a:pPr marL="0" marR="0" lvl="0" indent="0" algn="ctr" rtl="0">
              <a:spcBef>
                <a:spcPts val="0"/>
              </a:spcBef>
              <a:buClr>
                <a:schemeClr val="lt1"/>
              </a:buClr>
              <a:buSzPct val="25000"/>
              <a:buFont typeface="Arial"/>
              <a:buNone/>
            </a:pP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Shape 85"/>
          <p:cNvSpPr txBox="1">
            <a:spLocks noGrp="1"/>
          </p:cNvSpPr>
          <p:nvPr>
            <p:ph type="title"/>
          </p:nvPr>
        </p:nvSpPr>
        <p:spPr>
          <a:xfrm>
            <a:off x="457200" y="1200150"/>
            <a:ext cx="8229600" cy="2743200"/>
          </a:xfrm>
          <a:prstGeom prst="rect">
            <a:avLst/>
          </a:prstGeom>
          <a:noFill/>
          <a:ln>
            <a:noFill/>
          </a:ln>
        </p:spPr>
        <p:txBody>
          <a:bodyPr lIns="91425" tIns="45700" rIns="91425" bIns="45700" anchor="ctr" anchorCtr="0">
            <a:noAutofit/>
          </a:bodyPr>
          <a:lstStyle/>
          <a:p>
            <a:pPr marL="0" marR="0" lvl="0" indent="0" algn="ctr" rtl="0">
              <a:spcBef>
                <a:spcPts val="0"/>
              </a:spcBef>
              <a:buClr>
                <a:schemeClr val="lt1"/>
              </a:buClr>
              <a:buSzPct val="25000"/>
              <a:buFont typeface="Arial"/>
              <a:buNone/>
            </a:pPr>
            <a:r>
              <a:rPr lang="en"/>
              <a:t>INTRODUCTION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Shape 91"/>
          <p:cNvSpPr txBox="1">
            <a:spLocks noGrp="1"/>
          </p:cNvSpPr>
          <p:nvPr>
            <p:ph type="title"/>
          </p:nvPr>
        </p:nvSpPr>
        <p:spPr>
          <a:xfrm>
            <a:off x="457200" y="438150"/>
            <a:ext cx="8229600" cy="85725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
              <a:t>REGRESSIONS &amp; CLASSIFICATION</a:t>
            </a:r>
          </a:p>
        </p:txBody>
      </p:sp>
      <p:sp>
        <p:nvSpPr>
          <p:cNvPr id="92" name="Shape 92"/>
          <p:cNvSpPr txBox="1">
            <a:spLocks noGrp="1"/>
          </p:cNvSpPr>
          <p:nvPr>
            <p:ph type="body" idx="1"/>
          </p:nvPr>
        </p:nvSpPr>
        <p:spPr>
          <a:xfrm>
            <a:off x="457200" y="1200150"/>
            <a:ext cx="8229600" cy="3505200"/>
          </a:xfrm>
          <a:prstGeom prst="rect">
            <a:avLst/>
          </a:prstGeom>
          <a:noFill/>
          <a:ln>
            <a:noFill/>
          </a:ln>
        </p:spPr>
        <p:txBody>
          <a:bodyPr lIns="91425" tIns="45700" rIns="91425" bIns="45700" anchor="t" anchorCtr="0">
            <a:noAutofit/>
          </a:bodyPr>
          <a:lstStyle/>
          <a:p>
            <a:pPr marL="342900" marR="0" lvl="0" indent="-342900" algn="l" rtl="0">
              <a:spcBef>
                <a:spcPts val="0"/>
              </a:spcBef>
              <a:buClr>
                <a:schemeClr val="dk1"/>
              </a:buClr>
              <a:buSzPct val="100000"/>
              <a:buFont typeface="Arial"/>
              <a:buNone/>
            </a:pPr>
            <a:r>
              <a:rPr lang="en"/>
              <a:t>Regression: predict a </a:t>
            </a:r>
            <a:r>
              <a:rPr lang="en">
                <a:solidFill>
                  <a:srgbClr val="980000"/>
                </a:solidFill>
              </a:rPr>
              <a:t>continuous response variable</a:t>
            </a:r>
            <a:r>
              <a:rPr lang="en"/>
              <a:t> </a:t>
            </a:r>
            <a:r>
              <a:rPr lang="en">
                <a:solidFill>
                  <a:srgbClr val="000000"/>
                </a:solidFill>
              </a:rPr>
              <a:t>y</a:t>
            </a:r>
            <a:r>
              <a:rPr lang="en"/>
              <a:t> based on given predictor variables </a:t>
            </a:r>
            <a:r>
              <a:rPr lang="en">
                <a:solidFill>
                  <a:srgbClr val="000000"/>
                </a:solidFill>
              </a:rPr>
              <a:t>x</a:t>
            </a:r>
          </a:p>
          <a:p>
            <a:pPr marL="342900" marR="0" lvl="0" indent="-342900" algn="l" rtl="0">
              <a:spcBef>
                <a:spcPts val="0"/>
              </a:spcBef>
              <a:buClr>
                <a:schemeClr val="dk1"/>
              </a:buClr>
              <a:buSzPct val="100000"/>
              <a:buFont typeface="Arial"/>
              <a:buNone/>
            </a:pPr>
            <a:endParaRPr/>
          </a:p>
          <a:p>
            <a:pPr marL="0" marR="0" lvl="0" indent="-152400" algn="l" rtl="0">
              <a:spcBef>
                <a:spcPts val="0"/>
              </a:spcBef>
              <a:buClr>
                <a:schemeClr val="dk1"/>
              </a:buClr>
              <a:buSzPct val="100000"/>
              <a:buFont typeface="Arial"/>
              <a:buNone/>
            </a:pPr>
            <a:endParaRPr/>
          </a:p>
          <a:p>
            <a:pPr marL="342900" marR="0" lvl="0" indent="-342900" algn="l" rtl="0">
              <a:spcBef>
                <a:spcPts val="0"/>
              </a:spcBef>
              <a:buClr>
                <a:schemeClr val="dk1"/>
              </a:buClr>
              <a:buSzPct val="100000"/>
              <a:buFont typeface="Arial"/>
              <a:buNone/>
            </a:pPr>
            <a:endParaRPr/>
          </a:p>
          <a:p>
            <a:pPr marL="342900" marR="0" lvl="0" indent="-342900" algn="l" rtl="0">
              <a:spcBef>
                <a:spcPts val="0"/>
              </a:spcBef>
              <a:buClr>
                <a:schemeClr val="dk1"/>
              </a:buClr>
              <a:buSzPct val="100000"/>
              <a:buFont typeface="Arial"/>
              <a:buNone/>
            </a:pPr>
            <a:r>
              <a:rPr lang="en"/>
              <a:t>Classification: predict a </a:t>
            </a:r>
            <a:r>
              <a:rPr lang="en">
                <a:solidFill>
                  <a:srgbClr val="980000"/>
                </a:solidFill>
              </a:rPr>
              <a:t>categorical response variable</a:t>
            </a:r>
            <a:r>
              <a:rPr lang="en"/>
              <a:t> </a:t>
            </a:r>
            <a:r>
              <a:rPr lang="en">
                <a:solidFill>
                  <a:srgbClr val="000000"/>
                </a:solidFill>
              </a:rPr>
              <a:t>y</a:t>
            </a:r>
            <a:r>
              <a:rPr lang="en"/>
              <a:t> based on given predictor variables </a:t>
            </a:r>
            <a:r>
              <a:rPr lang="en">
                <a:solidFill>
                  <a:srgbClr val="000000"/>
                </a:solidFill>
              </a:rPr>
              <a:t>x</a:t>
            </a:r>
          </a:p>
          <a:p>
            <a:pPr marL="342900" marR="0" lvl="0" indent="-342900" algn="l" rtl="0">
              <a:spcBef>
                <a:spcPts val="0"/>
              </a:spcBef>
              <a:buClr>
                <a:schemeClr val="dk1"/>
              </a:buClr>
              <a:buSzPct val="100000"/>
              <a:buFont typeface="Arial"/>
              <a:buNone/>
            </a:pPr>
            <a:endParaRPr/>
          </a:p>
          <a:p>
            <a:pPr marL="342900" marR="0" lvl="0" indent="-342900" algn="ctr" rtl="0">
              <a:spcBef>
                <a:spcPts val="0"/>
              </a:spcBef>
              <a:buClr>
                <a:schemeClr val="dk1"/>
              </a:buClr>
              <a:buSzPct val="100000"/>
              <a:buFont typeface="Arial"/>
              <a:buNone/>
            </a:pPr>
            <a:r>
              <a:rPr lang="en" b="1"/>
              <a:t>What if we have multiple predictor variables?</a:t>
            </a:r>
            <a:r>
              <a:rPr lang="en"/>
              <a:t> </a:t>
            </a:r>
          </a:p>
          <a:p>
            <a:pPr marL="342900" marR="0" lvl="0" indent="-342900" algn="l" rtl="0">
              <a:spcBef>
                <a:spcPts val="0"/>
              </a:spcBef>
              <a:buClr>
                <a:schemeClr val="dk1"/>
              </a:buClr>
              <a:buSzPct val="100000"/>
              <a:buFont typeface="Arial"/>
              <a:buNone/>
            </a:pPr>
            <a:endParaRPr/>
          </a:p>
        </p:txBody>
      </p:sp>
      <p:pic>
        <p:nvPicPr>
          <p:cNvPr id="93" name="Shape 93"/>
          <p:cNvPicPr preferRelativeResize="0"/>
          <p:nvPr/>
        </p:nvPicPr>
        <p:blipFill>
          <a:blip r:embed="rId3">
            <a:alphaModFix/>
          </a:blip>
          <a:stretch>
            <a:fillRect/>
          </a:stretch>
        </p:blipFill>
        <p:spPr>
          <a:xfrm>
            <a:off x="3138150" y="2150500"/>
            <a:ext cx="2600325" cy="628650"/>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57200" y="438150"/>
            <a:ext cx="8229600" cy="857400"/>
          </a:xfrm>
          <a:prstGeom prst="rect">
            <a:avLst/>
          </a:prstGeom>
        </p:spPr>
        <p:txBody>
          <a:bodyPr lIns="91425" tIns="91425" rIns="91425" bIns="91425" anchor="t" anchorCtr="0">
            <a:noAutofit/>
          </a:bodyPr>
          <a:lstStyle/>
          <a:p>
            <a:pPr lvl="0">
              <a:spcBef>
                <a:spcPts val="0"/>
              </a:spcBef>
              <a:buNone/>
            </a:pPr>
            <a:r>
              <a:rPr lang="en"/>
              <a:t>RANDOM FORESTS</a:t>
            </a:r>
          </a:p>
        </p:txBody>
      </p:sp>
      <p:sp>
        <p:nvSpPr>
          <p:cNvPr id="99" name="Shape 99"/>
          <p:cNvSpPr txBox="1">
            <a:spLocks noGrp="1"/>
          </p:cNvSpPr>
          <p:nvPr>
            <p:ph type="body" idx="1"/>
          </p:nvPr>
        </p:nvSpPr>
        <p:spPr>
          <a:xfrm>
            <a:off x="993725" y="1239800"/>
            <a:ext cx="7543800" cy="3505200"/>
          </a:xfrm>
          <a:prstGeom prst="rect">
            <a:avLst/>
          </a:prstGeom>
        </p:spPr>
        <p:txBody>
          <a:bodyPr lIns="91425" tIns="91425" rIns="91425" bIns="91425" anchor="t" anchorCtr="0">
            <a:noAutofit/>
          </a:bodyPr>
          <a:lstStyle/>
          <a:p>
            <a:pPr lvl="0">
              <a:spcBef>
                <a:spcPts val="0"/>
              </a:spcBef>
              <a:buNone/>
            </a:pPr>
            <a:r>
              <a:rPr lang="en"/>
              <a:t>It develops lots of decision trees based on random selection of data and random selection of variables.</a:t>
            </a:r>
          </a:p>
          <a:p>
            <a:pPr lvl="0">
              <a:spcBef>
                <a:spcPts val="0"/>
              </a:spcBef>
              <a:buNone/>
            </a:pPr>
            <a:endParaRPr/>
          </a:p>
        </p:txBody>
      </p:sp>
      <p:pic>
        <p:nvPicPr>
          <p:cNvPr id="100" name="Shape 100"/>
          <p:cNvPicPr preferRelativeResize="0"/>
          <p:nvPr/>
        </p:nvPicPr>
        <p:blipFill>
          <a:blip r:embed="rId3">
            <a:alphaModFix/>
          </a:blip>
          <a:stretch>
            <a:fillRect/>
          </a:stretch>
        </p:blipFill>
        <p:spPr>
          <a:xfrm>
            <a:off x="387700" y="2219925"/>
            <a:ext cx="6819900" cy="2466975"/>
          </a:xfrm>
          <a:prstGeom prst="rect">
            <a:avLst/>
          </a:prstGeom>
          <a:noFill/>
          <a:ln>
            <a:noFill/>
          </a:ln>
        </p:spPr>
      </p:pic>
      <p:sp>
        <p:nvSpPr>
          <p:cNvPr id="101" name="Shape 101"/>
          <p:cNvSpPr txBox="1"/>
          <p:nvPr/>
        </p:nvSpPr>
        <p:spPr>
          <a:xfrm>
            <a:off x="6978325" y="3003412"/>
            <a:ext cx="1978500" cy="900000"/>
          </a:xfrm>
          <a:prstGeom prst="rect">
            <a:avLst/>
          </a:prstGeom>
          <a:noFill/>
          <a:ln>
            <a:noFill/>
          </a:ln>
        </p:spPr>
        <p:txBody>
          <a:bodyPr lIns="91425" tIns="91425" rIns="91425" bIns="91425" anchor="t" anchorCtr="0">
            <a:noAutofit/>
          </a:bodyPr>
          <a:lstStyle/>
          <a:p>
            <a:pPr lvl="0">
              <a:spcBef>
                <a:spcPts val="0"/>
              </a:spcBef>
              <a:buNone/>
            </a:pPr>
            <a:r>
              <a:rPr lang="en" sz="1000" b="1">
                <a:solidFill>
                  <a:srgbClr val="980000"/>
                </a:solidFill>
              </a:rPr>
              <a:t>Classification: Majority vote</a:t>
            </a:r>
          </a:p>
          <a:p>
            <a:pPr lvl="0">
              <a:spcBef>
                <a:spcPts val="0"/>
              </a:spcBef>
              <a:buNone/>
            </a:pPr>
            <a:endParaRPr sz="1000" b="1">
              <a:solidFill>
                <a:srgbClr val="980000"/>
              </a:solidFill>
            </a:endParaRPr>
          </a:p>
          <a:p>
            <a:pPr lvl="0">
              <a:spcBef>
                <a:spcPts val="0"/>
              </a:spcBef>
              <a:buNone/>
            </a:pPr>
            <a:r>
              <a:rPr lang="en" sz="1000" b="1">
                <a:solidFill>
                  <a:srgbClr val="980000"/>
                </a:solidFill>
              </a:rPr>
              <a:t>Regression: mean of the predicted value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Shape 106"/>
          <p:cNvSpPr txBox="1">
            <a:spLocks noGrp="1"/>
          </p:cNvSpPr>
          <p:nvPr>
            <p:ph type="title"/>
          </p:nvPr>
        </p:nvSpPr>
        <p:spPr>
          <a:xfrm>
            <a:off x="457200" y="438150"/>
            <a:ext cx="8229600" cy="857400"/>
          </a:xfrm>
          <a:prstGeom prst="rect">
            <a:avLst/>
          </a:prstGeom>
        </p:spPr>
        <p:txBody>
          <a:bodyPr lIns="91425" tIns="91425" rIns="91425" bIns="91425" anchor="t" anchorCtr="0">
            <a:noAutofit/>
          </a:bodyPr>
          <a:lstStyle/>
          <a:p>
            <a:pPr lvl="0">
              <a:spcBef>
                <a:spcPts val="0"/>
              </a:spcBef>
              <a:buNone/>
            </a:pPr>
            <a:r>
              <a:rPr lang="en"/>
              <a:t>RANDOM FORESTS ALGORITHM</a:t>
            </a:r>
          </a:p>
        </p:txBody>
      </p:sp>
      <p:sp>
        <p:nvSpPr>
          <p:cNvPr id="107" name="Shape 107"/>
          <p:cNvSpPr txBox="1">
            <a:spLocks noGrp="1"/>
          </p:cNvSpPr>
          <p:nvPr>
            <p:ph type="body" idx="1"/>
          </p:nvPr>
        </p:nvSpPr>
        <p:spPr>
          <a:xfrm>
            <a:off x="762000" y="1123950"/>
            <a:ext cx="7543800" cy="3505200"/>
          </a:xfrm>
          <a:prstGeom prst="rect">
            <a:avLst/>
          </a:prstGeom>
        </p:spPr>
        <p:txBody>
          <a:bodyPr lIns="91425" tIns="91425" rIns="91425" bIns="91425" anchor="t" anchorCtr="0">
            <a:noAutofit/>
          </a:bodyPr>
          <a:lstStyle/>
          <a:p>
            <a:pPr marL="457200" lvl="0" indent="-228600" rtl="0">
              <a:spcBef>
                <a:spcPts val="0"/>
              </a:spcBef>
              <a:buChar char="-"/>
            </a:pPr>
            <a:r>
              <a:rPr lang="en"/>
              <a:t>Choose bootstrap sample from the whole data</a:t>
            </a:r>
          </a:p>
          <a:p>
            <a:pPr marL="457200" lvl="0" indent="-228600" rtl="0">
              <a:spcBef>
                <a:spcPts val="0"/>
              </a:spcBef>
              <a:buChar char="-"/>
            </a:pPr>
            <a:r>
              <a:rPr lang="en"/>
              <a:t>Grow a tree based on the independent subset of data</a:t>
            </a:r>
          </a:p>
          <a:p>
            <a:pPr lvl="0" rtl="0">
              <a:spcBef>
                <a:spcPts val="0"/>
              </a:spcBef>
              <a:buNone/>
            </a:pPr>
            <a:r>
              <a:rPr lang="en"/>
              <a:t>		</a:t>
            </a:r>
            <a:r>
              <a:rPr lang="en" sz="1800"/>
              <a:t>- Choose a variable as node each time</a:t>
            </a:r>
          </a:p>
          <a:p>
            <a:pPr marL="457200" lvl="0" indent="457200" rtl="0">
              <a:spcBef>
                <a:spcPts val="0"/>
              </a:spcBef>
              <a:buNone/>
            </a:pPr>
            <a:r>
              <a:rPr lang="en" sz="1800"/>
              <a:t>- At each node, choose random subset of variables and only consider splitting on these variables</a:t>
            </a:r>
          </a:p>
          <a:p>
            <a:pPr marL="457200" lvl="0" indent="-228600" rtl="0">
              <a:spcBef>
                <a:spcPts val="0"/>
              </a:spcBef>
              <a:buChar char="-"/>
            </a:pPr>
            <a:r>
              <a:rPr lang="en"/>
              <a:t>Vote/average the trees to get predictions for new data </a:t>
            </a:r>
            <a:r>
              <a:rPr lang="en" sz="1200">
                <a:solidFill>
                  <a:srgbClr val="C00000"/>
                </a:solidFill>
              </a:rPr>
              <a:t>*Use the number of </a:t>
            </a:r>
            <a:r>
              <a:rPr lang="en" sz="1200" b="1">
                <a:solidFill>
                  <a:srgbClr val="C00000"/>
                </a:solidFill>
              </a:rPr>
              <a:t>votes</a:t>
            </a:r>
            <a:r>
              <a:rPr lang="en" sz="1200">
                <a:solidFill>
                  <a:srgbClr val="C00000"/>
                </a:solidFill>
              </a:rPr>
              <a:t> for classification and use the </a:t>
            </a:r>
            <a:r>
              <a:rPr lang="en" sz="1200" b="1">
                <a:solidFill>
                  <a:srgbClr val="C00000"/>
                </a:solidFill>
              </a:rPr>
              <a:t>mean</a:t>
            </a:r>
            <a:r>
              <a:rPr lang="en" sz="1200">
                <a:solidFill>
                  <a:srgbClr val="C00000"/>
                </a:solidFill>
              </a:rPr>
              <a:t> of the results for regression.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Shape 112"/>
          <p:cNvSpPr txBox="1">
            <a:spLocks noGrp="1"/>
          </p:cNvSpPr>
          <p:nvPr>
            <p:ph type="title"/>
          </p:nvPr>
        </p:nvSpPr>
        <p:spPr>
          <a:xfrm>
            <a:off x="457200" y="438150"/>
            <a:ext cx="8229600" cy="857400"/>
          </a:xfrm>
          <a:prstGeom prst="rect">
            <a:avLst/>
          </a:prstGeom>
        </p:spPr>
        <p:txBody>
          <a:bodyPr lIns="91425" tIns="91425" rIns="91425" bIns="91425" anchor="t" anchorCtr="0">
            <a:noAutofit/>
          </a:bodyPr>
          <a:lstStyle/>
          <a:p>
            <a:pPr lvl="0">
              <a:spcBef>
                <a:spcPts val="0"/>
              </a:spcBef>
              <a:buClr>
                <a:schemeClr val="dk1"/>
              </a:buClr>
              <a:buSzPct val="34375"/>
              <a:buFont typeface="Arial"/>
              <a:buNone/>
            </a:pPr>
            <a:r>
              <a:rPr lang="en"/>
              <a:t>RANDOM FORESTS ALGORITHM</a:t>
            </a:r>
          </a:p>
          <a:p>
            <a:pPr lvl="0">
              <a:spcBef>
                <a:spcPts val="0"/>
              </a:spcBef>
              <a:buNone/>
            </a:pPr>
            <a:endParaRPr/>
          </a:p>
        </p:txBody>
      </p:sp>
      <p:pic>
        <p:nvPicPr>
          <p:cNvPr id="113" name="Shape 113"/>
          <p:cNvPicPr preferRelativeResize="0"/>
          <p:nvPr/>
        </p:nvPicPr>
        <p:blipFill>
          <a:blip r:embed="rId3">
            <a:alphaModFix/>
          </a:blip>
          <a:stretch>
            <a:fillRect/>
          </a:stretch>
        </p:blipFill>
        <p:spPr>
          <a:xfrm>
            <a:off x="3810700" y="1675399"/>
            <a:ext cx="1522600" cy="2218175"/>
          </a:xfrm>
          <a:prstGeom prst="rect">
            <a:avLst/>
          </a:prstGeom>
          <a:noFill/>
          <a:ln>
            <a:noFill/>
          </a:ln>
        </p:spPr>
      </p:pic>
      <p:pic>
        <p:nvPicPr>
          <p:cNvPr id="114" name="Shape 114"/>
          <p:cNvPicPr preferRelativeResize="0"/>
          <p:nvPr/>
        </p:nvPicPr>
        <p:blipFill>
          <a:blip r:embed="rId4">
            <a:alphaModFix/>
          </a:blip>
          <a:stretch>
            <a:fillRect/>
          </a:stretch>
        </p:blipFill>
        <p:spPr>
          <a:xfrm>
            <a:off x="2037762" y="941435"/>
            <a:ext cx="4808974" cy="3260650"/>
          </a:xfrm>
          <a:prstGeom prst="rect">
            <a:avLst/>
          </a:prstGeom>
          <a:noFill/>
          <a:ln>
            <a:noFill/>
          </a:ln>
        </p:spPr>
      </p:pic>
      <p:pic>
        <p:nvPicPr>
          <p:cNvPr id="115" name="Shape 115"/>
          <p:cNvPicPr preferRelativeResize="0"/>
          <p:nvPr/>
        </p:nvPicPr>
        <p:blipFill>
          <a:blip r:embed="rId5">
            <a:alphaModFix/>
          </a:blip>
          <a:stretch>
            <a:fillRect/>
          </a:stretch>
        </p:blipFill>
        <p:spPr>
          <a:xfrm>
            <a:off x="6161452" y="1023225"/>
            <a:ext cx="1313999" cy="1690499"/>
          </a:xfrm>
          <a:prstGeom prst="rect">
            <a:avLst/>
          </a:prstGeom>
          <a:noFill/>
          <a:ln>
            <a:noFill/>
          </a:ln>
        </p:spPr>
      </p:pic>
      <p:pic>
        <p:nvPicPr>
          <p:cNvPr id="116" name="Shape 116"/>
          <p:cNvPicPr preferRelativeResize="0"/>
          <p:nvPr/>
        </p:nvPicPr>
        <p:blipFill>
          <a:blip r:embed="rId5">
            <a:alphaModFix/>
          </a:blip>
          <a:stretch>
            <a:fillRect/>
          </a:stretch>
        </p:blipFill>
        <p:spPr>
          <a:xfrm>
            <a:off x="1409000" y="941412"/>
            <a:ext cx="1313999" cy="1690526"/>
          </a:xfrm>
          <a:prstGeom prst="rect">
            <a:avLst/>
          </a:prstGeom>
          <a:noFill/>
          <a:ln>
            <a:noFill/>
          </a:ln>
        </p:spPr>
      </p:pic>
      <p:pic>
        <p:nvPicPr>
          <p:cNvPr id="117" name="Shape 117"/>
          <p:cNvPicPr preferRelativeResize="0"/>
          <p:nvPr/>
        </p:nvPicPr>
        <p:blipFill>
          <a:blip r:embed="rId5">
            <a:alphaModFix/>
          </a:blip>
          <a:stretch>
            <a:fillRect/>
          </a:stretch>
        </p:blipFill>
        <p:spPr>
          <a:xfrm>
            <a:off x="6471574" y="2548549"/>
            <a:ext cx="1156866" cy="1488350"/>
          </a:xfrm>
          <a:prstGeom prst="rect">
            <a:avLst/>
          </a:prstGeom>
          <a:noFill/>
          <a:ln>
            <a:noFill/>
          </a:ln>
        </p:spPr>
      </p:pic>
      <p:pic>
        <p:nvPicPr>
          <p:cNvPr id="118" name="Shape 118"/>
          <p:cNvPicPr preferRelativeResize="0"/>
          <p:nvPr/>
        </p:nvPicPr>
        <p:blipFill>
          <a:blip r:embed="rId5">
            <a:alphaModFix/>
          </a:blip>
          <a:stretch>
            <a:fillRect/>
          </a:stretch>
        </p:blipFill>
        <p:spPr>
          <a:xfrm>
            <a:off x="1318400" y="2407775"/>
            <a:ext cx="1252649" cy="1611600"/>
          </a:xfrm>
          <a:prstGeom prst="rect">
            <a:avLst/>
          </a:prstGeom>
          <a:noFill/>
          <a:ln>
            <a:noFill/>
          </a:ln>
        </p:spPr>
      </p:pic>
      <p:pic>
        <p:nvPicPr>
          <p:cNvPr id="119" name="Shape 119"/>
          <p:cNvPicPr preferRelativeResize="0"/>
          <p:nvPr/>
        </p:nvPicPr>
        <p:blipFill>
          <a:blip r:embed="rId5">
            <a:alphaModFix/>
          </a:blip>
          <a:stretch>
            <a:fillRect/>
          </a:stretch>
        </p:blipFill>
        <p:spPr>
          <a:xfrm>
            <a:off x="2571049" y="3336928"/>
            <a:ext cx="933450" cy="120092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10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5"/>
                                        </p:tgtEl>
                                        <p:attrNameLst>
                                          <p:attrName>style.visibility</p:attrName>
                                        </p:attrNameLst>
                                      </p:cBhvr>
                                      <p:to>
                                        <p:strVal val="visible"/>
                                      </p:to>
                                    </p:set>
                                    <p:animEffect transition="in" filter="fade">
                                      <p:cBhvr>
                                        <p:cTn id="12" dur="1000"/>
                                        <p:tgtEl>
                                          <p:spTgt spid="115"/>
                                        </p:tgtEl>
                                      </p:cBhvr>
                                    </p:animEffect>
                                  </p:childTnLst>
                                </p:cTn>
                              </p:par>
                              <p:par>
                                <p:cTn id="13" presetID="10" presetClass="entr" presetSubtype="0" fill="hold" nodeType="withEffect">
                                  <p:stCondLst>
                                    <p:cond delay="0"/>
                                  </p:stCondLst>
                                  <p:childTnLst>
                                    <p:set>
                                      <p:cBhvr>
                                        <p:cTn id="14" dur="1" fill="hold">
                                          <p:stCondLst>
                                            <p:cond delay="0"/>
                                          </p:stCondLst>
                                        </p:cTn>
                                        <p:tgtEl>
                                          <p:spTgt spid="117"/>
                                        </p:tgtEl>
                                        <p:attrNameLst>
                                          <p:attrName>style.visibility</p:attrName>
                                        </p:attrNameLst>
                                      </p:cBhvr>
                                      <p:to>
                                        <p:strVal val="visible"/>
                                      </p:to>
                                    </p:set>
                                    <p:animEffect transition="in" filter="fade">
                                      <p:cBhvr>
                                        <p:cTn id="15" dur="1000"/>
                                        <p:tgtEl>
                                          <p:spTgt spid="117"/>
                                        </p:tgtEl>
                                      </p:cBhvr>
                                    </p:animEffect>
                                  </p:childTnLst>
                                </p:cTn>
                              </p:par>
                              <p:par>
                                <p:cTn id="16" presetID="10" presetClass="entr" presetSubtype="0" fill="hold" nodeType="withEffect">
                                  <p:stCondLst>
                                    <p:cond delay="0"/>
                                  </p:stCondLst>
                                  <p:childTnLst>
                                    <p:set>
                                      <p:cBhvr>
                                        <p:cTn id="17" dur="1" fill="hold">
                                          <p:stCondLst>
                                            <p:cond delay="0"/>
                                          </p:stCondLst>
                                        </p:cTn>
                                        <p:tgtEl>
                                          <p:spTgt spid="118"/>
                                        </p:tgtEl>
                                        <p:attrNameLst>
                                          <p:attrName>style.visibility</p:attrName>
                                        </p:attrNameLst>
                                      </p:cBhvr>
                                      <p:to>
                                        <p:strVal val="visible"/>
                                      </p:to>
                                    </p:set>
                                    <p:animEffect transition="in" filter="fade">
                                      <p:cBhvr>
                                        <p:cTn id="18" dur="1000"/>
                                        <p:tgtEl>
                                          <p:spTgt spid="118"/>
                                        </p:tgtEl>
                                      </p:cBhvr>
                                    </p:animEffect>
                                  </p:childTnLst>
                                </p:cTn>
                              </p:par>
                              <p:par>
                                <p:cTn id="19" presetID="10" presetClass="entr" presetSubtype="0" fill="hold" nodeType="withEffect">
                                  <p:stCondLst>
                                    <p:cond delay="0"/>
                                  </p:stCondLst>
                                  <p:childTnLst>
                                    <p:set>
                                      <p:cBhvr>
                                        <p:cTn id="20" dur="1" fill="hold">
                                          <p:stCondLst>
                                            <p:cond delay="0"/>
                                          </p:stCondLst>
                                        </p:cTn>
                                        <p:tgtEl>
                                          <p:spTgt spid="119"/>
                                        </p:tgtEl>
                                        <p:attrNameLst>
                                          <p:attrName>style.visibility</p:attrName>
                                        </p:attrNameLst>
                                      </p:cBhvr>
                                      <p:to>
                                        <p:strVal val="visible"/>
                                      </p:to>
                                    </p:set>
                                    <p:animEffect transition="in" filter="fade">
                                      <p:cBhvr>
                                        <p:cTn id="21" dur="1000"/>
                                        <p:tgtEl>
                                          <p:spTgt spid="119"/>
                                        </p:tgtEl>
                                      </p:cBhvr>
                                    </p:animEffect>
                                  </p:childTnLst>
                                </p:cTn>
                              </p:par>
                              <p:par>
                                <p:cTn id="22" presetID="10" presetClass="entr" presetSubtype="0" fill="hold" nodeType="withEffect">
                                  <p:stCondLst>
                                    <p:cond delay="0"/>
                                  </p:stCondLst>
                                  <p:childTnLst>
                                    <p:set>
                                      <p:cBhvr>
                                        <p:cTn id="23" dur="1" fill="hold">
                                          <p:stCondLst>
                                            <p:cond delay="0"/>
                                          </p:stCondLst>
                                        </p:cTn>
                                        <p:tgtEl>
                                          <p:spTgt spid="116"/>
                                        </p:tgtEl>
                                        <p:attrNameLst>
                                          <p:attrName>style.visibility</p:attrName>
                                        </p:attrNameLst>
                                      </p:cBhvr>
                                      <p:to>
                                        <p:strVal val="visible"/>
                                      </p:to>
                                    </p:set>
                                    <p:animEffect transition="in" filter="fade">
                                      <p:cBhvr>
                                        <p:cTn id="24" dur="10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Shape 124"/>
          <p:cNvSpPr txBox="1">
            <a:spLocks noGrp="1"/>
          </p:cNvSpPr>
          <p:nvPr>
            <p:ph type="title"/>
          </p:nvPr>
        </p:nvSpPr>
        <p:spPr>
          <a:xfrm>
            <a:off x="457200" y="1200150"/>
            <a:ext cx="8229600" cy="2743200"/>
          </a:xfrm>
          <a:prstGeom prst="rect">
            <a:avLst/>
          </a:prstGeom>
        </p:spPr>
        <p:txBody>
          <a:bodyPr lIns="91425" tIns="91425" rIns="91425" bIns="91425" anchor="ctr" anchorCtr="0">
            <a:noAutofit/>
          </a:bodyPr>
          <a:lstStyle/>
          <a:p>
            <a:pPr lvl="0">
              <a:spcBef>
                <a:spcPts val="0"/>
              </a:spcBef>
              <a:buNone/>
            </a:pPr>
            <a:r>
              <a:rPr lang="en"/>
              <a:t>EXAMPLE 1</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Shape 129"/>
          <p:cNvSpPr txBox="1">
            <a:spLocks noGrp="1"/>
          </p:cNvSpPr>
          <p:nvPr>
            <p:ph type="title"/>
          </p:nvPr>
        </p:nvSpPr>
        <p:spPr>
          <a:xfrm>
            <a:off x="457200" y="438150"/>
            <a:ext cx="8229600" cy="857400"/>
          </a:xfrm>
          <a:prstGeom prst="rect">
            <a:avLst/>
          </a:prstGeom>
        </p:spPr>
        <p:txBody>
          <a:bodyPr lIns="91425" tIns="91425" rIns="91425" bIns="91425" anchor="t" anchorCtr="0">
            <a:noAutofit/>
          </a:bodyPr>
          <a:lstStyle/>
          <a:p>
            <a:pPr lvl="0" rtl="0">
              <a:spcBef>
                <a:spcPts val="0"/>
              </a:spcBef>
              <a:buNone/>
            </a:pPr>
            <a:r>
              <a:rPr lang="en"/>
              <a:t>CLASSIFICATION EXAMPLE</a:t>
            </a:r>
          </a:p>
        </p:txBody>
      </p:sp>
      <p:sp>
        <p:nvSpPr>
          <p:cNvPr id="130" name="Shape 130"/>
          <p:cNvSpPr txBox="1">
            <a:spLocks noGrp="1"/>
          </p:cNvSpPr>
          <p:nvPr>
            <p:ph type="body" idx="1"/>
          </p:nvPr>
        </p:nvSpPr>
        <p:spPr>
          <a:xfrm>
            <a:off x="552300" y="1136300"/>
            <a:ext cx="4369200" cy="3505200"/>
          </a:xfrm>
          <a:prstGeom prst="rect">
            <a:avLst/>
          </a:prstGeom>
        </p:spPr>
        <p:txBody>
          <a:bodyPr lIns="91425" tIns="91425" rIns="91425" bIns="91425" anchor="t" anchorCtr="0">
            <a:noAutofit/>
          </a:bodyPr>
          <a:lstStyle/>
          <a:p>
            <a:pPr marL="457200" lvl="0" indent="-228600" rtl="0">
              <a:spcBef>
                <a:spcPts val="0"/>
              </a:spcBef>
              <a:buClr>
                <a:srgbClr val="080E14"/>
              </a:buClr>
              <a:buChar char="●"/>
            </a:pPr>
            <a:r>
              <a:rPr lang="en">
                <a:solidFill>
                  <a:srgbClr val="080E14"/>
                </a:solidFill>
                <a:highlight>
                  <a:srgbClr val="FFFFFF"/>
                </a:highlight>
              </a:rPr>
              <a:t>Come up with an accurate predictive algorithm to estimate annual income bracket of each individual in Mexico</a:t>
            </a:r>
          </a:p>
          <a:p>
            <a:pPr marL="457200" lvl="0" indent="-228600" rtl="0">
              <a:spcBef>
                <a:spcPts val="0"/>
              </a:spcBef>
              <a:buClr>
                <a:srgbClr val="080E14"/>
              </a:buClr>
              <a:buChar char="●"/>
            </a:pPr>
            <a:r>
              <a:rPr lang="en">
                <a:solidFill>
                  <a:srgbClr val="080E14"/>
                </a:solidFill>
                <a:highlight>
                  <a:srgbClr val="FFFFFF"/>
                </a:highlight>
              </a:rPr>
              <a:t>Brackets:</a:t>
            </a:r>
          </a:p>
          <a:p>
            <a:pPr marL="914400" lvl="1" indent="-228600" algn="just" rtl="0">
              <a:lnSpc>
                <a:spcPct val="156250"/>
              </a:lnSpc>
              <a:spcBef>
                <a:spcPts val="0"/>
              </a:spcBef>
              <a:spcAft>
                <a:spcPts val="1600"/>
              </a:spcAft>
              <a:buClr>
                <a:srgbClr val="080E14"/>
              </a:buClr>
              <a:buChar char="○"/>
            </a:pPr>
            <a:r>
              <a:rPr lang="en" sz="1400">
                <a:solidFill>
                  <a:srgbClr val="080E14"/>
                </a:solidFill>
                <a:highlight>
                  <a:srgbClr val="FFFFFF"/>
                </a:highlight>
              </a:rPr>
              <a:t>Below $40,000</a:t>
            </a:r>
          </a:p>
          <a:p>
            <a:pPr marL="914400" lvl="1" indent="-228600" algn="just" rtl="0">
              <a:lnSpc>
                <a:spcPct val="156250"/>
              </a:lnSpc>
              <a:spcBef>
                <a:spcPts val="0"/>
              </a:spcBef>
              <a:spcAft>
                <a:spcPts val="1600"/>
              </a:spcAft>
              <a:buClr>
                <a:srgbClr val="080E14"/>
              </a:buClr>
              <a:buChar char="○"/>
            </a:pPr>
            <a:r>
              <a:rPr lang="en" sz="1400">
                <a:solidFill>
                  <a:srgbClr val="080E14"/>
                </a:solidFill>
                <a:highlight>
                  <a:srgbClr val="FFFFFF"/>
                </a:highlight>
              </a:rPr>
              <a:t>$40,000 – 150,000</a:t>
            </a:r>
          </a:p>
          <a:p>
            <a:pPr marL="914400" lvl="1" indent="-228600" algn="just" rtl="0">
              <a:lnSpc>
                <a:spcPct val="156250"/>
              </a:lnSpc>
              <a:spcBef>
                <a:spcPts val="0"/>
              </a:spcBef>
              <a:spcAft>
                <a:spcPts val="1600"/>
              </a:spcAft>
              <a:buClr>
                <a:srgbClr val="080E14"/>
              </a:buClr>
              <a:buChar char="○"/>
            </a:pPr>
            <a:r>
              <a:rPr lang="en" sz="1400">
                <a:solidFill>
                  <a:srgbClr val="080E14"/>
                </a:solidFill>
                <a:highlight>
                  <a:srgbClr val="FFFFFF"/>
                </a:highlight>
              </a:rPr>
              <a:t>More than $150,000</a:t>
            </a:r>
          </a:p>
        </p:txBody>
      </p:sp>
      <p:sp>
        <p:nvSpPr>
          <p:cNvPr id="131" name="Shape 131"/>
          <p:cNvSpPr txBox="1"/>
          <p:nvPr/>
        </p:nvSpPr>
        <p:spPr>
          <a:xfrm>
            <a:off x="6166725" y="1226875"/>
            <a:ext cx="3429000" cy="3108300"/>
          </a:xfrm>
          <a:prstGeom prst="rect">
            <a:avLst/>
          </a:prstGeom>
          <a:noFill/>
          <a:ln>
            <a:noFill/>
          </a:ln>
        </p:spPr>
        <p:txBody>
          <a:bodyPr lIns="91425" tIns="91425" rIns="91425" bIns="91425" anchor="t" anchorCtr="0">
            <a:noAutofit/>
          </a:bodyPr>
          <a:lstStyle/>
          <a:p>
            <a:pPr lvl="0" algn="just" rtl="0">
              <a:spcBef>
                <a:spcPts val="0"/>
              </a:spcBef>
              <a:buNone/>
            </a:pPr>
            <a:r>
              <a:rPr lang="en" sz="2400">
                <a:solidFill>
                  <a:srgbClr val="080E14"/>
                </a:solidFill>
                <a:highlight>
                  <a:srgbClr val="FFFFFF"/>
                </a:highlight>
              </a:rPr>
              <a:t>Variables:</a:t>
            </a:r>
          </a:p>
          <a:p>
            <a:pPr lvl="0" algn="just" rtl="0">
              <a:spcBef>
                <a:spcPts val="0"/>
              </a:spcBef>
              <a:buClr>
                <a:schemeClr val="dk1"/>
              </a:buClr>
              <a:buFont typeface="Arial"/>
              <a:buNone/>
            </a:pPr>
            <a:endParaRPr sz="2400">
              <a:solidFill>
                <a:srgbClr val="080E14"/>
              </a:solidFill>
              <a:highlight>
                <a:srgbClr val="FFFFFF"/>
              </a:highlight>
            </a:endParaRPr>
          </a:p>
          <a:p>
            <a:pPr lvl="0" rtl="0">
              <a:spcBef>
                <a:spcPts val="0"/>
              </a:spcBef>
              <a:buNone/>
            </a:pPr>
            <a:r>
              <a:rPr lang="en" sz="1800">
                <a:solidFill>
                  <a:srgbClr val="080E14"/>
                </a:solidFill>
                <a:highlight>
                  <a:srgbClr val="FFFFFF"/>
                </a:highlight>
              </a:rPr>
              <a:t>1. Age</a:t>
            </a:r>
          </a:p>
          <a:p>
            <a:pPr lvl="0" rtl="0">
              <a:spcBef>
                <a:spcPts val="0"/>
              </a:spcBef>
              <a:buNone/>
            </a:pPr>
            <a:r>
              <a:rPr lang="en" sz="1800">
                <a:solidFill>
                  <a:srgbClr val="080E14"/>
                </a:solidFill>
                <a:highlight>
                  <a:srgbClr val="FFFFFF"/>
                </a:highlight>
              </a:rPr>
              <a:t>2. Gender</a:t>
            </a:r>
          </a:p>
          <a:p>
            <a:pPr lvl="0" rtl="0">
              <a:spcBef>
                <a:spcPts val="0"/>
              </a:spcBef>
              <a:buNone/>
            </a:pPr>
            <a:r>
              <a:rPr lang="en" sz="1800">
                <a:solidFill>
                  <a:srgbClr val="080E14"/>
                </a:solidFill>
                <a:highlight>
                  <a:srgbClr val="FFFFFF"/>
                </a:highlight>
              </a:rPr>
              <a:t>3. Highest educational qualification</a:t>
            </a:r>
          </a:p>
          <a:p>
            <a:pPr lvl="0" rtl="0">
              <a:spcBef>
                <a:spcPts val="0"/>
              </a:spcBef>
              <a:buNone/>
            </a:pPr>
            <a:r>
              <a:rPr lang="en" sz="1800">
                <a:solidFill>
                  <a:srgbClr val="080E14"/>
                </a:solidFill>
                <a:highlight>
                  <a:srgbClr val="FFFFFF"/>
                </a:highlight>
              </a:rPr>
              <a:t>4. Working in Industry</a:t>
            </a:r>
          </a:p>
          <a:p>
            <a:pPr lvl="0" rtl="0">
              <a:spcBef>
                <a:spcPts val="0"/>
              </a:spcBef>
              <a:buClr>
                <a:schemeClr val="dk1"/>
              </a:buClr>
              <a:buSzPct val="61111"/>
              <a:buFont typeface="Arial"/>
              <a:buNone/>
            </a:pPr>
            <a:r>
              <a:rPr lang="en" sz="1800">
                <a:solidFill>
                  <a:srgbClr val="080E14"/>
                </a:solidFill>
                <a:highlight>
                  <a:srgbClr val="FFFFFF"/>
                </a:highlight>
              </a:rPr>
              <a:t>5. Residence in Metro/Non-metro</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Shape 136"/>
          <p:cNvSpPr txBox="1">
            <a:spLocks noGrp="1"/>
          </p:cNvSpPr>
          <p:nvPr>
            <p:ph type="title"/>
          </p:nvPr>
        </p:nvSpPr>
        <p:spPr>
          <a:xfrm>
            <a:off x="457200" y="438150"/>
            <a:ext cx="8229600" cy="857400"/>
          </a:xfrm>
          <a:prstGeom prst="rect">
            <a:avLst/>
          </a:prstGeom>
        </p:spPr>
        <p:txBody>
          <a:bodyPr lIns="91425" tIns="91425" rIns="91425" bIns="91425" anchor="t" anchorCtr="0">
            <a:noAutofit/>
          </a:bodyPr>
          <a:lstStyle/>
          <a:p>
            <a:pPr lvl="0" rtl="0">
              <a:spcBef>
                <a:spcPts val="0"/>
              </a:spcBef>
              <a:buNone/>
            </a:pPr>
            <a:r>
              <a:rPr lang="en"/>
              <a:t>CLASSIFICATION EXAMPLE</a:t>
            </a:r>
          </a:p>
        </p:txBody>
      </p:sp>
      <p:sp>
        <p:nvSpPr>
          <p:cNvPr id="137" name="Shape 137"/>
          <p:cNvSpPr txBox="1">
            <a:spLocks noGrp="1"/>
          </p:cNvSpPr>
          <p:nvPr>
            <p:ph type="body" idx="1"/>
          </p:nvPr>
        </p:nvSpPr>
        <p:spPr>
          <a:xfrm>
            <a:off x="762000" y="1123950"/>
            <a:ext cx="7543800" cy="3505200"/>
          </a:xfrm>
          <a:prstGeom prst="rect">
            <a:avLst/>
          </a:prstGeom>
        </p:spPr>
        <p:txBody>
          <a:bodyPr lIns="91425" tIns="91425" rIns="91425" bIns="91425" anchor="t" anchorCtr="0">
            <a:noAutofit/>
          </a:bodyPr>
          <a:lstStyle/>
          <a:p>
            <a:pPr lvl="0" rtl="0">
              <a:spcBef>
                <a:spcPts val="0"/>
              </a:spcBef>
              <a:buNone/>
            </a:pPr>
            <a:r>
              <a:rPr lang="en">
                <a:solidFill>
                  <a:srgbClr val="080E14"/>
                </a:solidFill>
                <a:highlight>
                  <a:srgbClr val="FFFFFF"/>
                </a:highlight>
              </a:rPr>
              <a:t>Prediction for individual:</a:t>
            </a:r>
          </a:p>
          <a:p>
            <a:pPr lvl="0" rtl="0">
              <a:spcBef>
                <a:spcPts val="0"/>
              </a:spcBef>
              <a:buNone/>
            </a:pPr>
            <a:endParaRPr>
              <a:solidFill>
                <a:srgbClr val="080E14"/>
              </a:solidFill>
              <a:highlight>
                <a:srgbClr val="FFFFFF"/>
              </a:highlight>
            </a:endParaRPr>
          </a:p>
          <a:p>
            <a:pPr lvl="0" rtl="0">
              <a:spcBef>
                <a:spcPts val="0"/>
              </a:spcBef>
              <a:buNone/>
            </a:pPr>
            <a:r>
              <a:rPr lang="en">
                <a:solidFill>
                  <a:srgbClr val="080E14"/>
                </a:solidFill>
                <a:highlight>
                  <a:srgbClr val="FFFFFF"/>
                </a:highlight>
              </a:rPr>
              <a:t>1. Age: 35 years</a:t>
            </a:r>
          </a:p>
          <a:p>
            <a:pPr lvl="0" rtl="0">
              <a:spcBef>
                <a:spcPts val="0"/>
              </a:spcBef>
              <a:buNone/>
            </a:pPr>
            <a:r>
              <a:rPr lang="en">
                <a:solidFill>
                  <a:srgbClr val="080E14"/>
                </a:solidFill>
                <a:highlight>
                  <a:srgbClr val="FFFFFF"/>
                </a:highlight>
              </a:rPr>
              <a:t>2. Gender: Male</a:t>
            </a:r>
          </a:p>
          <a:p>
            <a:pPr lvl="0" rtl="0">
              <a:spcBef>
                <a:spcPts val="0"/>
              </a:spcBef>
              <a:buNone/>
            </a:pPr>
            <a:r>
              <a:rPr lang="en">
                <a:solidFill>
                  <a:srgbClr val="080E14"/>
                </a:solidFill>
                <a:highlight>
                  <a:srgbClr val="FFFFFF"/>
                </a:highlight>
              </a:rPr>
              <a:t>3. Highest Educational Qualification: Diploma holder</a:t>
            </a:r>
          </a:p>
          <a:p>
            <a:pPr lvl="0" rtl="0">
              <a:spcBef>
                <a:spcPts val="0"/>
              </a:spcBef>
              <a:buNone/>
            </a:pPr>
            <a:r>
              <a:rPr lang="en">
                <a:solidFill>
                  <a:srgbClr val="080E14"/>
                </a:solidFill>
                <a:highlight>
                  <a:srgbClr val="FFFFFF"/>
                </a:highlight>
              </a:rPr>
              <a:t>4. Industry: Manufacturing</a:t>
            </a:r>
          </a:p>
          <a:p>
            <a:pPr lvl="0" rtl="0">
              <a:spcBef>
                <a:spcPts val="0"/>
              </a:spcBef>
              <a:buNone/>
            </a:pPr>
            <a:r>
              <a:rPr lang="en">
                <a:solidFill>
                  <a:srgbClr val="080E14"/>
                </a:solidFill>
                <a:highlight>
                  <a:srgbClr val="FFFFFF"/>
                </a:highlight>
              </a:rPr>
              <a:t>5. Residence: Metro</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Shape 142"/>
          <p:cNvSpPr txBox="1">
            <a:spLocks noGrp="1"/>
          </p:cNvSpPr>
          <p:nvPr>
            <p:ph type="title"/>
          </p:nvPr>
        </p:nvSpPr>
        <p:spPr>
          <a:xfrm>
            <a:off x="457200" y="438150"/>
            <a:ext cx="8229600" cy="857400"/>
          </a:xfrm>
          <a:prstGeom prst="rect">
            <a:avLst/>
          </a:prstGeom>
        </p:spPr>
        <p:txBody>
          <a:bodyPr lIns="91425" tIns="91425" rIns="91425" bIns="91425" anchor="t" anchorCtr="0">
            <a:noAutofit/>
          </a:bodyPr>
          <a:lstStyle/>
          <a:p>
            <a:pPr lvl="0" rtl="0">
              <a:spcBef>
                <a:spcPts val="0"/>
              </a:spcBef>
              <a:buNone/>
            </a:pPr>
            <a:r>
              <a:rPr lang="en"/>
              <a:t>CLASSIFICATION EXAMPLE</a:t>
            </a:r>
          </a:p>
        </p:txBody>
      </p:sp>
      <p:pic>
        <p:nvPicPr>
          <p:cNvPr id="143" name="Shape 143"/>
          <p:cNvPicPr preferRelativeResize="0"/>
          <p:nvPr/>
        </p:nvPicPr>
        <p:blipFill>
          <a:blip r:embed="rId3">
            <a:alphaModFix/>
          </a:blip>
          <a:stretch>
            <a:fillRect/>
          </a:stretch>
        </p:blipFill>
        <p:spPr>
          <a:xfrm>
            <a:off x="4221623" y="1640501"/>
            <a:ext cx="4840175" cy="2236324"/>
          </a:xfrm>
          <a:prstGeom prst="rect">
            <a:avLst/>
          </a:prstGeom>
          <a:noFill/>
          <a:ln>
            <a:noFill/>
          </a:ln>
        </p:spPr>
      </p:pic>
      <p:sp>
        <p:nvSpPr>
          <p:cNvPr id="144" name="Shape 144"/>
          <p:cNvSpPr txBox="1"/>
          <p:nvPr/>
        </p:nvSpPr>
        <p:spPr>
          <a:xfrm>
            <a:off x="325825" y="1640500"/>
            <a:ext cx="3895800" cy="2553300"/>
          </a:xfrm>
          <a:prstGeom prst="rect">
            <a:avLst/>
          </a:prstGeom>
          <a:noFill/>
          <a:ln>
            <a:noFill/>
          </a:ln>
        </p:spPr>
        <p:txBody>
          <a:bodyPr lIns="91425" tIns="91425" rIns="91425" bIns="91425" anchor="ctr" anchorCtr="0">
            <a:noAutofit/>
          </a:bodyPr>
          <a:lstStyle/>
          <a:p>
            <a:pPr lvl="0" rtl="0">
              <a:spcBef>
                <a:spcPts val="0"/>
              </a:spcBef>
              <a:buNone/>
            </a:pPr>
            <a:r>
              <a:rPr lang="en" sz="2400">
                <a:solidFill>
                  <a:srgbClr val="080E14"/>
                </a:solidFill>
                <a:highlight>
                  <a:srgbClr val="FFFFFF"/>
                </a:highlight>
              </a:rPr>
              <a:t>Pick up 10k observation with only one variable (for simplicity) to build each tree.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Shape 149"/>
          <p:cNvSpPr txBox="1">
            <a:spLocks noGrp="1"/>
          </p:cNvSpPr>
          <p:nvPr>
            <p:ph type="title"/>
          </p:nvPr>
        </p:nvSpPr>
        <p:spPr>
          <a:xfrm>
            <a:off x="457200" y="438150"/>
            <a:ext cx="8229600" cy="857400"/>
          </a:xfrm>
          <a:prstGeom prst="rect">
            <a:avLst/>
          </a:prstGeom>
        </p:spPr>
        <p:txBody>
          <a:bodyPr lIns="91425" tIns="91425" rIns="91425" bIns="91425" anchor="t" anchorCtr="0">
            <a:noAutofit/>
          </a:bodyPr>
          <a:lstStyle/>
          <a:p>
            <a:pPr lvl="0" rtl="0">
              <a:spcBef>
                <a:spcPts val="0"/>
              </a:spcBef>
              <a:buNone/>
            </a:pPr>
            <a:r>
              <a:rPr lang="en"/>
              <a:t>CLASSIFICATION EXAMPLE</a:t>
            </a:r>
          </a:p>
        </p:txBody>
      </p:sp>
      <p:pic>
        <p:nvPicPr>
          <p:cNvPr id="150" name="Shape 150"/>
          <p:cNvPicPr preferRelativeResize="0"/>
          <p:nvPr/>
        </p:nvPicPr>
        <p:blipFill>
          <a:blip r:embed="rId3">
            <a:alphaModFix/>
          </a:blip>
          <a:stretch>
            <a:fillRect/>
          </a:stretch>
        </p:blipFill>
        <p:spPr>
          <a:xfrm>
            <a:off x="197225" y="1018400"/>
            <a:ext cx="3590925" cy="1619250"/>
          </a:xfrm>
          <a:prstGeom prst="rect">
            <a:avLst/>
          </a:prstGeom>
          <a:noFill/>
          <a:ln>
            <a:noFill/>
          </a:ln>
        </p:spPr>
      </p:pic>
      <p:pic>
        <p:nvPicPr>
          <p:cNvPr id="151" name="Shape 151"/>
          <p:cNvPicPr preferRelativeResize="0"/>
          <p:nvPr/>
        </p:nvPicPr>
        <p:blipFill>
          <a:blip r:embed="rId4">
            <a:alphaModFix/>
          </a:blip>
          <a:stretch>
            <a:fillRect/>
          </a:stretch>
        </p:blipFill>
        <p:spPr>
          <a:xfrm>
            <a:off x="121025" y="2637650"/>
            <a:ext cx="3629025" cy="781050"/>
          </a:xfrm>
          <a:prstGeom prst="rect">
            <a:avLst/>
          </a:prstGeom>
          <a:noFill/>
          <a:ln>
            <a:noFill/>
          </a:ln>
        </p:spPr>
      </p:pic>
      <p:pic>
        <p:nvPicPr>
          <p:cNvPr id="152" name="Shape 152"/>
          <p:cNvPicPr preferRelativeResize="0"/>
          <p:nvPr/>
        </p:nvPicPr>
        <p:blipFill>
          <a:blip r:embed="rId5">
            <a:alphaModFix/>
          </a:blip>
          <a:stretch>
            <a:fillRect/>
          </a:stretch>
        </p:blipFill>
        <p:spPr>
          <a:xfrm>
            <a:off x="197225" y="3581800"/>
            <a:ext cx="3476625" cy="1095375"/>
          </a:xfrm>
          <a:prstGeom prst="rect">
            <a:avLst/>
          </a:prstGeom>
          <a:noFill/>
          <a:ln>
            <a:noFill/>
          </a:ln>
        </p:spPr>
      </p:pic>
      <p:pic>
        <p:nvPicPr>
          <p:cNvPr id="153" name="Shape 153"/>
          <p:cNvPicPr preferRelativeResize="0"/>
          <p:nvPr/>
        </p:nvPicPr>
        <p:blipFill>
          <a:blip r:embed="rId6">
            <a:alphaModFix/>
          </a:blip>
          <a:stretch>
            <a:fillRect/>
          </a:stretch>
        </p:blipFill>
        <p:spPr>
          <a:xfrm>
            <a:off x="4775250" y="1544625"/>
            <a:ext cx="3448050" cy="685800"/>
          </a:xfrm>
          <a:prstGeom prst="rect">
            <a:avLst/>
          </a:prstGeom>
          <a:noFill/>
          <a:ln>
            <a:noFill/>
          </a:ln>
        </p:spPr>
      </p:pic>
      <p:pic>
        <p:nvPicPr>
          <p:cNvPr id="154" name="Shape 154"/>
          <p:cNvPicPr preferRelativeResize="0"/>
          <p:nvPr/>
        </p:nvPicPr>
        <p:blipFill>
          <a:blip r:embed="rId7">
            <a:alphaModFix/>
          </a:blip>
          <a:stretch>
            <a:fillRect/>
          </a:stretch>
        </p:blipFill>
        <p:spPr>
          <a:xfrm>
            <a:off x="4556175" y="3211250"/>
            <a:ext cx="3886200" cy="1057275"/>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Shape 159"/>
          <p:cNvSpPr txBox="1">
            <a:spLocks noGrp="1"/>
          </p:cNvSpPr>
          <p:nvPr>
            <p:ph type="title"/>
          </p:nvPr>
        </p:nvSpPr>
        <p:spPr>
          <a:xfrm>
            <a:off x="457200" y="438150"/>
            <a:ext cx="8229600" cy="857400"/>
          </a:xfrm>
          <a:prstGeom prst="rect">
            <a:avLst/>
          </a:prstGeom>
        </p:spPr>
        <p:txBody>
          <a:bodyPr lIns="91425" tIns="91425" rIns="91425" bIns="91425" anchor="t" anchorCtr="0">
            <a:noAutofit/>
          </a:bodyPr>
          <a:lstStyle/>
          <a:p>
            <a:pPr lvl="0" rtl="0">
              <a:spcBef>
                <a:spcPts val="0"/>
              </a:spcBef>
              <a:buNone/>
            </a:pPr>
            <a:r>
              <a:rPr lang="en"/>
              <a:t>CLASSIFICATION EXAMPLE</a:t>
            </a:r>
          </a:p>
        </p:txBody>
      </p:sp>
      <p:pic>
        <p:nvPicPr>
          <p:cNvPr id="160" name="Shape 160"/>
          <p:cNvPicPr preferRelativeResize="0"/>
          <p:nvPr/>
        </p:nvPicPr>
        <p:blipFill>
          <a:blip r:embed="rId3">
            <a:alphaModFix/>
          </a:blip>
          <a:stretch>
            <a:fillRect/>
          </a:stretch>
        </p:blipFill>
        <p:spPr>
          <a:xfrm>
            <a:off x="2714625" y="1804987"/>
            <a:ext cx="3714750" cy="1533525"/>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Shape 165"/>
          <p:cNvSpPr txBox="1">
            <a:spLocks noGrp="1"/>
          </p:cNvSpPr>
          <p:nvPr>
            <p:ph type="title"/>
          </p:nvPr>
        </p:nvSpPr>
        <p:spPr>
          <a:xfrm>
            <a:off x="457200" y="1200150"/>
            <a:ext cx="8229600" cy="2743200"/>
          </a:xfrm>
          <a:prstGeom prst="rect">
            <a:avLst/>
          </a:prstGeom>
        </p:spPr>
        <p:txBody>
          <a:bodyPr lIns="91425" tIns="91425" rIns="91425" bIns="91425" anchor="ctr" anchorCtr="0">
            <a:noAutofit/>
          </a:bodyPr>
          <a:lstStyle/>
          <a:p>
            <a:pPr lvl="0">
              <a:spcBef>
                <a:spcPts val="0"/>
              </a:spcBef>
              <a:buNone/>
            </a:pPr>
            <a:r>
              <a:rPr lang="en"/>
              <a:t>EXAMPLE 2</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Shape 170"/>
          <p:cNvSpPr txBox="1">
            <a:spLocks noGrp="1"/>
          </p:cNvSpPr>
          <p:nvPr>
            <p:ph type="title"/>
          </p:nvPr>
        </p:nvSpPr>
        <p:spPr>
          <a:xfrm>
            <a:off x="457200" y="438150"/>
            <a:ext cx="8229600" cy="857400"/>
          </a:xfrm>
          <a:prstGeom prst="rect">
            <a:avLst/>
          </a:prstGeom>
        </p:spPr>
        <p:txBody>
          <a:bodyPr lIns="91425" tIns="91425" rIns="91425" bIns="91425" anchor="t" anchorCtr="0">
            <a:noAutofit/>
          </a:bodyPr>
          <a:lstStyle/>
          <a:p>
            <a:pPr lvl="0">
              <a:spcBef>
                <a:spcPts val="0"/>
              </a:spcBef>
              <a:buNone/>
            </a:pPr>
            <a:r>
              <a:rPr lang="en"/>
              <a:t>REGRESSION - DECISION TREE</a:t>
            </a:r>
          </a:p>
        </p:txBody>
      </p:sp>
      <p:sp>
        <p:nvSpPr>
          <p:cNvPr id="171" name="Shape 171"/>
          <p:cNvSpPr txBox="1">
            <a:spLocks noGrp="1"/>
          </p:cNvSpPr>
          <p:nvPr>
            <p:ph type="body" idx="1"/>
          </p:nvPr>
        </p:nvSpPr>
        <p:spPr>
          <a:xfrm>
            <a:off x="762000" y="988300"/>
            <a:ext cx="7543800" cy="3505200"/>
          </a:xfrm>
          <a:prstGeom prst="rect">
            <a:avLst/>
          </a:prstGeom>
        </p:spPr>
        <p:txBody>
          <a:bodyPr lIns="91425" tIns="91425" rIns="91425" bIns="91425" anchor="t" anchorCtr="0">
            <a:noAutofit/>
          </a:bodyPr>
          <a:lstStyle/>
          <a:p>
            <a:pPr marL="457200" lvl="0" indent="-342900" rtl="0">
              <a:spcBef>
                <a:spcPts val="0"/>
              </a:spcBef>
              <a:buSzPct val="100000"/>
              <a:buChar char="-"/>
            </a:pPr>
            <a:r>
              <a:rPr lang="en" sz="1800"/>
              <a:t>Prediction is numeric/continuous</a:t>
            </a:r>
          </a:p>
          <a:p>
            <a:pPr marL="457200" lvl="0" indent="-342900">
              <a:spcBef>
                <a:spcPts val="0"/>
              </a:spcBef>
              <a:buSzPct val="100000"/>
              <a:buChar char="-"/>
            </a:pPr>
            <a:r>
              <a:rPr lang="en" sz="1800"/>
              <a:t>Choose split that minimizes SSE in each leaf </a:t>
            </a:r>
          </a:p>
        </p:txBody>
      </p:sp>
      <p:pic>
        <p:nvPicPr>
          <p:cNvPr id="172" name="Shape 172"/>
          <p:cNvPicPr preferRelativeResize="0"/>
          <p:nvPr/>
        </p:nvPicPr>
        <p:blipFill>
          <a:blip r:embed="rId3">
            <a:alphaModFix/>
          </a:blip>
          <a:stretch>
            <a:fillRect/>
          </a:stretch>
        </p:blipFill>
        <p:spPr>
          <a:xfrm>
            <a:off x="4496200" y="2171549"/>
            <a:ext cx="3809600" cy="2321960"/>
          </a:xfrm>
          <a:prstGeom prst="rect">
            <a:avLst/>
          </a:prstGeom>
          <a:noFill/>
          <a:ln>
            <a:noFill/>
          </a:ln>
        </p:spPr>
      </p:pic>
      <p:pic>
        <p:nvPicPr>
          <p:cNvPr id="173" name="Shape 173"/>
          <p:cNvPicPr preferRelativeResize="0"/>
          <p:nvPr/>
        </p:nvPicPr>
        <p:blipFill>
          <a:blip r:embed="rId4">
            <a:alphaModFix/>
          </a:blip>
          <a:stretch>
            <a:fillRect/>
          </a:stretch>
        </p:blipFill>
        <p:spPr>
          <a:xfrm>
            <a:off x="1351250" y="1764200"/>
            <a:ext cx="1520523" cy="345199"/>
          </a:xfrm>
          <a:prstGeom prst="rect">
            <a:avLst/>
          </a:prstGeom>
          <a:noFill/>
          <a:ln>
            <a:noFill/>
          </a:ln>
        </p:spPr>
      </p:pic>
      <p:pic>
        <p:nvPicPr>
          <p:cNvPr id="174" name="Shape 174"/>
          <p:cNvPicPr preferRelativeResize="0"/>
          <p:nvPr/>
        </p:nvPicPr>
        <p:blipFill rotWithShape="1">
          <a:blip r:embed="rId5">
            <a:alphaModFix/>
          </a:blip>
          <a:srcRect t="9395"/>
          <a:stretch/>
        </p:blipFill>
        <p:spPr>
          <a:xfrm>
            <a:off x="575750" y="2525162"/>
            <a:ext cx="3809600" cy="1841323"/>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Shape 179"/>
          <p:cNvSpPr txBox="1">
            <a:spLocks noGrp="1"/>
          </p:cNvSpPr>
          <p:nvPr>
            <p:ph type="title"/>
          </p:nvPr>
        </p:nvSpPr>
        <p:spPr>
          <a:xfrm>
            <a:off x="457200" y="438150"/>
            <a:ext cx="8229600" cy="857400"/>
          </a:xfrm>
          <a:prstGeom prst="rect">
            <a:avLst/>
          </a:prstGeom>
        </p:spPr>
        <p:txBody>
          <a:bodyPr lIns="91425" tIns="91425" rIns="91425" bIns="91425" anchor="t" anchorCtr="0">
            <a:noAutofit/>
          </a:bodyPr>
          <a:lstStyle/>
          <a:p>
            <a:pPr lvl="0" rtl="0">
              <a:spcBef>
                <a:spcPts val="0"/>
              </a:spcBef>
              <a:buNone/>
            </a:pPr>
            <a:r>
              <a:rPr lang="en"/>
              <a:t>REGRESSION - RANDOM FOREST </a:t>
            </a:r>
          </a:p>
        </p:txBody>
      </p:sp>
      <p:sp>
        <p:nvSpPr>
          <p:cNvPr id="180" name="Shape 180"/>
          <p:cNvSpPr txBox="1">
            <a:spLocks noGrp="1"/>
          </p:cNvSpPr>
          <p:nvPr>
            <p:ph type="body" idx="1"/>
          </p:nvPr>
        </p:nvSpPr>
        <p:spPr>
          <a:xfrm>
            <a:off x="762000" y="1123950"/>
            <a:ext cx="7543800" cy="3505200"/>
          </a:xfrm>
          <a:prstGeom prst="rect">
            <a:avLst/>
          </a:prstGeom>
        </p:spPr>
        <p:txBody>
          <a:bodyPr lIns="91425" tIns="91425" rIns="91425" bIns="91425" anchor="t" anchorCtr="0">
            <a:noAutofit/>
          </a:bodyPr>
          <a:lstStyle/>
          <a:p>
            <a:pPr marL="457200" lvl="0" indent="-355600" rtl="0">
              <a:spcBef>
                <a:spcPts val="0"/>
              </a:spcBef>
              <a:buSzPct val="100000"/>
              <a:buChar char="●"/>
            </a:pPr>
            <a:r>
              <a:rPr lang="en" sz="2000"/>
              <a:t>Create subsets by sampling with replacement.</a:t>
            </a:r>
          </a:p>
          <a:p>
            <a:pPr marL="457200" lvl="0" indent="-355600" rtl="0">
              <a:spcBef>
                <a:spcPts val="0"/>
              </a:spcBef>
              <a:buSzPct val="100000"/>
              <a:buChar char="●"/>
            </a:pPr>
            <a:r>
              <a:rPr lang="en" sz="2000"/>
              <a:t>Construct decision tree for each subset</a:t>
            </a:r>
          </a:p>
          <a:p>
            <a:pPr marL="457200" lvl="0" indent="-355600" rtl="0">
              <a:spcBef>
                <a:spcPts val="0"/>
              </a:spcBef>
              <a:buSzPct val="100000"/>
              <a:buChar char="●"/>
            </a:pPr>
            <a:r>
              <a:rPr lang="en" sz="2000"/>
              <a:t>Both data subsets and independent variables are randomized</a:t>
            </a:r>
          </a:p>
          <a:p>
            <a:pPr marL="457200" lvl="0" indent="-355600" rtl="0">
              <a:spcBef>
                <a:spcPts val="0"/>
              </a:spcBef>
              <a:buSzPct val="100000"/>
              <a:buChar char="●"/>
            </a:pPr>
            <a:r>
              <a:rPr lang="en" sz="2000"/>
              <a:t>Average the predictions from all individual regression trees</a:t>
            </a:r>
          </a:p>
        </p:txBody>
      </p:sp>
      <p:pic>
        <p:nvPicPr>
          <p:cNvPr id="181" name="Shape 181"/>
          <p:cNvPicPr preferRelativeResize="0"/>
          <p:nvPr/>
        </p:nvPicPr>
        <p:blipFill rotWithShape="1">
          <a:blip r:embed="rId3">
            <a:alphaModFix/>
          </a:blip>
          <a:srcRect t="2425" r="62668" b="67890"/>
          <a:stretch/>
        </p:blipFill>
        <p:spPr>
          <a:xfrm>
            <a:off x="4996800" y="2897724"/>
            <a:ext cx="2105666" cy="1731425"/>
          </a:xfrm>
          <a:prstGeom prst="rect">
            <a:avLst/>
          </a:prstGeom>
          <a:noFill/>
          <a:ln>
            <a:noFill/>
          </a:ln>
        </p:spPr>
      </p:pic>
      <p:pic>
        <p:nvPicPr>
          <p:cNvPr id="182" name="Shape 182"/>
          <p:cNvPicPr preferRelativeResize="0"/>
          <p:nvPr/>
        </p:nvPicPr>
        <p:blipFill>
          <a:blip r:embed="rId4">
            <a:alphaModFix/>
          </a:blip>
          <a:stretch>
            <a:fillRect/>
          </a:stretch>
        </p:blipFill>
        <p:spPr>
          <a:xfrm>
            <a:off x="1186925" y="2897724"/>
            <a:ext cx="2840749" cy="1731425"/>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Shape 187"/>
          <p:cNvSpPr txBox="1">
            <a:spLocks noGrp="1"/>
          </p:cNvSpPr>
          <p:nvPr>
            <p:ph type="title"/>
          </p:nvPr>
        </p:nvSpPr>
        <p:spPr>
          <a:xfrm>
            <a:off x="457200" y="1200150"/>
            <a:ext cx="8229600" cy="2743200"/>
          </a:xfrm>
          <a:prstGeom prst="rect">
            <a:avLst/>
          </a:prstGeom>
        </p:spPr>
        <p:txBody>
          <a:bodyPr lIns="91425" tIns="91425" rIns="91425" bIns="91425" anchor="ctr" anchorCtr="0">
            <a:noAutofit/>
          </a:bodyPr>
          <a:lstStyle/>
          <a:p>
            <a:pPr lvl="0">
              <a:spcBef>
                <a:spcPts val="0"/>
              </a:spcBef>
              <a:buNone/>
            </a:pPr>
            <a:r>
              <a:rPr lang="en"/>
              <a:t>CONCLUSIONS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Shape 192"/>
          <p:cNvSpPr txBox="1">
            <a:spLocks noGrp="1"/>
          </p:cNvSpPr>
          <p:nvPr>
            <p:ph type="title"/>
          </p:nvPr>
        </p:nvSpPr>
        <p:spPr>
          <a:xfrm>
            <a:off x="457200" y="438150"/>
            <a:ext cx="8229600" cy="857400"/>
          </a:xfrm>
          <a:prstGeom prst="rect">
            <a:avLst/>
          </a:prstGeom>
        </p:spPr>
        <p:txBody>
          <a:bodyPr lIns="91425" tIns="91425" rIns="91425" bIns="91425" anchor="t" anchorCtr="0">
            <a:noAutofit/>
          </a:bodyPr>
          <a:lstStyle/>
          <a:p>
            <a:pPr lvl="0">
              <a:spcBef>
                <a:spcPts val="0"/>
              </a:spcBef>
              <a:buNone/>
            </a:pPr>
            <a:r>
              <a:rPr lang="en"/>
              <a:t>Conclusion</a:t>
            </a:r>
          </a:p>
        </p:txBody>
      </p:sp>
      <p:sp>
        <p:nvSpPr>
          <p:cNvPr id="193" name="Shape 193"/>
          <p:cNvSpPr txBox="1">
            <a:spLocks noGrp="1"/>
          </p:cNvSpPr>
          <p:nvPr>
            <p:ph type="body" idx="1"/>
          </p:nvPr>
        </p:nvSpPr>
        <p:spPr>
          <a:xfrm>
            <a:off x="762000" y="1123950"/>
            <a:ext cx="7543800" cy="3654300"/>
          </a:xfrm>
          <a:prstGeom prst="rect">
            <a:avLst/>
          </a:prstGeom>
        </p:spPr>
        <p:txBody>
          <a:bodyPr lIns="91425" tIns="91425" rIns="91425" bIns="91425" anchor="t" anchorCtr="0">
            <a:noAutofit/>
          </a:bodyPr>
          <a:lstStyle/>
          <a:p>
            <a:pPr marL="457200" lvl="0" indent="-228600" rtl="0">
              <a:spcBef>
                <a:spcPts val="0"/>
              </a:spcBef>
              <a:buChar char="●"/>
            </a:pPr>
            <a:r>
              <a:rPr lang="en"/>
              <a:t>Random forest trees can be applied to classification &amp; regression</a:t>
            </a:r>
          </a:p>
          <a:p>
            <a:pPr marL="457200" lvl="0" indent="-228600" rtl="0">
              <a:spcBef>
                <a:spcPts val="0"/>
              </a:spcBef>
              <a:buChar char="●"/>
            </a:pPr>
            <a:r>
              <a:rPr lang="en"/>
              <a:t>Random forest trees are very effective tool for prediction</a:t>
            </a:r>
          </a:p>
          <a:p>
            <a:pPr marL="457200" lvl="0" indent="-228600" rtl="0">
              <a:spcBef>
                <a:spcPts val="0"/>
              </a:spcBef>
              <a:buChar char="●"/>
            </a:pPr>
            <a:r>
              <a:rPr lang="en"/>
              <a:t>Use training data input to build forest, then generate output for larger set of data</a:t>
            </a:r>
          </a:p>
          <a:p>
            <a:pPr lvl="0" rtl="0">
              <a:spcBef>
                <a:spcPts val="0"/>
              </a:spcBef>
              <a:buNone/>
            </a:pPr>
            <a:endParaRPr/>
          </a:p>
          <a:p>
            <a:pPr lvl="0" rtl="0">
              <a:spcBef>
                <a:spcPts val="0"/>
              </a:spcBef>
              <a:buNone/>
            </a:pPr>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Shape 198"/>
          <p:cNvSpPr txBox="1">
            <a:spLocks noGrp="1"/>
          </p:cNvSpPr>
          <p:nvPr>
            <p:ph type="title"/>
          </p:nvPr>
        </p:nvSpPr>
        <p:spPr>
          <a:xfrm>
            <a:off x="457200" y="438150"/>
            <a:ext cx="8229600" cy="857400"/>
          </a:xfrm>
          <a:prstGeom prst="rect">
            <a:avLst/>
          </a:prstGeom>
        </p:spPr>
        <p:txBody>
          <a:bodyPr lIns="91425" tIns="91425" rIns="91425" bIns="91425" anchor="t" anchorCtr="0">
            <a:noAutofit/>
          </a:bodyPr>
          <a:lstStyle/>
          <a:p>
            <a:pPr lvl="0" rtl="0">
              <a:spcBef>
                <a:spcPts val="0"/>
              </a:spcBef>
              <a:buNone/>
            </a:pPr>
            <a:r>
              <a:rPr lang="en"/>
              <a:t>Advantages &amp; Limitations</a:t>
            </a:r>
          </a:p>
        </p:txBody>
      </p:sp>
      <p:sp>
        <p:nvSpPr>
          <p:cNvPr id="199" name="Shape 199"/>
          <p:cNvSpPr txBox="1">
            <a:spLocks noGrp="1"/>
          </p:cNvSpPr>
          <p:nvPr>
            <p:ph type="body" idx="1"/>
          </p:nvPr>
        </p:nvSpPr>
        <p:spPr>
          <a:xfrm>
            <a:off x="762000" y="1123950"/>
            <a:ext cx="7543800" cy="3654300"/>
          </a:xfrm>
          <a:prstGeom prst="rect">
            <a:avLst/>
          </a:prstGeom>
        </p:spPr>
        <p:txBody>
          <a:bodyPr lIns="91425" tIns="91425" rIns="91425" bIns="91425" anchor="t" anchorCtr="0">
            <a:noAutofit/>
          </a:bodyPr>
          <a:lstStyle/>
          <a:p>
            <a:pPr lvl="0" rtl="0">
              <a:spcBef>
                <a:spcPts val="0"/>
              </a:spcBef>
              <a:buNone/>
            </a:pPr>
            <a:r>
              <a:rPr lang="en" b="1"/>
              <a:t>Advantages:</a:t>
            </a:r>
          </a:p>
          <a:p>
            <a:pPr marL="457200" lvl="0" indent="-228600" rtl="0">
              <a:spcBef>
                <a:spcPts val="0"/>
              </a:spcBef>
              <a:buChar char="●"/>
            </a:pPr>
            <a:r>
              <a:rPr lang="en"/>
              <a:t>Accuracy and variable importance generated automatically</a:t>
            </a:r>
          </a:p>
          <a:p>
            <a:pPr marL="457200" lvl="0" indent="-228600" rtl="0">
              <a:spcBef>
                <a:spcPts val="0"/>
              </a:spcBef>
              <a:buChar char="●"/>
            </a:pPr>
            <a:r>
              <a:rPr lang="en"/>
              <a:t>Easy to set parameters</a:t>
            </a:r>
          </a:p>
          <a:p>
            <a:pPr lvl="0" rtl="0">
              <a:spcBef>
                <a:spcPts val="0"/>
              </a:spcBef>
              <a:buNone/>
            </a:pPr>
            <a:r>
              <a:rPr lang="en" b="1"/>
              <a:t>Limitations:</a:t>
            </a:r>
          </a:p>
          <a:p>
            <a:pPr marL="457200" lvl="0" indent="-228600" rtl="0">
              <a:spcBef>
                <a:spcPts val="0"/>
              </a:spcBef>
              <a:buChar char="●"/>
            </a:pPr>
            <a:r>
              <a:rPr lang="en"/>
              <a:t>Regression cannot predict beyond range in training data</a:t>
            </a:r>
          </a:p>
          <a:p>
            <a:pPr marL="457200" lvl="0" indent="-228600" rtl="0">
              <a:spcBef>
                <a:spcPts val="0"/>
              </a:spcBef>
              <a:buChar char="●"/>
            </a:pPr>
            <a:r>
              <a:rPr lang="en"/>
              <a:t>Extreme values cannot be predicted in random forests</a:t>
            </a:r>
          </a:p>
          <a:p>
            <a:pPr lvl="0" rtl="0">
              <a:spcBef>
                <a:spcPts val="0"/>
              </a:spcBef>
              <a:buNone/>
            </a:pPr>
            <a:endParaRPr/>
          </a:p>
          <a:p>
            <a:pPr lvl="0" rtl="0">
              <a:spcBef>
                <a:spcPts val="0"/>
              </a:spcBef>
              <a:buNone/>
            </a:pPr>
            <a:endParaRPr/>
          </a:p>
          <a:p>
            <a:pPr lvl="0" rtl="0">
              <a:spcBef>
                <a:spcPts val="0"/>
              </a:spcBef>
              <a:buNone/>
            </a:pPr>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a:spLocks noGrp="1"/>
          </p:cNvSpPr>
          <p:nvPr>
            <p:ph type="pic" idx="2"/>
          </p:nvPr>
        </p:nvSpPr>
        <p:spPr>
          <a:xfrm>
            <a:off x="0" y="361950"/>
            <a:ext cx="9144000" cy="3352799"/>
          </a:xfrm>
          <a:prstGeom prst="rect">
            <a:avLst/>
          </a:prstGeom>
          <a:noFill/>
          <a:ln>
            <a:noFill/>
          </a:ln>
        </p:spPr>
        <p:txBody>
          <a:bodyPr lIns="91425" tIns="91425" rIns="91425" bIns="91425" anchor="t" anchorCtr="0">
            <a:noAutofit/>
          </a:bodyPr>
          <a:lstStyle/>
          <a:p>
            <a:pPr lvl="0" algn="ctr" rtl="0">
              <a:spcBef>
                <a:spcPts val="0"/>
              </a:spcBef>
              <a:buNone/>
            </a:pPr>
            <a:endParaRPr dirty="0"/>
          </a:p>
          <a:p>
            <a:pPr lvl="0" algn="ctr" rtl="0">
              <a:spcBef>
                <a:spcPts val="0"/>
              </a:spcBef>
              <a:buNone/>
            </a:pPr>
            <a:endParaRPr dirty="0"/>
          </a:p>
          <a:p>
            <a:pPr marL="0" lvl="0" indent="0" algn="ctr">
              <a:spcBef>
                <a:spcPts val="0"/>
              </a:spcBef>
              <a:buNone/>
            </a:pPr>
            <a:r>
              <a:rPr lang="en" b="1" dirty="0"/>
              <a:t>Thank you!</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a:spLocks noGrp="1"/>
          </p:cNvSpPr>
          <p:nvPr>
            <p:ph type="pic" idx="2"/>
          </p:nvPr>
        </p:nvSpPr>
        <p:spPr>
          <a:xfrm>
            <a:off x="0" y="361950"/>
            <a:ext cx="9144000" cy="3352799"/>
          </a:xfrm>
          <a:prstGeom prst="rect">
            <a:avLst/>
          </a:prstGeom>
          <a:noFill/>
          <a:ln>
            <a:noFill/>
          </a:ln>
        </p:spPr>
        <p:txBody>
          <a:bodyPr lIns="91425" tIns="91425" rIns="91425" bIns="91425" anchor="t" anchorCtr="0">
            <a:noAutofit/>
          </a:bodyPr>
          <a:lstStyle/>
          <a:p>
            <a:pPr lvl="0" algn="ctr" rtl="0">
              <a:spcBef>
                <a:spcPts val="0"/>
              </a:spcBef>
              <a:buNone/>
            </a:pPr>
            <a:endParaRPr dirty="0"/>
          </a:p>
          <a:p>
            <a:pPr lvl="0" algn="ctr" rtl="0">
              <a:spcBef>
                <a:spcPts val="0"/>
              </a:spcBef>
              <a:buNone/>
            </a:pPr>
            <a:endParaRPr dirty="0"/>
          </a:p>
          <a:p>
            <a:pPr marL="0" lvl="0" indent="0" algn="ctr">
              <a:spcBef>
                <a:spcPts val="0"/>
              </a:spcBef>
              <a:buNone/>
            </a:pPr>
            <a:r>
              <a:rPr lang="en" b="1" dirty="0" smtClean="0"/>
              <a:t>Questions?</a:t>
            </a:r>
            <a:endParaRPr lang="en" b="1" dirty="0"/>
          </a:p>
        </p:txBody>
      </p:sp>
    </p:spTree>
    <p:extLst>
      <p:ext uri="{BB962C8B-B14F-4D97-AF65-F5344CB8AC3E}">
        <p14:creationId xmlns:p14="http://schemas.microsoft.com/office/powerpoint/2010/main" val="2878592214"/>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523</Words>
  <Application>Microsoft Office PowerPoint</Application>
  <PresentationFormat>On-screen Show (16:9)</PresentationFormat>
  <Paragraphs>89</Paragraphs>
  <Slides>21</Slides>
  <Notes>21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21</vt:i4>
      </vt:variant>
    </vt:vector>
  </HeadingPairs>
  <TitlesOfParts>
    <vt:vector size="25" baseType="lpstr">
      <vt:lpstr>Arial</vt:lpstr>
      <vt:lpstr>Calibri</vt:lpstr>
      <vt:lpstr>simple-light-2</vt:lpstr>
      <vt:lpstr>Office Theme</vt:lpstr>
      <vt:lpstr>RANDOM FORESTS</vt:lpstr>
      <vt:lpstr>OUTLINE  Introduction Example 1- Classification Example 2 - Regression Conclusion </vt:lpstr>
      <vt:lpstr>INTRODUCTION</vt:lpstr>
      <vt:lpstr>REGRESSIONS &amp; CLASSIFICATION</vt:lpstr>
      <vt:lpstr>RANDOM FORESTS</vt:lpstr>
      <vt:lpstr>RANDOM FORESTS ALGORITHM</vt:lpstr>
      <vt:lpstr>RANDOM FORESTS ALGORITHM </vt:lpstr>
      <vt:lpstr>EXAMPLE 1</vt:lpstr>
      <vt:lpstr>CLASSIFICATION EXAMPLE</vt:lpstr>
      <vt:lpstr>CLASSIFICATION EXAMPLE</vt:lpstr>
      <vt:lpstr>CLASSIFICATION EXAMPLE</vt:lpstr>
      <vt:lpstr>CLASSIFICATION EXAMPLE</vt:lpstr>
      <vt:lpstr>CLASSIFICATION EXAMPLE</vt:lpstr>
      <vt:lpstr>EXAMPLE 2</vt:lpstr>
      <vt:lpstr>REGRESSION - DECISION TREE</vt:lpstr>
      <vt:lpstr>REGRESSION - RANDOM FOREST </vt:lpstr>
      <vt:lpstr>CONCLUSIONS</vt:lpstr>
      <vt:lpstr>Conclusion</vt:lpstr>
      <vt:lpstr>Advantages &amp; Limitations</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FORESTS</dc:title>
  <cp:lastModifiedBy>Car Reen Kok</cp:lastModifiedBy>
  <cp:revision>1</cp:revision>
  <dcterms:modified xsi:type="dcterms:W3CDTF">2016-12-05T15:13:58Z</dcterms:modified>
</cp:coreProperties>
</file>