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3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/>
    <p:restoredTop sz="94666"/>
  </p:normalViewPr>
  <p:slideViewPr>
    <p:cSldViewPr snapToGrid="0" snapToObjects="1">
      <p:cViewPr varScale="1">
        <p:scale>
          <a:sx n="79" d="100"/>
          <a:sy n="79" d="100"/>
        </p:scale>
        <p:origin x="208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004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67D327F6-E837-B041-9AB8-258EB6087512}" type="datetimeFigureOut">
              <a:rPr lang="en-US" smtClean="0"/>
              <a:t>12/5/16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67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biostat.jhsph.edu/~fdominic/teaching/bio656/lectures/1.intro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Multilevel Modeling</a:t>
            </a:r>
          </a:p>
        </p:txBody>
      </p:sp>
      <p:sp>
        <p:nvSpPr>
          <p:cNvPr id="55" name="Shape 5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>
                <a:solidFill>
                  <a:schemeClr val="tx1"/>
                </a:solidFill>
              </a:rPr>
              <a:t>Amy Garrison, Kelsey </a:t>
            </a:r>
            <a:r>
              <a:rPr lang="en" sz="2400" dirty="0" err="1">
                <a:solidFill>
                  <a:schemeClr val="tx1"/>
                </a:solidFill>
              </a:rPr>
              <a:t>Timme</a:t>
            </a:r>
            <a:r>
              <a:rPr lang="en" sz="2400" dirty="0">
                <a:solidFill>
                  <a:schemeClr val="tx1"/>
                </a:solidFill>
              </a:rPr>
              <a:t>, Amina </a:t>
            </a:r>
            <a:r>
              <a:rPr lang="en" sz="2400" dirty="0" err="1">
                <a:solidFill>
                  <a:schemeClr val="tx1"/>
                </a:solidFill>
              </a:rPr>
              <a:t>Mamane</a:t>
            </a:r>
            <a:r>
              <a:rPr lang="en" sz="2400" dirty="0">
                <a:solidFill>
                  <a:schemeClr val="tx1"/>
                </a:solidFill>
              </a:rPr>
              <a:t> </a:t>
            </a:r>
            <a:r>
              <a:rPr lang="en" sz="2400" dirty="0" err="1">
                <a:solidFill>
                  <a:schemeClr val="tx1"/>
                </a:solidFill>
              </a:rPr>
              <a:t>Sanoussi</a:t>
            </a:r>
            <a:endParaRPr lang="e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Background Information</a:t>
            </a:r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 smtClean="0">
              <a:solidFill>
                <a:schemeClr val="dk1"/>
              </a:solidFill>
            </a:endParaRPr>
          </a:p>
          <a:p>
            <a:pPr>
              <a:buFont typeface="Wingdings" charset="2"/>
              <a:buChar char="§"/>
            </a:pPr>
            <a:r>
              <a:rPr lang="en" sz="2200" dirty="0" smtClean="0">
                <a:solidFill>
                  <a:schemeClr val="dk1"/>
                </a:solidFill>
              </a:rPr>
              <a:t>The </a:t>
            </a:r>
            <a:r>
              <a:rPr lang="en" sz="2200" dirty="0">
                <a:solidFill>
                  <a:schemeClr val="dk1"/>
                </a:solidFill>
              </a:rPr>
              <a:t>multilevel model is a design where the data parameters </a:t>
            </a:r>
            <a:r>
              <a:rPr lang="en" sz="2200" dirty="0" smtClean="0">
                <a:solidFill>
                  <a:schemeClr val="dk1"/>
                </a:solidFill>
              </a:rPr>
              <a:t>vary</a:t>
            </a:r>
            <a:r>
              <a:rPr lang="en-US" sz="2200" dirty="0" smtClean="0">
                <a:solidFill>
                  <a:schemeClr val="dk1"/>
                </a:solidFill>
              </a:rPr>
              <a:t> </a:t>
            </a:r>
            <a:r>
              <a:rPr lang="en" sz="2200" dirty="0" smtClean="0">
                <a:solidFill>
                  <a:schemeClr val="dk1"/>
                </a:solidFill>
              </a:rPr>
              <a:t>at </a:t>
            </a:r>
            <a:r>
              <a:rPr lang="en" sz="2200" dirty="0">
                <a:solidFill>
                  <a:schemeClr val="dk1"/>
                </a:solidFill>
              </a:rPr>
              <a:t>more than one level.  </a:t>
            </a:r>
          </a:p>
          <a:p>
            <a:pPr>
              <a:buFont typeface="Wingdings" charset="2"/>
              <a:buChar char="§"/>
            </a:pPr>
            <a:r>
              <a:rPr lang="en" sz="2200" dirty="0">
                <a:solidFill>
                  <a:schemeClr val="dk1"/>
                </a:solidFill>
              </a:rPr>
              <a:t>The lower level tends to be data on individuals, while higher levels are groups of the individuals used in the lower level.  </a:t>
            </a:r>
          </a:p>
          <a:p>
            <a:pPr>
              <a:buFont typeface="Wingdings" charset="2"/>
              <a:buChar char="§"/>
            </a:pPr>
            <a:r>
              <a:rPr lang="en" sz="2200" dirty="0">
                <a:solidFill>
                  <a:schemeClr val="dk1"/>
                </a:solidFill>
              </a:rPr>
              <a:t>The dependent variable is examined at the lowest level.  </a:t>
            </a:r>
          </a:p>
          <a:p>
            <a:pPr>
              <a:buFont typeface="Wingdings" charset="2"/>
              <a:buChar char="§"/>
            </a:pPr>
            <a:r>
              <a:rPr lang="en" sz="2200" dirty="0">
                <a:solidFill>
                  <a:schemeClr val="dk1"/>
                </a:solidFill>
              </a:rPr>
              <a:t>Two level models are the most common, but there can be many more levels in the </a:t>
            </a:r>
            <a:r>
              <a:rPr lang="en" sz="2200" dirty="0" smtClean="0">
                <a:solidFill>
                  <a:schemeClr val="dk1"/>
                </a:solidFill>
              </a:rPr>
              <a:t>analysis.</a:t>
            </a:r>
            <a:endParaRPr lang="en-US" sz="2200" dirty="0" smtClean="0">
              <a:solidFill>
                <a:schemeClr val="dk1"/>
              </a:solidFill>
            </a:endParaRPr>
          </a:p>
          <a:p>
            <a:pPr>
              <a:buFont typeface="Wingdings" charset="2"/>
              <a:buChar char="§"/>
            </a:pPr>
            <a:r>
              <a:rPr lang="en" sz="2200" dirty="0" smtClean="0">
                <a:solidFill>
                  <a:srgbClr val="000000"/>
                </a:solidFill>
              </a:rPr>
              <a:t>This </a:t>
            </a:r>
            <a:r>
              <a:rPr lang="en" sz="2200" dirty="0">
                <a:solidFill>
                  <a:srgbClr val="000000"/>
                </a:solidFill>
              </a:rPr>
              <a:t>method can be used for prediction, data reduction, and causal inference in multi-grouped data sets.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Why Use Multilevel Modeling?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200" dirty="0" smtClean="0">
                <a:solidFill>
                  <a:schemeClr val="tx1"/>
                </a:solidFill>
              </a:rPr>
              <a:t>Observations </a:t>
            </a:r>
            <a:r>
              <a:rPr lang="en" sz="2200" dirty="0">
                <a:solidFill>
                  <a:schemeClr val="tx1"/>
                </a:solidFill>
              </a:rPr>
              <a:t>of a group of individuals can be biased due to interconnection of characteristics within the group </a:t>
            </a:r>
            <a:endParaRPr lang="en-US" sz="2200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2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200" dirty="0">
                <a:solidFill>
                  <a:schemeClr val="tx1"/>
                </a:solidFill>
              </a:rPr>
              <a:t>Better estimate of standard errors of </a:t>
            </a:r>
            <a:r>
              <a:rPr lang="en" sz="2200" dirty="0" smtClean="0">
                <a:solidFill>
                  <a:schemeClr val="tx1"/>
                </a:solidFill>
              </a:rPr>
              <a:t>regression</a:t>
            </a:r>
            <a:endParaRPr lang="en-US" sz="2200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2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200" dirty="0">
                <a:solidFill>
                  <a:schemeClr val="tx1"/>
                </a:solidFill>
              </a:rPr>
              <a:t>The extent of effects due to ‘groups’ on individual outcomes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Examples of Multilevel Modeling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4502038" cy="341952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000" dirty="0" smtClean="0">
                <a:solidFill>
                  <a:srgbClr val="000000"/>
                </a:solidFill>
              </a:rPr>
              <a:t>Health </a:t>
            </a:r>
            <a:r>
              <a:rPr lang="en" sz="2000" dirty="0">
                <a:solidFill>
                  <a:srgbClr val="000000"/>
                </a:solidFill>
              </a:rPr>
              <a:t>can be dependent on the cell -&gt; organ -&gt; person -&gt; family -&gt; </a:t>
            </a:r>
            <a:r>
              <a:rPr lang="en" sz="2000" dirty="0" smtClean="0">
                <a:solidFill>
                  <a:srgbClr val="000000"/>
                </a:solidFill>
              </a:rPr>
              <a:t>society</a:t>
            </a:r>
            <a:endParaRPr lang="en-US" sz="2000" dirty="0" smtClean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000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000" dirty="0">
                <a:solidFill>
                  <a:srgbClr val="000000"/>
                </a:solidFill>
              </a:rPr>
              <a:t>Quality of care of patients -&gt; </a:t>
            </a:r>
            <a:r>
              <a:rPr lang="en" sz="2000" dirty="0" smtClean="0">
                <a:solidFill>
                  <a:srgbClr val="000000"/>
                </a:solidFill>
              </a:rPr>
              <a:t>hospitals</a:t>
            </a:r>
            <a:endParaRPr lang="en-US" sz="2000" dirty="0" smtClean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000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000" dirty="0">
                <a:solidFill>
                  <a:srgbClr val="000000"/>
                </a:solidFill>
              </a:rPr>
              <a:t>Learning of children -&gt; classrooms -&gt; schools</a:t>
            </a: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sz="2000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000" dirty="0">
                <a:solidFill>
                  <a:srgbClr val="000000"/>
                </a:solidFill>
              </a:rPr>
              <a:t>Used in biology, geography, education</a:t>
            </a:r>
            <a:r>
              <a:rPr lang="en" sz="2000" dirty="0" smtClean="0">
                <a:solidFill>
                  <a:srgbClr val="000000"/>
                </a:solidFill>
              </a:rPr>
              <a:t>...</a:t>
            </a:r>
            <a:endParaRPr lang="en" sz="20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238" y="1894927"/>
            <a:ext cx="4092450" cy="17311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673" y="4835723"/>
            <a:ext cx="2451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http://</a:t>
            </a:r>
            <a:r>
              <a:rPr lang="en-US" dirty="0" err="1" smtClean="0">
                <a:solidFill>
                  <a:schemeClr val="bg1"/>
                </a:solidFill>
              </a:rPr>
              <a:t>www.biostat.jhsph.edu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Assumptions</a:t>
            </a:r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400" dirty="0" smtClean="0">
                <a:solidFill>
                  <a:schemeClr val="tx1"/>
                </a:solidFill>
              </a:rPr>
              <a:t>Data </a:t>
            </a:r>
            <a:r>
              <a:rPr lang="en" sz="2400" dirty="0">
                <a:solidFill>
                  <a:schemeClr val="tx1"/>
                </a:solidFill>
              </a:rPr>
              <a:t>follows a normal </a:t>
            </a:r>
            <a:r>
              <a:rPr lang="en" sz="2400" dirty="0" smtClean="0">
                <a:solidFill>
                  <a:schemeClr val="tx1"/>
                </a:solidFill>
              </a:rPr>
              <a:t>distribution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4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chemeClr val="tx1"/>
                </a:solidFill>
              </a:rPr>
              <a:t>X’s are fixed and </a:t>
            </a:r>
            <a:r>
              <a:rPr lang="en" sz="2400" dirty="0" smtClean="0">
                <a:solidFill>
                  <a:schemeClr val="tx1"/>
                </a:solidFill>
              </a:rPr>
              <a:t>known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4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chemeClr val="tx1"/>
                </a:solidFill>
              </a:rPr>
              <a:t>All covariates are included in the </a:t>
            </a:r>
            <a:r>
              <a:rPr lang="en" sz="2400" dirty="0" smtClean="0">
                <a:solidFill>
                  <a:schemeClr val="tx1"/>
                </a:solidFill>
              </a:rPr>
              <a:t>model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4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chemeClr val="tx1"/>
                </a:solidFill>
              </a:rPr>
              <a:t>Homogeneity of variance</a:t>
            </a: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Level 1 Regression equation</a:t>
            </a:r>
          </a:p>
        </p:txBody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311700" y="1289111"/>
            <a:ext cx="8776063" cy="339850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smtClean="0">
                <a:solidFill>
                  <a:schemeClr val="dk1"/>
                </a:solidFill>
              </a:rPr>
              <a:t>Y</a:t>
            </a:r>
            <a:r>
              <a:rPr lang="en" sz="2000" baseline="-25000" smtClean="0">
                <a:solidFill>
                  <a:schemeClr val="dk1"/>
                </a:solidFill>
              </a:rPr>
              <a:t>ij</a:t>
            </a:r>
            <a:r>
              <a:rPr lang="en" sz="2000" baseline="-25000" dirty="0" smtClean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= β</a:t>
            </a:r>
            <a:r>
              <a:rPr lang="en" sz="2000" baseline="-25000" dirty="0">
                <a:solidFill>
                  <a:schemeClr val="dk1"/>
                </a:solidFill>
              </a:rPr>
              <a:t>0j </a:t>
            </a:r>
            <a:r>
              <a:rPr lang="en" sz="2000" dirty="0">
                <a:solidFill>
                  <a:schemeClr val="dk1"/>
                </a:solidFill>
              </a:rPr>
              <a:t>+ β</a:t>
            </a:r>
            <a:r>
              <a:rPr lang="en" sz="2000" baseline="-25000" dirty="0">
                <a:solidFill>
                  <a:schemeClr val="dk1"/>
                </a:solidFill>
              </a:rPr>
              <a:t>1j</a:t>
            </a:r>
            <a:r>
              <a:rPr lang="en" sz="2000" dirty="0">
                <a:solidFill>
                  <a:schemeClr val="dk1"/>
                </a:solidFill>
              </a:rPr>
              <a:t>X</a:t>
            </a:r>
            <a:r>
              <a:rPr lang="en" sz="2000" baseline="-25000" dirty="0">
                <a:solidFill>
                  <a:schemeClr val="dk1"/>
                </a:solidFill>
              </a:rPr>
              <a:t>ij </a:t>
            </a:r>
            <a:r>
              <a:rPr lang="en" sz="2000" dirty="0">
                <a:solidFill>
                  <a:schemeClr val="dk1"/>
                </a:solidFill>
              </a:rPr>
              <a:t>+ </a:t>
            </a:r>
            <a:r>
              <a:rPr lang="en" sz="2000" dirty="0" err="1">
                <a:solidFill>
                  <a:schemeClr val="dk1"/>
                </a:solidFill>
              </a:rPr>
              <a:t>e</a:t>
            </a:r>
            <a:r>
              <a:rPr lang="en" sz="2000" baseline="-25000" dirty="0" err="1">
                <a:solidFill>
                  <a:schemeClr val="dk1"/>
                </a:solidFill>
              </a:rPr>
              <a:t>ij</a:t>
            </a:r>
            <a:endParaRPr lang="en" sz="2000" baseline="-250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2000" baseline="-250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2000" baseline="-250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 err="1">
                <a:solidFill>
                  <a:schemeClr val="dk1"/>
                </a:solidFill>
              </a:rPr>
              <a:t>Y</a:t>
            </a:r>
            <a:r>
              <a:rPr lang="en" sz="2000" baseline="-25000" dirty="0" err="1">
                <a:solidFill>
                  <a:schemeClr val="dk1"/>
                </a:solidFill>
              </a:rPr>
              <a:t>ij</a:t>
            </a:r>
            <a:r>
              <a:rPr lang="en" sz="2000" baseline="-25000" dirty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: result on the dependent variable for an individual observation. </a:t>
            </a:r>
            <a:r>
              <a:rPr lang="en" sz="2000" dirty="0" err="1">
                <a:solidFill>
                  <a:schemeClr val="dk1"/>
                </a:solidFill>
              </a:rPr>
              <a:t>i</a:t>
            </a:r>
            <a:r>
              <a:rPr lang="en" sz="2000" dirty="0">
                <a:solidFill>
                  <a:schemeClr val="dk1"/>
                </a:solidFill>
              </a:rPr>
              <a:t> (individual) j </a:t>
            </a:r>
            <a:r>
              <a:rPr lang="en-US" sz="2000" dirty="0" smtClean="0">
                <a:solidFill>
                  <a:schemeClr val="dk1"/>
                </a:solidFill>
              </a:rPr>
              <a:t>	</a:t>
            </a:r>
            <a:r>
              <a:rPr lang="en" sz="2000" dirty="0" smtClean="0">
                <a:solidFill>
                  <a:schemeClr val="dk1"/>
                </a:solidFill>
              </a:rPr>
              <a:t>(</a:t>
            </a:r>
            <a:r>
              <a:rPr lang="en" sz="2000" dirty="0">
                <a:solidFill>
                  <a:schemeClr val="dk1"/>
                </a:solidFill>
              </a:rPr>
              <a:t>group)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 err="1">
                <a:solidFill>
                  <a:schemeClr val="dk1"/>
                </a:solidFill>
              </a:rPr>
              <a:t>X</a:t>
            </a:r>
            <a:r>
              <a:rPr lang="en" sz="2000" baseline="-25000" dirty="0" err="1">
                <a:solidFill>
                  <a:schemeClr val="dk1"/>
                </a:solidFill>
              </a:rPr>
              <a:t>ij</a:t>
            </a:r>
            <a:r>
              <a:rPr lang="en" sz="2000" baseline="-25000" dirty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: level 1 predictor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β</a:t>
            </a:r>
            <a:r>
              <a:rPr lang="en" sz="2000" baseline="-25000" dirty="0">
                <a:solidFill>
                  <a:schemeClr val="dk1"/>
                </a:solidFill>
              </a:rPr>
              <a:t>0j </a:t>
            </a:r>
            <a:r>
              <a:rPr lang="en" sz="2000" dirty="0">
                <a:solidFill>
                  <a:schemeClr val="dk1"/>
                </a:solidFill>
              </a:rPr>
              <a:t>: intercept of the dependent variable in group j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β</a:t>
            </a:r>
            <a:r>
              <a:rPr lang="en" sz="2000" baseline="-25000" dirty="0">
                <a:solidFill>
                  <a:schemeClr val="dk1"/>
                </a:solidFill>
              </a:rPr>
              <a:t>1j </a:t>
            </a:r>
            <a:r>
              <a:rPr lang="en" sz="2000" dirty="0">
                <a:solidFill>
                  <a:schemeClr val="dk1"/>
                </a:solidFill>
              </a:rPr>
              <a:t>: slope for the relationship in group j between level 1 predictor and </a:t>
            </a:r>
            <a:r>
              <a:rPr lang="en" sz="2000" dirty="0" smtClean="0">
                <a:solidFill>
                  <a:schemeClr val="dk1"/>
                </a:solidFill>
              </a:rPr>
              <a:t>dependent</a:t>
            </a:r>
            <a:r>
              <a:rPr lang="en-US" sz="2000" dirty="0" smtClean="0">
                <a:solidFill>
                  <a:schemeClr val="dk1"/>
                </a:solidFill>
              </a:rPr>
              <a:t>           	</a:t>
            </a:r>
            <a:r>
              <a:rPr lang="en" sz="2000" dirty="0" smtClean="0">
                <a:solidFill>
                  <a:schemeClr val="dk1"/>
                </a:solidFill>
              </a:rPr>
              <a:t>variable</a:t>
            </a:r>
            <a:endParaRPr lang="en" sz="20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 sz="2000" dirty="0" err="1">
                <a:solidFill>
                  <a:schemeClr val="dk1"/>
                </a:solidFill>
              </a:rPr>
              <a:t>e</a:t>
            </a:r>
            <a:r>
              <a:rPr lang="en" sz="2000" baseline="-25000" dirty="0" err="1">
                <a:solidFill>
                  <a:schemeClr val="dk1"/>
                </a:solidFill>
              </a:rPr>
              <a:t>ij</a:t>
            </a:r>
            <a:r>
              <a:rPr lang="en" sz="2000" baseline="-25000" dirty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: random errors </a:t>
            </a:r>
          </a:p>
          <a:p>
            <a:pPr lvl="0">
              <a:spcBef>
                <a:spcPts val="0"/>
              </a:spcBef>
              <a:buNone/>
            </a:pPr>
            <a:endParaRPr sz="20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 sz="2000" dirty="0">
                <a:solidFill>
                  <a:schemeClr val="dk1"/>
                </a:solidFill>
              </a:rPr>
              <a:t>Depends on number of individual observations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Level 2 Regression Equation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311700" y="1299620"/>
            <a:ext cx="8243721" cy="340901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 smtClean="0">
                <a:solidFill>
                  <a:schemeClr val="dk1"/>
                </a:solidFill>
              </a:rPr>
              <a:t>β</a:t>
            </a:r>
            <a:r>
              <a:rPr lang="en" sz="2000" baseline="-25000" dirty="0" smtClean="0">
                <a:solidFill>
                  <a:schemeClr val="dk1"/>
                </a:solidFill>
              </a:rPr>
              <a:t>0j</a:t>
            </a:r>
            <a:r>
              <a:rPr lang="en" sz="2000" dirty="0" smtClean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= γ</a:t>
            </a:r>
            <a:r>
              <a:rPr lang="en" sz="2000" baseline="-25000" dirty="0">
                <a:solidFill>
                  <a:schemeClr val="dk1"/>
                </a:solidFill>
              </a:rPr>
              <a:t>00 </a:t>
            </a:r>
            <a:r>
              <a:rPr lang="en" sz="2000" dirty="0">
                <a:solidFill>
                  <a:schemeClr val="dk1"/>
                </a:solidFill>
              </a:rPr>
              <a:t>+ γ</a:t>
            </a:r>
            <a:r>
              <a:rPr lang="en" sz="2000" baseline="-25000" dirty="0">
                <a:solidFill>
                  <a:schemeClr val="dk1"/>
                </a:solidFill>
              </a:rPr>
              <a:t>01</a:t>
            </a:r>
            <a:r>
              <a:rPr lang="en" sz="2000" dirty="0">
                <a:solidFill>
                  <a:schemeClr val="dk1"/>
                </a:solidFill>
              </a:rPr>
              <a:t>W</a:t>
            </a:r>
            <a:r>
              <a:rPr lang="en" sz="2000" baseline="-25000" dirty="0">
                <a:solidFill>
                  <a:schemeClr val="dk1"/>
                </a:solidFill>
              </a:rPr>
              <a:t>j</a:t>
            </a:r>
            <a:r>
              <a:rPr lang="en" sz="2000" dirty="0">
                <a:solidFill>
                  <a:schemeClr val="dk1"/>
                </a:solidFill>
              </a:rPr>
              <a:t> + µ</a:t>
            </a:r>
            <a:r>
              <a:rPr lang="en" sz="2000" baseline="-25000" dirty="0">
                <a:solidFill>
                  <a:schemeClr val="dk1"/>
                </a:solidFill>
              </a:rPr>
              <a:t>0j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</a:rPr>
              <a:t>β</a:t>
            </a:r>
            <a:r>
              <a:rPr lang="en" sz="2000" baseline="-25000" dirty="0">
                <a:solidFill>
                  <a:schemeClr val="dk1"/>
                </a:solidFill>
              </a:rPr>
              <a:t>1j</a:t>
            </a:r>
            <a:r>
              <a:rPr lang="en" sz="2000" dirty="0">
                <a:solidFill>
                  <a:schemeClr val="dk1"/>
                </a:solidFill>
              </a:rPr>
              <a:t> = γ</a:t>
            </a:r>
            <a:r>
              <a:rPr lang="en" sz="2000" baseline="-25000" dirty="0">
                <a:solidFill>
                  <a:schemeClr val="dk1"/>
                </a:solidFill>
              </a:rPr>
              <a:t>10</a:t>
            </a:r>
            <a:r>
              <a:rPr lang="en" sz="2000" dirty="0">
                <a:solidFill>
                  <a:schemeClr val="dk1"/>
                </a:solidFill>
              </a:rPr>
              <a:t> + µ</a:t>
            </a:r>
            <a:r>
              <a:rPr lang="en" sz="2000" baseline="-25000" dirty="0">
                <a:solidFill>
                  <a:schemeClr val="dk1"/>
                </a:solidFill>
              </a:rPr>
              <a:t>1j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2000" baseline="-250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γ</a:t>
            </a:r>
            <a:r>
              <a:rPr lang="en" sz="2000" baseline="-25000" dirty="0">
                <a:solidFill>
                  <a:schemeClr val="dk1"/>
                </a:solidFill>
              </a:rPr>
              <a:t>00 </a:t>
            </a:r>
            <a:r>
              <a:rPr lang="en" sz="2000" dirty="0">
                <a:solidFill>
                  <a:schemeClr val="dk1"/>
                </a:solidFill>
              </a:rPr>
              <a:t>: overall intercept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 err="1">
                <a:solidFill>
                  <a:schemeClr val="dk1"/>
                </a:solidFill>
              </a:rPr>
              <a:t>W</a:t>
            </a:r>
            <a:r>
              <a:rPr lang="en" sz="2000" baseline="-25000" dirty="0" err="1">
                <a:solidFill>
                  <a:schemeClr val="dk1"/>
                </a:solidFill>
              </a:rPr>
              <a:t>j</a:t>
            </a:r>
            <a:r>
              <a:rPr lang="en" sz="2000" baseline="-25000" dirty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: level 2 predictor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γ</a:t>
            </a:r>
            <a:r>
              <a:rPr lang="en" sz="2000" baseline="-25000" dirty="0">
                <a:solidFill>
                  <a:schemeClr val="dk1"/>
                </a:solidFill>
              </a:rPr>
              <a:t>01 </a:t>
            </a:r>
            <a:r>
              <a:rPr lang="en" sz="2000" dirty="0">
                <a:solidFill>
                  <a:schemeClr val="dk1"/>
                </a:solidFill>
              </a:rPr>
              <a:t>: overall regression coefficient between dependent variable and level 2 </a:t>
            </a:r>
            <a:r>
              <a:rPr lang="en-US" sz="2000" dirty="0" smtClean="0">
                <a:solidFill>
                  <a:schemeClr val="dk1"/>
                </a:solidFill>
              </a:rPr>
              <a:t>	</a:t>
            </a:r>
            <a:r>
              <a:rPr lang="en" sz="2000" dirty="0" smtClean="0">
                <a:solidFill>
                  <a:schemeClr val="dk1"/>
                </a:solidFill>
              </a:rPr>
              <a:t>predictor</a:t>
            </a:r>
            <a:endParaRPr lang="en" sz="20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µ</a:t>
            </a:r>
            <a:r>
              <a:rPr lang="en" sz="2000" baseline="-25000" dirty="0">
                <a:solidFill>
                  <a:schemeClr val="dk1"/>
                </a:solidFill>
              </a:rPr>
              <a:t>0j </a:t>
            </a:r>
            <a:r>
              <a:rPr lang="en" sz="2000" dirty="0">
                <a:solidFill>
                  <a:schemeClr val="dk1"/>
                </a:solidFill>
              </a:rPr>
              <a:t>: random error for deviation of intercept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γ</a:t>
            </a:r>
            <a:r>
              <a:rPr lang="en" sz="2000" baseline="-25000" dirty="0">
                <a:solidFill>
                  <a:schemeClr val="dk1"/>
                </a:solidFill>
              </a:rPr>
              <a:t>10 </a:t>
            </a:r>
            <a:r>
              <a:rPr lang="en" sz="2000" dirty="0">
                <a:solidFill>
                  <a:schemeClr val="dk1"/>
                </a:solidFill>
              </a:rPr>
              <a:t>: overall regression coefficient between dependent variable and level 1 </a:t>
            </a:r>
            <a:r>
              <a:rPr lang="en-US" sz="2000" dirty="0" smtClean="0">
                <a:solidFill>
                  <a:schemeClr val="dk1"/>
                </a:solidFill>
              </a:rPr>
              <a:t>	</a:t>
            </a:r>
            <a:r>
              <a:rPr lang="en" sz="2000" dirty="0" smtClean="0">
                <a:solidFill>
                  <a:schemeClr val="dk1"/>
                </a:solidFill>
              </a:rPr>
              <a:t>predictor</a:t>
            </a:r>
            <a:endParaRPr lang="en" sz="20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 sz="2000" dirty="0">
                <a:solidFill>
                  <a:schemeClr val="dk1"/>
                </a:solidFill>
              </a:rPr>
              <a:t>µ</a:t>
            </a:r>
            <a:r>
              <a:rPr lang="en" sz="2000" baseline="-25000" dirty="0">
                <a:solidFill>
                  <a:schemeClr val="dk1"/>
                </a:solidFill>
              </a:rPr>
              <a:t>1j </a:t>
            </a:r>
            <a:r>
              <a:rPr lang="en" sz="2000" dirty="0">
                <a:solidFill>
                  <a:schemeClr val="dk1"/>
                </a:solidFill>
              </a:rPr>
              <a:t>: error for slope</a:t>
            </a:r>
          </a:p>
          <a:p>
            <a:pPr lvl="0">
              <a:spcBef>
                <a:spcPts val="0"/>
              </a:spcBef>
              <a:buNone/>
            </a:pPr>
            <a:r>
              <a:rPr lang="en" sz="2000" dirty="0">
                <a:solidFill>
                  <a:schemeClr val="dk1"/>
                </a:solidFill>
              </a:rPr>
              <a:t>Depends on number of groups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Statistical Test and Power</a:t>
            </a:r>
          </a:p>
        </p:txBody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</a:pPr>
            <a:r>
              <a:rPr lang="en" sz="2200" dirty="0" smtClean="0">
                <a:solidFill>
                  <a:schemeClr val="tx1"/>
                </a:solidFill>
              </a:rPr>
              <a:t>Statistical </a:t>
            </a:r>
            <a:r>
              <a:rPr lang="en" sz="2200" dirty="0">
                <a:solidFill>
                  <a:schemeClr val="tx1"/>
                </a:solidFill>
              </a:rPr>
              <a:t>tests: Z-test or </a:t>
            </a:r>
            <a:r>
              <a:rPr lang="en" sz="2200" dirty="0" smtClean="0">
                <a:solidFill>
                  <a:schemeClr val="tx1"/>
                </a:solidFill>
              </a:rPr>
              <a:t>t-test.</a:t>
            </a:r>
            <a:endParaRPr lang="en-US" sz="2200" dirty="0" smtClean="0">
              <a:solidFill>
                <a:schemeClr val="tx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</a:pPr>
            <a:endParaRPr lang="en-US" sz="2200" dirty="0">
              <a:solidFill>
                <a:schemeClr val="tx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</a:pPr>
            <a:r>
              <a:rPr lang="en" sz="2200" dirty="0" smtClean="0">
                <a:solidFill>
                  <a:schemeClr val="tx1"/>
                </a:solidFill>
              </a:rPr>
              <a:t>Statistical </a:t>
            </a:r>
            <a:r>
              <a:rPr lang="en" sz="2200" dirty="0">
                <a:solidFill>
                  <a:schemeClr val="tx1"/>
                </a:solidFill>
              </a:rPr>
              <a:t>power: level 1 depends on number of individual observations, while level 2 depends on number of groups.</a:t>
            </a: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sz="22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200" dirty="0">
                <a:solidFill>
                  <a:schemeClr val="tx1"/>
                </a:solidFill>
              </a:rPr>
              <a:t>Having a large number of groups is more important than a large number of individuals.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Example Problem</a:t>
            </a:r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311700" y="1341661"/>
            <a:ext cx="2816100" cy="3219828"/>
          </a:xfrm>
          <a:prstGeom prst="rect">
            <a:avLst/>
          </a:prstGeom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>
              <a:spcBef>
                <a:spcPts val="0"/>
              </a:spcBef>
              <a:buFont typeface="Wingdings" charset="2"/>
              <a:buChar char="§"/>
            </a:pPr>
            <a:r>
              <a:rPr lang="en" sz="2000" dirty="0">
                <a:solidFill>
                  <a:srgbClr val="000000"/>
                </a:solidFill>
              </a:rPr>
              <a:t>Looking at the growing pattern of 26 Boys in Oxford, England.  </a:t>
            </a:r>
            <a:endParaRPr lang="en-US" sz="2000" dirty="0" smtClean="0">
              <a:solidFill>
                <a:srgbClr val="000000"/>
              </a:solidFill>
            </a:endParaRPr>
          </a:p>
          <a:p>
            <a:pPr marL="514350" lvl="0" indent="-285750">
              <a:spcBef>
                <a:spcPts val="0"/>
              </a:spcBef>
              <a:buFont typeface="Wingdings" charset="2"/>
              <a:buChar char="§"/>
            </a:pPr>
            <a:r>
              <a:rPr lang="en" sz="2000" dirty="0" smtClean="0">
                <a:solidFill>
                  <a:srgbClr val="000000"/>
                </a:solidFill>
              </a:rPr>
              <a:t>Height </a:t>
            </a:r>
            <a:r>
              <a:rPr lang="en" sz="2000" dirty="0">
                <a:solidFill>
                  <a:srgbClr val="000000"/>
                </a:solidFill>
              </a:rPr>
              <a:t>measurements were taken 9 times</a:t>
            </a:r>
          </a:p>
        </p:txBody>
      </p:sp>
      <p:pic>
        <p:nvPicPr>
          <p:cNvPr id="104" name="Shape 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800" y="1017725"/>
            <a:ext cx="5521709" cy="374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Shape 105"/>
          <p:cNvSpPr txBox="1"/>
          <p:nvPr/>
        </p:nvSpPr>
        <p:spPr>
          <a:xfrm>
            <a:off x="7086625" y="4759025"/>
            <a:ext cx="1943100" cy="30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100" dirty="0" err="1">
                <a:solidFill>
                  <a:schemeClr val="bg1"/>
                </a:solidFill>
              </a:rPr>
              <a:t>Pinheiro</a:t>
            </a:r>
            <a:r>
              <a:rPr lang="en" sz="1100" dirty="0">
                <a:solidFill>
                  <a:schemeClr val="bg1"/>
                </a:solidFill>
              </a:rPr>
              <a:t> and Bates (2000)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Example </a:t>
            </a:r>
            <a:r>
              <a:rPr lang="en" dirty="0" smtClean="0"/>
              <a:t>Problem</a:t>
            </a:r>
            <a:endParaRPr lang="en" dirty="0"/>
          </a:p>
        </p:txBody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311700" y="1340200"/>
            <a:ext cx="2909400" cy="3669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000" dirty="0">
                <a:solidFill>
                  <a:srgbClr val="000000"/>
                </a:solidFill>
              </a:rPr>
              <a:t>Attempt to model using Simple Linear Regression Model</a:t>
            </a:r>
          </a:p>
          <a:p>
            <a:pPr marL="9715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charset="2"/>
              <a:buChar char="§"/>
            </a:pPr>
            <a:r>
              <a:rPr lang="en" sz="2000" dirty="0">
                <a:solidFill>
                  <a:schemeClr val="dk1"/>
                </a:solidFill>
              </a:rPr>
              <a:t>H = β</a:t>
            </a:r>
            <a:r>
              <a:rPr lang="en" sz="2000" baseline="-25000" dirty="0">
                <a:solidFill>
                  <a:schemeClr val="dk1"/>
                </a:solidFill>
              </a:rPr>
              <a:t>0</a:t>
            </a:r>
            <a:r>
              <a:rPr lang="en" sz="2000" dirty="0">
                <a:solidFill>
                  <a:schemeClr val="dk1"/>
                </a:solidFill>
              </a:rPr>
              <a:t>+β</a:t>
            </a:r>
            <a:r>
              <a:rPr lang="en" sz="2000" baseline="-25000" dirty="0">
                <a:solidFill>
                  <a:schemeClr val="dk1"/>
                </a:solidFill>
              </a:rPr>
              <a:t>1</a:t>
            </a:r>
            <a:r>
              <a:rPr lang="en" sz="2000" dirty="0">
                <a:solidFill>
                  <a:schemeClr val="dk1"/>
                </a:solidFill>
              </a:rPr>
              <a:t>A+ε</a:t>
            </a: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>
                <a:solidFill>
                  <a:schemeClr val="dk1"/>
                </a:solidFill>
              </a:rPr>
              <a:t>H = height</a:t>
            </a: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>
                <a:solidFill>
                  <a:schemeClr val="dk1"/>
                </a:solidFill>
              </a:rPr>
              <a:t>A= age</a:t>
            </a: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 err="1">
                <a:solidFill>
                  <a:schemeClr val="dk1"/>
                </a:solidFill>
              </a:rPr>
              <a:t>ε</a:t>
            </a:r>
            <a:r>
              <a:rPr lang="en" sz="2000" dirty="0">
                <a:solidFill>
                  <a:schemeClr val="dk1"/>
                </a:solidFill>
              </a:rPr>
              <a:t>= error</a:t>
            </a:r>
          </a:p>
        </p:txBody>
      </p:sp>
      <p:pic>
        <p:nvPicPr>
          <p:cNvPr id="112" name="Shape 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4234" y="252248"/>
            <a:ext cx="5038064" cy="44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Shape 113"/>
          <p:cNvSpPr txBox="1"/>
          <p:nvPr/>
        </p:nvSpPr>
        <p:spPr>
          <a:xfrm>
            <a:off x="7720498" y="4708712"/>
            <a:ext cx="1111800" cy="353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100" dirty="0">
                <a:solidFill>
                  <a:schemeClr val="bg1"/>
                </a:solidFill>
              </a:rPr>
              <a:t>Buxton, 2008</a:t>
            </a:r>
          </a:p>
        </p:txBody>
      </p:sp>
      <p:sp>
        <p:nvSpPr>
          <p:cNvPr id="2" name="Oval 1"/>
          <p:cNvSpPr/>
          <p:nvPr/>
        </p:nvSpPr>
        <p:spPr>
          <a:xfrm>
            <a:off x="7924301" y="252248"/>
            <a:ext cx="704193" cy="2501462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19903" y="2150938"/>
            <a:ext cx="704193" cy="2501462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rPr lang="en" dirty="0"/>
              <a:t>Example </a:t>
            </a:r>
            <a:r>
              <a:rPr lang="en" dirty="0" smtClean="0"/>
              <a:t>Problem</a:t>
            </a:r>
            <a:endParaRPr lang="en" dirty="0"/>
          </a:p>
        </p:txBody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135050" y="1309565"/>
            <a:ext cx="3633300" cy="3450600"/>
          </a:xfrm>
          <a:prstGeom prst="rect">
            <a:avLst/>
          </a:prstGeom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000" dirty="0">
                <a:solidFill>
                  <a:srgbClr val="000000"/>
                </a:solidFill>
              </a:rPr>
              <a:t>Need to allow intercept to be different between subjects</a:t>
            </a: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 err="1">
                <a:solidFill>
                  <a:schemeClr val="dk1"/>
                </a:solidFill>
              </a:rPr>
              <a:t>H</a:t>
            </a:r>
            <a:r>
              <a:rPr lang="en" sz="2000" i="1" baseline="-25000" dirty="0" err="1">
                <a:solidFill>
                  <a:schemeClr val="dk1"/>
                </a:solidFill>
              </a:rPr>
              <a:t>ij</a:t>
            </a:r>
            <a:r>
              <a:rPr lang="en" sz="2000" dirty="0">
                <a:solidFill>
                  <a:schemeClr val="dk1"/>
                </a:solidFill>
              </a:rPr>
              <a:t> = β</a:t>
            </a:r>
            <a:r>
              <a:rPr lang="en" sz="2000" baseline="-25000" dirty="0">
                <a:solidFill>
                  <a:schemeClr val="dk1"/>
                </a:solidFill>
              </a:rPr>
              <a:t>0</a:t>
            </a:r>
            <a:r>
              <a:rPr lang="en" sz="2000" i="1" baseline="-25000" dirty="0">
                <a:solidFill>
                  <a:schemeClr val="dk1"/>
                </a:solidFill>
              </a:rPr>
              <a:t>j</a:t>
            </a:r>
            <a:r>
              <a:rPr lang="en" sz="2000" dirty="0">
                <a:solidFill>
                  <a:schemeClr val="dk1"/>
                </a:solidFill>
              </a:rPr>
              <a:t>+β</a:t>
            </a:r>
            <a:r>
              <a:rPr lang="en" sz="2000" baseline="-25000" dirty="0">
                <a:solidFill>
                  <a:schemeClr val="dk1"/>
                </a:solidFill>
              </a:rPr>
              <a:t>1</a:t>
            </a:r>
            <a:r>
              <a:rPr lang="en" sz="2000" dirty="0">
                <a:solidFill>
                  <a:schemeClr val="dk1"/>
                </a:solidFill>
              </a:rPr>
              <a:t>A</a:t>
            </a:r>
            <a:r>
              <a:rPr lang="en" sz="2000" i="1" baseline="-25000" dirty="0">
                <a:solidFill>
                  <a:schemeClr val="dk1"/>
                </a:solidFill>
              </a:rPr>
              <a:t>ij</a:t>
            </a:r>
            <a:r>
              <a:rPr lang="en" sz="2000" dirty="0">
                <a:solidFill>
                  <a:schemeClr val="dk1"/>
                </a:solidFill>
              </a:rPr>
              <a:t>+ε</a:t>
            </a:r>
            <a:r>
              <a:rPr lang="en" sz="2000" i="1" baseline="-25000" dirty="0">
                <a:solidFill>
                  <a:schemeClr val="dk1"/>
                </a:solidFill>
              </a:rPr>
              <a:t>ij</a:t>
            </a: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>
                <a:solidFill>
                  <a:schemeClr val="dk1"/>
                </a:solidFill>
              </a:rPr>
              <a:t>Β</a:t>
            </a:r>
            <a:r>
              <a:rPr lang="en" sz="2000" baseline="-25000" dirty="0">
                <a:solidFill>
                  <a:schemeClr val="dk1"/>
                </a:solidFill>
              </a:rPr>
              <a:t>0</a:t>
            </a:r>
            <a:r>
              <a:rPr lang="en" sz="2000" i="1" baseline="-25000" dirty="0">
                <a:solidFill>
                  <a:schemeClr val="dk1"/>
                </a:solidFill>
              </a:rPr>
              <a:t>j</a:t>
            </a:r>
            <a:r>
              <a:rPr lang="en" sz="2000" dirty="0">
                <a:solidFill>
                  <a:schemeClr val="dk1"/>
                </a:solidFill>
              </a:rPr>
              <a:t> = β</a:t>
            </a:r>
            <a:r>
              <a:rPr lang="en" sz="2000" baseline="-25000" dirty="0">
                <a:solidFill>
                  <a:schemeClr val="dk1"/>
                </a:solidFill>
              </a:rPr>
              <a:t>0</a:t>
            </a:r>
            <a:r>
              <a:rPr lang="en" sz="2000" dirty="0">
                <a:solidFill>
                  <a:schemeClr val="dk1"/>
                </a:solidFill>
              </a:rPr>
              <a:t> +</a:t>
            </a:r>
            <a:r>
              <a:rPr lang="en" sz="2000" i="1" dirty="0">
                <a:solidFill>
                  <a:schemeClr val="dk1"/>
                </a:solidFill>
              </a:rPr>
              <a:t>μ</a:t>
            </a:r>
            <a:r>
              <a:rPr lang="en" sz="2000" i="1" baseline="-25000" dirty="0">
                <a:solidFill>
                  <a:schemeClr val="dk1"/>
                </a:solidFill>
              </a:rPr>
              <a:t>0j</a:t>
            </a: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>
                <a:solidFill>
                  <a:schemeClr val="dk1"/>
                </a:solidFill>
              </a:rPr>
              <a:t>Where </a:t>
            </a:r>
            <a:r>
              <a:rPr lang="en" sz="2000" i="1" dirty="0">
                <a:solidFill>
                  <a:schemeClr val="dk1"/>
                </a:solidFill>
              </a:rPr>
              <a:t>μ</a:t>
            </a:r>
            <a:r>
              <a:rPr lang="en" sz="2000" i="1" baseline="-25000" dirty="0">
                <a:solidFill>
                  <a:schemeClr val="dk1"/>
                </a:solidFill>
              </a:rPr>
              <a:t>0j</a:t>
            </a:r>
            <a:r>
              <a:rPr lang="en" sz="2000" i="1" dirty="0">
                <a:solidFill>
                  <a:schemeClr val="dk1"/>
                </a:solidFill>
              </a:rPr>
              <a:t> ~ N(</a:t>
            </a:r>
            <a:r>
              <a:rPr lang="en" sz="2000" dirty="0">
                <a:solidFill>
                  <a:schemeClr val="dk1"/>
                </a:solidFill>
              </a:rPr>
              <a:t>0</a:t>
            </a:r>
            <a:r>
              <a:rPr lang="en" sz="2000" i="1" dirty="0">
                <a:solidFill>
                  <a:schemeClr val="dk1"/>
                </a:solidFill>
              </a:rPr>
              <a:t>, 𝒯</a:t>
            </a:r>
            <a:r>
              <a:rPr lang="en" sz="2000" baseline="-25000" dirty="0">
                <a:solidFill>
                  <a:schemeClr val="dk1"/>
                </a:solidFill>
              </a:rPr>
              <a:t>0</a:t>
            </a:r>
            <a:r>
              <a:rPr lang="en" sz="2000" dirty="0">
                <a:solidFill>
                  <a:schemeClr val="dk1"/>
                </a:solidFill>
              </a:rPr>
              <a:t>)</a:t>
            </a:r>
          </a:p>
          <a:p>
            <a:pPr lvl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charset="2"/>
              <a:buChar char="§"/>
            </a:pPr>
            <a:endParaRPr sz="2000" dirty="0">
              <a:solidFill>
                <a:schemeClr val="dk1"/>
              </a:solidFill>
            </a:endParaRP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 err="1">
                <a:solidFill>
                  <a:schemeClr val="dk1"/>
                </a:solidFill>
              </a:rPr>
              <a:t>H</a:t>
            </a:r>
            <a:r>
              <a:rPr lang="en" sz="2000" i="1" baseline="-25000" dirty="0" err="1">
                <a:solidFill>
                  <a:schemeClr val="dk1"/>
                </a:solidFill>
              </a:rPr>
              <a:t>ij</a:t>
            </a:r>
            <a:r>
              <a:rPr lang="en" sz="2000" dirty="0">
                <a:solidFill>
                  <a:schemeClr val="dk1"/>
                </a:solidFill>
              </a:rPr>
              <a:t> = (β</a:t>
            </a:r>
            <a:r>
              <a:rPr lang="en" sz="2000" baseline="-25000" dirty="0">
                <a:solidFill>
                  <a:schemeClr val="dk1"/>
                </a:solidFill>
              </a:rPr>
              <a:t>0</a:t>
            </a:r>
            <a:r>
              <a:rPr lang="en" sz="2000" dirty="0">
                <a:solidFill>
                  <a:schemeClr val="dk1"/>
                </a:solidFill>
              </a:rPr>
              <a:t> + </a:t>
            </a:r>
            <a:r>
              <a:rPr lang="en" sz="2000" i="1" dirty="0" err="1">
                <a:solidFill>
                  <a:schemeClr val="dk1"/>
                </a:solidFill>
              </a:rPr>
              <a:t>μ</a:t>
            </a:r>
            <a:r>
              <a:rPr lang="en" sz="2000" i="1" baseline="-25000" dirty="0" err="1">
                <a:solidFill>
                  <a:schemeClr val="dk1"/>
                </a:solidFill>
              </a:rPr>
              <a:t>oj</a:t>
            </a:r>
            <a:r>
              <a:rPr lang="en" sz="2000" dirty="0">
                <a:solidFill>
                  <a:schemeClr val="dk1"/>
                </a:solidFill>
              </a:rPr>
              <a:t>) + β</a:t>
            </a:r>
            <a:r>
              <a:rPr lang="en" sz="2000" baseline="-25000" dirty="0">
                <a:solidFill>
                  <a:schemeClr val="dk1"/>
                </a:solidFill>
              </a:rPr>
              <a:t>1</a:t>
            </a:r>
            <a:r>
              <a:rPr lang="en" sz="2000" dirty="0">
                <a:solidFill>
                  <a:schemeClr val="dk1"/>
                </a:solidFill>
              </a:rPr>
              <a:t>A</a:t>
            </a:r>
            <a:r>
              <a:rPr lang="en" sz="2000" i="1" baseline="-25000" dirty="0">
                <a:solidFill>
                  <a:schemeClr val="dk1"/>
                </a:solidFill>
              </a:rPr>
              <a:t>ij</a:t>
            </a:r>
            <a:r>
              <a:rPr lang="en" sz="2000" dirty="0">
                <a:solidFill>
                  <a:schemeClr val="dk1"/>
                </a:solidFill>
              </a:rPr>
              <a:t> + </a:t>
            </a:r>
            <a:r>
              <a:rPr lang="en" sz="2000" dirty="0" err="1">
                <a:solidFill>
                  <a:schemeClr val="dk1"/>
                </a:solidFill>
              </a:rPr>
              <a:t>ε</a:t>
            </a:r>
            <a:r>
              <a:rPr lang="en" sz="2000" i="1" baseline="-25000" dirty="0" err="1">
                <a:solidFill>
                  <a:schemeClr val="dk1"/>
                </a:solidFill>
              </a:rPr>
              <a:t>ij</a:t>
            </a:r>
            <a:endParaRPr lang="en" sz="2000" i="1" baseline="-25000" dirty="0">
              <a:solidFill>
                <a:schemeClr val="dk1"/>
              </a:solidFill>
            </a:endParaRPr>
          </a:p>
          <a:p>
            <a:pPr marL="45720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20" name="Shape 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994" y="115614"/>
            <a:ext cx="4692156" cy="454018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Shape 121"/>
          <p:cNvSpPr txBox="1"/>
          <p:nvPr/>
        </p:nvSpPr>
        <p:spPr>
          <a:xfrm>
            <a:off x="7720500" y="4760165"/>
            <a:ext cx="1111800" cy="353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100" dirty="0">
                <a:solidFill>
                  <a:schemeClr val="bg1"/>
                </a:solidFill>
              </a:rPr>
              <a:t>Buxton, 2008</a:t>
            </a:r>
          </a:p>
        </p:txBody>
      </p:sp>
      <p:sp>
        <p:nvSpPr>
          <p:cNvPr id="7" name="Oval 6"/>
          <p:cNvSpPr/>
          <p:nvPr/>
        </p:nvSpPr>
        <p:spPr>
          <a:xfrm>
            <a:off x="4409090" y="2086304"/>
            <a:ext cx="609600" cy="2427606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8" name="Oval 7"/>
          <p:cNvSpPr/>
          <p:nvPr/>
        </p:nvSpPr>
        <p:spPr>
          <a:xfrm>
            <a:off x="7666800" y="189187"/>
            <a:ext cx="1004234" cy="2385847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rPr lang="en" dirty="0"/>
              <a:t>Example </a:t>
            </a:r>
            <a:r>
              <a:rPr lang="en" dirty="0" smtClean="0"/>
              <a:t>Problem</a:t>
            </a:r>
            <a:endParaRPr lang="en" dirty="0"/>
          </a:p>
        </p:txBody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311700" y="1294584"/>
            <a:ext cx="3514066" cy="3461373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000" dirty="0">
                <a:solidFill>
                  <a:schemeClr val="dk1"/>
                </a:solidFill>
              </a:rPr>
              <a:t>Need to allow slope to be different between subjects</a:t>
            </a: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>
                <a:solidFill>
                  <a:schemeClr val="dk1"/>
                </a:solidFill>
              </a:rPr>
              <a:t>β</a:t>
            </a:r>
            <a:r>
              <a:rPr lang="en" sz="2000" baseline="-25000" dirty="0">
                <a:solidFill>
                  <a:schemeClr val="dk1"/>
                </a:solidFill>
              </a:rPr>
              <a:t>1</a:t>
            </a:r>
            <a:r>
              <a:rPr lang="en" sz="2000" dirty="0">
                <a:solidFill>
                  <a:schemeClr val="dk1"/>
                </a:solidFill>
              </a:rPr>
              <a:t> = β</a:t>
            </a:r>
            <a:r>
              <a:rPr lang="en" sz="2000" baseline="-25000" dirty="0">
                <a:solidFill>
                  <a:schemeClr val="dk1"/>
                </a:solidFill>
              </a:rPr>
              <a:t>1</a:t>
            </a:r>
            <a:r>
              <a:rPr lang="en" sz="2000" dirty="0">
                <a:solidFill>
                  <a:schemeClr val="dk1"/>
                </a:solidFill>
              </a:rPr>
              <a:t> + </a:t>
            </a:r>
            <a:r>
              <a:rPr lang="en" sz="2000" i="1" dirty="0" smtClean="0">
                <a:solidFill>
                  <a:schemeClr val="dk1"/>
                </a:solidFill>
              </a:rPr>
              <a:t>μ</a:t>
            </a:r>
            <a:r>
              <a:rPr lang="en" sz="2000" i="1" baseline="-25000" dirty="0" smtClean="0">
                <a:solidFill>
                  <a:schemeClr val="dk1"/>
                </a:solidFill>
              </a:rPr>
              <a:t>1j</a:t>
            </a:r>
            <a:endParaRPr lang="en-US" sz="2000" i="1" baseline="-25000" dirty="0" smtClean="0">
              <a:solidFill>
                <a:schemeClr val="dk1"/>
              </a:solidFill>
            </a:endParaRP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endParaRPr lang="en-US" sz="2000" i="1" baseline="-25000" dirty="0">
              <a:solidFill>
                <a:schemeClr val="dk1"/>
              </a:solidFill>
            </a:endParaRPr>
          </a:p>
          <a:p>
            <a:pPr marL="857250" lvl="1" indent="-28575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charset="2"/>
              <a:buChar char="§"/>
            </a:pPr>
            <a:r>
              <a:rPr lang="en" sz="2000" dirty="0" err="1" smtClean="0">
                <a:solidFill>
                  <a:schemeClr val="dk1"/>
                </a:solidFill>
              </a:rPr>
              <a:t>H</a:t>
            </a:r>
            <a:r>
              <a:rPr lang="en" sz="2000" i="1" baseline="-25000" dirty="0" err="1" smtClean="0">
                <a:solidFill>
                  <a:schemeClr val="dk1"/>
                </a:solidFill>
              </a:rPr>
              <a:t>ij</a:t>
            </a:r>
            <a:r>
              <a:rPr lang="en" sz="2000" dirty="0" smtClean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= (β</a:t>
            </a:r>
            <a:r>
              <a:rPr lang="en" sz="2000" baseline="-25000" dirty="0">
                <a:solidFill>
                  <a:schemeClr val="dk1"/>
                </a:solidFill>
              </a:rPr>
              <a:t>0</a:t>
            </a:r>
            <a:r>
              <a:rPr lang="en" sz="2000" dirty="0">
                <a:solidFill>
                  <a:schemeClr val="dk1"/>
                </a:solidFill>
              </a:rPr>
              <a:t> + </a:t>
            </a:r>
            <a:r>
              <a:rPr lang="en" sz="2000" i="1" dirty="0" err="1">
                <a:solidFill>
                  <a:schemeClr val="dk1"/>
                </a:solidFill>
              </a:rPr>
              <a:t>μ</a:t>
            </a:r>
            <a:r>
              <a:rPr lang="en" sz="2000" i="1" baseline="-25000" dirty="0" err="1">
                <a:solidFill>
                  <a:schemeClr val="dk1"/>
                </a:solidFill>
              </a:rPr>
              <a:t>oj</a:t>
            </a:r>
            <a:r>
              <a:rPr lang="en" sz="2000" dirty="0">
                <a:solidFill>
                  <a:schemeClr val="dk1"/>
                </a:solidFill>
              </a:rPr>
              <a:t>) + </a:t>
            </a:r>
            <a:r>
              <a:rPr lang="en-US" sz="2000" dirty="0" smtClean="0">
                <a:solidFill>
                  <a:schemeClr val="dk1"/>
                </a:solidFill>
              </a:rPr>
              <a:t>		</a:t>
            </a:r>
            <a:r>
              <a:rPr lang="en" sz="2000" dirty="0" smtClean="0">
                <a:solidFill>
                  <a:schemeClr val="dk1"/>
                </a:solidFill>
              </a:rPr>
              <a:t>(</a:t>
            </a:r>
            <a:r>
              <a:rPr lang="en" sz="2000" dirty="0">
                <a:solidFill>
                  <a:schemeClr val="dk1"/>
                </a:solidFill>
              </a:rPr>
              <a:t>β</a:t>
            </a:r>
            <a:r>
              <a:rPr lang="en" sz="2000" baseline="-25000" dirty="0">
                <a:solidFill>
                  <a:schemeClr val="dk1"/>
                </a:solidFill>
              </a:rPr>
              <a:t>1</a:t>
            </a:r>
            <a:r>
              <a:rPr lang="en" sz="2000" dirty="0">
                <a:solidFill>
                  <a:schemeClr val="dk1"/>
                </a:solidFill>
              </a:rPr>
              <a:t> + μ</a:t>
            </a:r>
            <a:r>
              <a:rPr lang="en" sz="2000" baseline="-25000" dirty="0">
                <a:solidFill>
                  <a:schemeClr val="dk1"/>
                </a:solidFill>
              </a:rPr>
              <a:t>1</a:t>
            </a:r>
            <a:r>
              <a:rPr lang="en" sz="2000" i="1" baseline="-25000" dirty="0">
                <a:solidFill>
                  <a:schemeClr val="dk1"/>
                </a:solidFill>
              </a:rPr>
              <a:t>j</a:t>
            </a:r>
            <a:r>
              <a:rPr lang="en" sz="2000" dirty="0">
                <a:solidFill>
                  <a:schemeClr val="dk1"/>
                </a:solidFill>
              </a:rPr>
              <a:t>)</a:t>
            </a:r>
            <a:r>
              <a:rPr lang="en" sz="2000" dirty="0" err="1">
                <a:solidFill>
                  <a:schemeClr val="dk1"/>
                </a:solidFill>
              </a:rPr>
              <a:t>A</a:t>
            </a:r>
            <a:r>
              <a:rPr lang="en" sz="2000" i="1" baseline="-25000" dirty="0" err="1">
                <a:solidFill>
                  <a:schemeClr val="dk1"/>
                </a:solidFill>
              </a:rPr>
              <a:t>ij</a:t>
            </a:r>
            <a:r>
              <a:rPr lang="en" sz="2000" dirty="0">
                <a:solidFill>
                  <a:schemeClr val="dk1"/>
                </a:solidFill>
              </a:rPr>
              <a:t> + </a:t>
            </a:r>
            <a:r>
              <a:rPr lang="en" sz="2000" dirty="0" err="1">
                <a:solidFill>
                  <a:schemeClr val="dk1"/>
                </a:solidFill>
              </a:rPr>
              <a:t>ε</a:t>
            </a:r>
            <a:r>
              <a:rPr lang="en" sz="2000" i="1" baseline="-25000" dirty="0" err="1">
                <a:solidFill>
                  <a:schemeClr val="dk1"/>
                </a:solidFill>
              </a:rPr>
              <a:t>ij</a:t>
            </a:r>
            <a:endParaRPr lang="en" sz="2000" i="1" baseline="-25000" dirty="0">
              <a:solidFill>
                <a:schemeClr val="dk1"/>
              </a:solidFill>
            </a:endParaRPr>
          </a:p>
        </p:txBody>
      </p:sp>
      <p:pic>
        <p:nvPicPr>
          <p:cNvPr id="128" name="Shape 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400" y="168166"/>
            <a:ext cx="4975049" cy="44876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Shape 129"/>
          <p:cNvSpPr txBox="1"/>
          <p:nvPr/>
        </p:nvSpPr>
        <p:spPr>
          <a:xfrm>
            <a:off x="7720500" y="4755957"/>
            <a:ext cx="1111800" cy="353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100" dirty="0">
                <a:solidFill>
                  <a:schemeClr val="bg1"/>
                </a:solidFill>
              </a:rPr>
              <a:t>Buxton, 2008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400" dirty="0"/>
              <a:t>Multilevel Modeling Vs Simple Linear Regression</a:t>
            </a:r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311700" y="1415233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rgbClr val="000000"/>
                </a:solidFill>
              </a:rPr>
              <a:t>Multilevel Model has two random variables</a:t>
            </a:r>
          </a:p>
          <a:p>
            <a:pPr marL="971550" lvl="1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rgbClr val="000000"/>
                </a:solidFill>
              </a:rPr>
              <a:t>Measurement level random variable, </a:t>
            </a:r>
            <a:r>
              <a:rPr lang="en" sz="2400" dirty="0" err="1">
                <a:solidFill>
                  <a:srgbClr val="000000"/>
                </a:solidFill>
              </a:rPr>
              <a:t>ε</a:t>
            </a:r>
            <a:r>
              <a:rPr lang="en" sz="2400" i="1" baseline="-25000" dirty="0" err="1">
                <a:solidFill>
                  <a:srgbClr val="000000"/>
                </a:solidFill>
              </a:rPr>
              <a:t>ij</a:t>
            </a:r>
            <a:endParaRPr lang="en" sz="2400" i="1" baseline="-25000" dirty="0">
              <a:solidFill>
                <a:srgbClr val="000000"/>
              </a:solidFill>
            </a:endParaRPr>
          </a:p>
          <a:p>
            <a:pPr marL="971550" lvl="1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rgbClr val="000000"/>
                </a:solidFill>
              </a:rPr>
              <a:t>Subject level random variable, </a:t>
            </a:r>
            <a:r>
              <a:rPr lang="en" sz="2400" i="1" dirty="0" err="1">
                <a:solidFill>
                  <a:srgbClr val="000000"/>
                </a:solidFill>
              </a:rPr>
              <a:t>μ</a:t>
            </a:r>
            <a:r>
              <a:rPr lang="en" sz="2400" i="1" baseline="-25000" dirty="0" err="1">
                <a:solidFill>
                  <a:srgbClr val="000000"/>
                </a:solidFill>
              </a:rPr>
              <a:t>oj</a:t>
            </a:r>
            <a:endParaRPr lang="en" sz="2400" i="1" baseline="-25000" dirty="0">
              <a:solidFill>
                <a:srgbClr val="000000"/>
              </a:solidFill>
            </a:endParaRPr>
          </a:p>
          <a:p>
            <a:pPr marL="514350" lvl="0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rgbClr val="000000"/>
                </a:solidFill>
              </a:rPr>
              <a:t>These random variables help give a better fit model that account for the variation between groups.  </a:t>
            </a:r>
          </a:p>
          <a:p>
            <a:pPr marL="514350" lvl="0" indent="-285750" rt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rgbClr val="000000"/>
                </a:solidFill>
              </a:rPr>
              <a:t>Use of Multilevel Modeling can be generalized to a wider population, contain fewer parameters, and information can be shared within groups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Conclusion</a:t>
            </a: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-US" sz="2400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400" dirty="0" smtClean="0">
                <a:solidFill>
                  <a:schemeClr val="tx1"/>
                </a:solidFill>
              </a:rPr>
              <a:t>The </a:t>
            </a:r>
            <a:r>
              <a:rPr lang="en" sz="2400" dirty="0">
                <a:solidFill>
                  <a:schemeClr val="tx1"/>
                </a:solidFill>
              </a:rPr>
              <a:t>multilevel model is used to account for various connected factors that could influence the observations in a data </a:t>
            </a:r>
            <a:r>
              <a:rPr lang="en" sz="2400" dirty="0" smtClean="0">
                <a:solidFill>
                  <a:schemeClr val="tx1"/>
                </a:solidFill>
              </a:rPr>
              <a:t>set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endParaRPr lang="en" sz="24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Font typeface="Wingdings" charset="2"/>
              <a:buChar char="§"/>
            </a:pPr>
            <a:r>
              <a:rPr lang="en" sz="2400" dirty="0">
                <a:solidFill>
                  <a:schemeClr val="tx1"/>
                </a:solidFill>
              </a:rPr>
              <a:t>As well as ascertain which of the factors are responsible for changes in the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311700" y="1331150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>
                <a:solidFill>
                  <a:schemeClr val="tx1"/>
                </a:solidFill>
              </a:rPr>
              <a:t>Buxton, R. (2008). Statistics: multilevel modeling. </a:t>
            </a:r>
            <a:r>
              <a:rPr lang="en" i="1" dirty="0">
                <a:solidFill>
                  <a:schemeClr val="tx1"/>
                </a:solidFill>
              </a:rPr>
              <a:t>Mathematics Learning Support Centre</a:t>
            </a:r>
            <a:r>
              <a:rPr lang="en" dirty="0">
                <a:solidFill>
                  <a:schemeClr val="tx1"/>
                </a:solidFill>
              </a:rPr>
              <a:t>. </a:t>
            </a:r>
          </a:p>
          <a:p>
            <a:pPr lvl="0">
              <a:spcBef>
                <a:spcPts val="0"/>
              </a:spcBef>
              <a:buNone/>
            </a:pPr>
            <a:r>
              <a:rPr lang="en" dirty="0" err="1">
                <a:solidFill>
                  <a:schemeClr val="tx1"/>
                </a:solidFill>
              </a:rPr>
              <a:t>Pinheiro</a:t>
            </a:r>
            <a:r>
              <a:rPr lang="en" dirty="0">
                <a:solidFill>
                  <a:schemeClr val="tx1"/>
                </a:solidFill>
              </a:rPr>
              <a:t>, J.C. &amp; Bates, D.M. (2000). Mixed-effects models in S and S-PLUS. </a:t>
            </a:r>
            <a:r>
              <a:rPr lang="en" i="1" dirty="0">
                <a:solidFill>
                  <a:schemeClr val="tx1"/>
                </a:solidFill>
              </a:rPr>
              <a:t>Springer.</a:t>
            </a:r>
          </a:p>
          <a:p>
            <a:pPr lvl="0">
              <a:spcBef>
                <a:spcPts val="0"/>
              </a:spcBef>
              <a:buNone/>
            </a:pPr>
            <a:r>
              <a:rPr lang="en" i="1" dirty="0" err="1">
                <a:solidFill>
                  <a:schemeClr val="tx1"/>
                </a:solidFill>
              </a:rPr>
              <a:t>Gelman</a:t>
            </a:r>
            <a:r>
              <a:rPr lang="en" i="1" dirty="0">
                <a:solidFill>
                  <a:schemeClr val="tx1"/>
                </a:solidFill>
              </a:rPr>
              <a:t>, A. (2006). </a:t>
            </a:r>
            <a:r>
              <a:rPr lang="en" dirty="0">
                <a:solidFill>
                  <a:schemeClr val="tx1"/>
                </a:solidFill>
              </a:rPr>
              <a:t>Multilevel (Hierarchical) Modeling</a:t>
            </a:r>
            <a:r>
              <a:rPr lang="en" i="1" dirty="0">
                <a:solidFill>
                  <a:schemeClr val="tx1"/>
                </a:solidFill>
              </a:rPr>
              <a:t>.  Columbia University</a:t>
            </a:r>
          </a:p>
          <a:p>
            <a:pPr lvl="0">
              <a:spcBef>
                <a:spcPts val="0"/>
              </a:spcBef>
              <a:buNone/>
            </a:pPr>
            <a:r>
              <a:rPr lang="en" dirty="0">
                <a:solidFill>
                  <a:schemeClr val="tx1"/>
                </a:solidFill>
              </a:rPr>
              <a:t>Introduction to Multi-Level Models. </a:t>
            </a:r>
            <a:r>
              <a:rPr lang="en" u="sng" dirty="0">
                <a:solidFill>
                  <a:schemeClr val="tx1"/>
                </a:solidFill>
              </a:rPr>
              <a:t>http://www.biostat.jhsph.edu/~fdominic/teaching/bio656/lectures/1.intro.pdf</a:t>
            </a:r>
            <a:endParaRPr lang="en" u="sng" dirty="0">
              <a:solidFill>
                <a:schemeClr val="tx1"/>
              </a:solidFill>
              <a:hlinkClick r:id="rId3"/>
            </a:endParaRPr>
          </a:p>
          <a:p>
            <a:pPr lvl="0">
              <a:spcBef>
                <a:spcPts val="0"/>
              </a:spcBef>
              <a:buNone/>
            </a:pPr>
            <a:r>
              <a:rPr lang="en" dirty="0">
                <a:solidFill>
                  <a:schemeClr val="tx1"/>
                </a:solidFill>
              </a:rPr>
              <a:t>(2002). What are Multilevel Models and Why Should I Use Them? </a:t>
            </a:r>
            <a:r>
              <a:rPr lang="en" i="1" dirty="0" err="1">
                <a:solidFill>
                  <a:schemeClr val="tx1"/>
                </a:solidFill>
              </a:rPr>
              <a:t>THe</a:t>
            </a:r>
            <a:r>
              <a:rPr lang="en" i="1" dirty="0">
                <a:solidFill>
                  <a:schemeClr val="tx1"/>
                </a:solidFill>
              </a:rPr>
              <a:t> University of Bristol.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176</TotalTime>
  <Words>624</Words>
  <Application>Microsoft Macintosh PowerPoint</Application>
  <PresentationFormat>On-screen Show (16:9)</PresentationFormat>
  <Paragraphs>106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Calibri Light</vt:lpstr>
      <vt:lpstr>Wingdings</vt:lpstr>
      <vt:lpstr>Arial</vt:lpstr>
      <vt:lpstr>Retrospect</vt:lpstr>
      <vt:lpstr>Multilevel Modeling</vt:lpstr>
      <vt:lpstr>Background Information</vt:lpstr>
      <vt:lpstr>Why Use Multilevel Modeling?</vt:lpstr>
      <vt:lpstr>Examples of Multilevel Modeling</vt:lpstr>
      <vt:lpstr>Assumptions</vt:lpstr>
      <vt:lpstr>Level 1 Regression equation</vt:lpstr>
      <vt:lpstr>Level 2 Regression Equation</vt:lpstr>
      <vt:lpstr>Statistical Test and Power</vt:lpstr>
      <vt:lpstr>Example Problem</vt:lpstr>
      <vt:lpstr>Example Problem</vt:lpstr>
      <vt:lpstr>Example Problem</vt:lpstr>
      <vt:lpstr>Example Problem</vt:lpstr>
      <vt:lpstr>Multilevel Modeling Vs Simple Linear Regression</vt:lpstr>
      <vt:lpstr>Conclusion</vt:lpstr>
      <vt:lpstr>References</vt:lpstr>
    </vt:vector>
  </TitlesOfParts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Multilevel Modeling</dc:title>
  <cp:lastModifiedBy>Amy Garrison</cp:lastModifiedBy>
  <cp:revision>7</cp:revision>
  <dcterms:modified xsi:type="dcterms:W3CDTF">2016-12-05T15:32:36Z</dcterms:modified>
</cp:coreProperties>
</file>