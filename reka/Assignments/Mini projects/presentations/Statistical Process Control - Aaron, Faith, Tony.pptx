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embeddedFontLst>
    <p:embeddedFont>
      <p:font typeface="Amatic SC" panose="020B0604020202020204" charset="0"/>
      <p:regular r:id="rId28"/>
      <p:bold r:id="rId29"/>
    </p:embeddedFont>
    <p:embeddedFont>
      <p:font typeface="Cambria" panose="02040503050406030204" pitchFamily="18" charset="0"/>
      <p:regular r:id="rId30"/>
      <p:bold r:id="rId31"/>
      <p:italic r:id="rId32"/>
      <p:boldItalic r:id="rId33"/>
    </p:embeddedFont>
    <p:embeddedFont>
      <p:font typeface="Cambria Math" panose="02040503050406030204" pitchFamily="18" charset="0"/>
      <p:regular r:id="rId34"/>
    </p:embeddedFont>
    <p:embeddedFont>
      <p:font typeface="Calibri" panose="020F0502020204030204" pitchFamily="34" charset="0"/>
      <p:regular r:id="rId35"/>
      <p:bold r:id="rId36"/>
      <p:italic r:id="rId37"/>
      <p:boldItalic r:id="rId38"/>
    </p:embeddedFont>
    <p:embeddedFont>
      <p:font typeface="Source Code Pro" panose="020B0604020202020204" charset="0"/>
      <p:regular r:id="rId39"/>
      <p:bold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-1314" y="-79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30155494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Shape 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Shape 6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Shape 6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Shape 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Shape 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Shape 9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Shape 11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Shape 11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Shape 12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Shape 13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Shape 14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Shape 1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Shape 17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19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Shape 1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1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Shape 1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20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Shape 20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21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Shape 21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23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Shape 23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24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Shape 24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Shape 26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Shape 2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Shape 27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Shape 27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2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Shape 2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Shape 30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Shape 3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hape 31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Shape 31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solidFill>
          <a:srgbClr val="FF0000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algn="ctr">
              <a:spcBef>
                <a:spcPts val="0"/>
              </a:spcBef>
              <a:buSzPct val="100000"/>
              <a:defRPr sz="8000"/>
            </a:lvl1pPr>
            <a:lvl2pPr lvl="1" algn="ctr">
              <a:spcBef>
                <a:spcPts val="0"/>
              </a:spcBef>
              <a:buSzPct val="100000"/>
              <a:defRPr sz="8000"/>
            </a:lvl2pPr>
            <a:lvl3pPr lvl="2" algn="ctr">
              <a:spcBef>
                <a:spcPts val="0"/>
              </a:spcBef>
              <a:buSzPct val="100000"/>
              <a:defRPr sz="8000"/>
            </a:lvl3pPr>
            <a:lvl4pPr lvl="3" algn="ctr">
              <a:spcBef>
                <a:spcPts val="0"/>
              </a:spcBef>
              <a:buSzPct val="100000"/>
              <a:defRPr sz="8000"/>
            </a:lvl4pPr>
            <a:lvl5pPr lvl="4" algn="ctr">
              <a:spcBef>
                <a:spcPts val="0"/>
              </a:spcBef>
              <a:buSzPct val="100000"/>
              <a:defRPr sz="8000"/>
            </a:lvl5pPr>
            <a:lvl6pPr lvl="5" algn="ctr">
              <a:spcBef>
                <a:spcPts val="0"/>
              </a:spcBef>
              <a:buSzPct val="100000"/>
              <a:defRPr sz="8000"/>
            </a:lvl6pPr>
            <a:lvl7pPr lvl="6" algn="ctr">
              <a:spcBef>
                <a:spcPts val="0"/>
              </a:spcBef>
              <a:buSzPct val="100000"/>
              <a:defRPr sz="8000"/>
            </a:lvl7pPr>
            <a:lvl8pPr lvl="7" algn="ctr">
              <a:spcBef>
                <a:spcPts val="0"/>
              </a:spcBef>
              <a:buSzPct val="100000"/>
              <a:defRPr sz="8000"/>
            </a:lvl8pPr>
            <a:lvl9pPr lvl="8" algn="ctr">
              <a:spcBef>
                <a:spcPts val="0"/>
              </a:spcBef>
              <a:buSzPct val="100000"/>
              <a:defRPr sz="8000"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ubTitle" idx="1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bg>
      <p:bgPr>
        <a:solidFill>
          <a:srgbClr val="980000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 txBox="1">
            <a:spLocks noGrp="1"/>
          </p:cNvSpPr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lIns="91425" tIns="91425" rIns="91425" bIns="91425" anchor="ctr" anchorCtr="0"/>
          <a:lstStyle>
            <a:lvl1pPr lvl="0" algn="ctr">
              <a:spcBef>
                <a:spcPts val="0"/>
              </a:spcBef>
              <a:buSzPct val="100000"/>
              <a:defRPr sz="4800"/>
            </a:lvl1pPr>
            <a:lvl2pPr lvl="1" algn="ctr">
              <a:spcBef>
                <a:spcPts val="0"/>
              </a:spcBef>
              <a:buSzPct val="100000"/>
              <a:defRPr sz="4800"/>
            </a:lvl2pPr>
            <a:lvl3pPr lvl="2" algn="ctr">
              <a:spcBef>
                <a:spcPts val="0"/>
              </a:spcBef>
              <a:buSzPct val="100000"/>
              <a:defRPr sz="4800"/>
            </a:lvl3pPr>
            <a:lvl4pPr lvl="3" algn="ctr">
              <a:spcBef>
                <a:spcPts val="0"/>
              </a:spcBef>
              <a:buSzPct val="100000"/>
              <a:defRPr sz="4800"/>
            </a:lvl4pPr>
            <a:lvl5pPr lvl="4" algn="ctr">
              <a:spcBef>
                <a:spcPts val="0"/>
              </a:spcBef>
              <a:buSzPct val="100000"/>
              <a:defRPr sz="4800"/>
            </a:lvl5pPr>
            <a:lvl6pPr lvl="5" algn="ctr">
              <a:spcBef>
                <a:spcPts val="0"/>
              </a:spcBef>
              <a:buSzPct val="100000"/>
              <a:defRPr sz="4800"/>
            </a:lvl6pPr>
            <a:lvl7pPr lvl="6" algn="ctr">
              <a:spcBef>
                <a:spcPts val="0"/>
              </a:spcBef>
              <a:buSzPct val="100000"/>
              <a:defRPr sz="4800"/>
            </a:lvl7pPr>
            <a:lvl8pPr lvl="7" algn="ctr">
              <a:spcBef>
                <a:spcPts val="0"/>
              </a:spcBef>
              <a:buSzPct val="100000"/>
              <a:defRPr sz="4800"/>
            </a:lvl8pPr>
            <a:lvl9pPr lvl="8" algn="ctr">
              <a:spcBef>
                <a:spcPts val="0"/>
              </a:spcBef>
              <a:buSzPct val="100000"/>
              <a:defRPr sz="4800"/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body" idx="2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 txBox="1">
            <a:spLocks noGrp="1"/>
          </p:cNvSpPr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4000"/>
            </a:lvl1pPr>
            <a:lvl2pPr lvl="1">
              <a:spcBef>
                <a:spcPts val="0"/>
              </a:spcBef>
              <a:buSzPct val="100000"/>
              <a:defRPr sz="4000"/>
            </a:lvl2pPr>
            <a:lvl3pPr lvl="2">
              <a:spcBef>
                <a:spcPts val="0"/>
              </a:spcBef>
              <a:buSzPct val="100000"/>
              <a:defRPr sz="4000"/>
            </a:lvl3pPr>
            <a:lvl4pPr lvl="3">
              <a:spcBef>
                <a:spcPts val="0"/>
              </a:spcBef>
              <a:buSzPct val="100000"/>
              <a:defRPr sz="4000"/>
            </a:lvl4pPr>
            <a:lvl5pPr lvl="4">
              <a:spcBef>
                <a:spcPts val="0"/>
              </a:spcBef>
              <a:buSzPct val="100000"/>
              <a:defRPr sz="4000"/>
            </a:lvl5pPr>
            <a:lvl6pPr lvl="5">
              <a:spcBef>
                <a:spcPts val="0"/>
              </a:spcBef>
              <a:buSzPct val="100000"/>
              <a:defRPr sz="4000"/>
            </a:lvl6pPr>
            <a:lvl7pPr lvl="6">
              <a:spcBef>
                <a:spcPts val="0"/>
              </a:spcBef>
              <a:buSzPct val="100000"/>
              <a:defRPr sz="4000"/>
            </a:lvl7pPr>
            <a:lvl8pPr lvl="7">
              <a:spcBef>
                <a:spcPts val="0"/>
              </a:spcBef>
              <a:buSzPct val="100000"/>
              <a:defRPr sz="4000"/>
            </a:lvl8pPr>
            <a:lvl9pPr lvl="8">
              <a:spcBef>
                <a:spcPts val="0"/>
              </a:spcBef>
              <a:buSzPct val="100000"/>
              <a:defRPr sz="4000"/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Clr>
                <a:schemeClr val="lt1"/>
              </a:buClr>
              <a:buSzPct val="100000"/>
              <a:defRPr sz="3000">
                <a:solidFill>
                  <a:schemeClr val="lt1"/>
                </a:solidFill>
                <a:highlight>
                  <a:srgbClr val="FF0000"/>
                </a:highlight>
              </a:defRPr>
            </a:lvl1pPr>
            <a:lvl2pPr lvl="1">
              <a:spcBef>
                <a:spcPts val="0"/>
              </a:spcBef>
              <a:buSzPct val="100000"/>
              <a:defRPr sz="3000"/>
            </a:lvl2pPr>
            <a:lvl3pPr lvl="2">
              <a:spcBef>
                <a:spcPts val="0"/>
              </a:spcBef>
              <a:buSzPct val="100000"/>
              <a:defRPr sz="3000"/>
            </a:lvl3pPr>
            <a:lvl4pPr lvl="3">
              <a:spcBef>
                <a:spcPts val="0"/>
              </a:spcBef>
              <a:buSzPct val="100000"/>
              <a:defRPr sz="3000"/>
            </a:lvl4pPr>
            <a:lvl5pPr lvl="4">
              <a:spcBef>
                <a:spcPts val="0"/>
              </a:spcBef>
              <a:buSzPct val="100000"/>
              <a:defRPr sz="3000"/>
            </a:lvl5pPr>
            <a:lvl6pPr lvl="5">
              <a:spcBef>
                <a:spcPts val="0"/>
              </a:spcBef>
              <a:buSzPct val="100000"/>
              <a:defRPr sz="3000"/>
            </a:lvl6pPr>
            <a:lvl7pPr lvl="6">
              <a:spcBef>
                <a:spcPts val="0"/>
              </a:spcBef>
              <a:buSzPct val="100000"/>
              <a:defRPr sz="3000"/>
            </a:lvl7pPr>
            <a:lvl8pPr lvl="7">
              <a:spcBef>
                <a:spcPts val="0"/>
              </a:spcBef>
              <a:buSzPct val="100000"/>
              <a:defRPr sz="3000"/>
            </a:lvl8pPr>
            <a:lvl9pPr lvl="8">
              <a:spcBef>
                <a:spcPts val="0"/>
              </a:spcBef>
              <a:buSzPct val="100000"/>
              <a:defRPr sz="3000"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2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bg>
      <p:bgPr>
        <a:solidFill>
          <a:schemeClr val="accent4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 lang="en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cxnSp>
        <p:nvCxnSpPr>
          <p:cNvPr id="38" name="Shape 38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" name="Shape 3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>
              <a:spcBef>
                <a:spcPts val="0"/>
              </a:spcBef>
              <a:buSzPct val="100000"/>
              <a:defRPr sz="5400"/>
            </a:lvl1pPr>
            <a:lvl2pPr lvl="1" algn="ctr">
              <a:spcBef>
                <a:spcPts val="0"/>
              </a:spcBef>
              <a:buSzPct val="100000"/>
              <a:defRPr sz="5400"/>
            </a:lvl2pPr>
            <a:lvl3pPr lvl="2" algn="ctr">
              <a:spcBef>
                <a:spcPts val="0"/>
              </a:spcBef>
              <a:buSzPct val="100000"/>
              <a:defRPr sz="5400"/>
            </a:lvl3pPr>
            <a:lvl4pPr lvl="3" algn="ctr">
              <a:spcBef>
                <a:spcPts val="0"/>
              </a:spcBef>
              <a:buSzPct val="100000"/>
              <a:defRPr sz="5400"/>
            </a:lvl4pPr>
            <a:lvl5pPr lvl="4" algn="ctr">
              <a:spcBef>
                <a:spcPts val="0"/>
              </a:spcBef>
              <a:buSzPct val="100000"/>
              <a:defRPr sz="5400"/>
            </a:lvl5pPr>
            <a:lvl6pPr lvl="5" algn="ctr">
              <a:spcBef>
                <a:spcPts val="0"/>
              </a:spcBef>
              <a:buSzPct val="100000"/>
              <a:defRPr sz="5400"/>
            </a:lvl6pPr>
            <a:lvl7pPr lvl="6" algn="ctr">
              <a:spcBef>
                <a:spcPts val="0"/>
              </a:spcBef>
              <a:buSzPct val="100000"/>
              <a:defRPr sz="5400"/>
            </a:lvl7pPr>
            <a:lvl8pPr lvl="7" algn="ctr">
              <a:spcBef>
                <a:spcPts val="0"/>
              </a:spcBef>
              <a:buSzPct val="100000"/>
              <a:defRPr sz="5400"/>
            </a:lvl8pPr>
            <a:lvl9pPr lvl="8" algn="ctr">
              <a:spcBef>
                <a:spcPts val="0"/>
              </a:spcBef>
              <a:buSzPct val="100000"/>
              <a:defRPr sz="5400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subTitle" idx="1"/>
          </p:nvPr>
        </p:nvSpPr>
        <p:spPr>
          <a:xfrm>
            <a:off x="265500" y="2845222"/>
            <a:ext cx="4045200" cy="13455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matic SC"/>
              <a:buNone/>
              <a:defRPr sz="24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 txBox="1">
            <a:spLocks noGrp="1"/>
          </p:cNvSpPr>
          <p:nvPr>
            <p:ph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body" idx="1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  <a:highlight>
                  <a:srgbClr val="FF0000"/>
                </a:highlight>
              </a:defRPr>
            </a:lvl1pPr>
            <a:lvl2pPr lvl="1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Source Code Pro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ource Code Pro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ource Code Pro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ource Code Pro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ource Code Pro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ource Code Pro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ource Code Pro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ource Code Pro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ource Code Pro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en"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‹#›</a:t>
            </a:fld>
            <a:endParaRPr lang="en" sz="1000">
              <a:solidFill>
                <a:schemeClr val="accen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0.png"/><Relationship Id="rId9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11" Type="http://schemas.openxmlformats.org/officeDocument/2006/relationships/image" Target="../media/image22.png"/><Relationship Id="rId5" Type="http://schemas.openxmlformats.org/officeDocument/2006/relationships/image" Target="../media/image10.png"/><Relationship Id="rId10" Type="http://schemas.openxmlformats.org/officeDocument/2006/relationships/image" Target="../media/image12.png"/><Relationship Id="rId4" Type="http://schemas.openxmlformats.org/officeDocument/2006/relationships/image" Target="../media/image14.png"/><Relationship Id="rId9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0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28.png"/><Relationship Id="rId10" Type="http://schemas.openxmlformats.org/officeDocument/2006/relationships/image" Target="../media/image31.png"/><Relationship Id="rId4" Type="http://schemas.openxmlformats.org/officeDocument/2006/relationships/image" Target="../media/image27.png"/><Relationship Id="rId9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0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5" Type="http://schemas.openxmlformats.org/officeDocument/2006/relationships/image" Target="../media/image16.png"/><Relationship Id="rId10" Type="http://schemas.openxmlformats.org/officeDocument/2006/relationships/image" Target="../media/image34.png"/><Relationship Id="rId4" Type="http://schemas.openxmlformats.org/officeDocument/2006/relationships/image" Target="../media/image15.png"/><Relationship Id="rId9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5.png"/><Relationship Id="rId7" Type="http://schemas.openxmlformats.org/officeDocument/2006/relationships/image" Target="../media/image10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8.png"/><Relationship Id="rId11" Type="http://schemas.openxmlformats.org/officeDocument/2006/relationships/image" Target="../media/image30.png"/><Relationship Id="rId5" Type="http://schemas.openxmlformats.org/officeDocument/2006/relationships/image" Target="../media/image37.png"/><Relationship Id="rId10" Type="http://schemas.openxmlformats.org/officeDocument/2006/relationships/image" Target="../media/image29.png"/><Relationship Id="rId4" Type="http://schemas.openxmlformats.org/officeDocument/2006/relationships/image" Target="../media/image36.png"/><Relationship Id="rId9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png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KnY8Syl6I3A" TargetMode="External"/><Relationship Id="rId7" Type="http://schemas.openxmlformats.org/officeDocument/2006/relationships/hyperlink" Target="https://en.wikipedia.org/wiki/Process_capability_index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youtube.com/watch?v=0ohQF6j9fJo&amp;t=3s" TargetMode="External"/><Relationship Id="rId5" Type="http://schemas.openxmlformats.org/officeDocument/2006/relationships/hyperlink" Target="https://www.youtube.com/watch?v=ewHGNNzKjdU&amp;t=264s" TargetMode="External"/><Relationship Id="rId4" Type="http://schemas.openxmlformats.org/officeDocument/2006/relationships/hyperlink" Target="https://www.youtube.com/watch?v=_RXfZtBPOhc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 txBox="1">
            <a:spLocks noGrp="1"/>
          </p:cNvSpPr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Statistical Process Control</a:t>
            </a:r>
          </a:p>
        </p:txBody>
      </p:sp>
      <p:sp>
        <p:nvSpPr>
          <p:cNvPr id="57" name="Shape 57"/>
          <p:cNvSpPr txBox="1">
            <a:spLocks noGrp="1"/>
          </p:cNvSpPr>
          <p:nvPr>
            <p:ph type="subTitle" idx="1"/>
          </p:nvPr>
        </p:nvSpPr>
        <p:spPr>
          <a:xfrm>
            <a:off x="285721" y="3547500"/>
            <a:ext cx="8520600" cy="7062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dirty="0"/>
              <a:t>A Lesson in Quality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2899" y="4497288"/>
            <a:ext cx="84062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latin typeface="Source Code Pro" panose="020B0604020202020204" charset="0"/>
              </a:rPr>
              <a:t>Aaron Clare, Anthony </a:t>
            </a:r>
            <a:r>
              <a:rPr lang="en-US" sz="2000" b="1" dirty="0" err="1" smtClean="0">
                <a:latin typeface="Source Code Pro" panose="020B0604020202020204" charset="0"/>
              </a:rPr>
              <a:t>Juritsch</a:t>
            </a:r>
            <a:r>
              <a:rPr lang="en-US" sz="2000" b="1" dirty="0" smtClean="0">
                <a:latin typeface="Source Code Pro" panose="020B0604020202020204" charset="0"/>
              </a:rPr>
              <a:t>, and Faith Rasmussen</a:t>
            </a:r>
            <a:endParaRPr lang="en-US" sz="2000" b="1" dirty="0">
              <a:latin typeface="Source Code Pro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Overview</a:t>
            </a:r>
          </a:p>
        </p:txBody>
      </p:sp>
      <p:sp>
        <p:nvSpPr>
          <p:cNvPr id="63" name="Shape 63"/>
          <p:cNvSpPr txBox="1">
            <a:spLocks noGrp="1"/>
          </p:cNvSpPr>
          <p:nvPr>
            <p:ph type="body" idx="2"/>
          </p:nvPr>
        </p:nvSpPr>
        <p:spPr>
          <a:xfrm>
            <a:off x="4939500" y="724199"/>
            <a:ext cx="3837000" cy="4053363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514350" lvl="0" indent="-285750" rtl="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" b="1" dirty="0">
                <a:solidFill>
                  <a:schemeClr val="bg1"/>
                </a:solidFill>
              </a:rPr>
              <a:t>Introduction </a:t>
            </a:r>
          </a:p>
          <a:p>
            <a:pPr marL="514350" lvl="0" indent="-285750" rtl="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" b="1" dirty="0">
                <a:solidFill>
                  <a:schemeClr val="bg1"/>
                </a:solidFill>
              </a:rPr>
              <a:t>Establishing a Statistical Process Control</a:t>
            </a:r>
          </a:p>
          <a:p>
            <a:pPr marL="514350" lvl="0" indent="-285750" rtl="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" b="1" dirty="0">
                <a:solidFill>
                  <a:schemeClr val="bg1"/>
                </a:solidFill>
              </a:rPr>
              <a:t>Functional Uses of Statistical Process Control</a:t>
            </a:r>
          </a:p>
          <a:p>
            <a:pPr marL="514350" lvl="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" b="1" dirty="0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64" name="Shape 64"/>
          <p:cNvSpPr txBox="1">
            <a:spLocks noGrp="1"/>
          </p:cNvSpPr>
          <p:nvPr>
            <p:ph type="subTitle" idx="1"/>
          </p:nvPr>
        </p:nvSpPr>
        <p:spPr>
          <a:xfrm>
            <a:off x="265500" y="2845222"/>
            <a:ext cx="4045200" cy="13455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>
            <a:spLocks noGrp="1"/>
          </p:cNvSpPr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Introduction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 txBox="1">
            <a:spLocks noGrp="1"/>
          </p:cNvSpPr>
          <p:nvPr>
            <p:ph type="title"/>
          </p:nvPr>
        </p:nvSpPr>
        <p:spPr>
          <a:xfrm>
            <a:off x="311700" y="570025"/>
            <a:ext cx="5156400" cy="7557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Why have in-line statistical Process Control?</a:t>
            </a:r>
          </a:p>
        </p:txBody>
      </p:sp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383825" y="1622322"/>
            <a:ext cx="4846200" cy="294667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en" sz="1800" dirty="0"/>
              <a:t>Expedient determination of deviations</a:t>
            </a:r>
          </a:p>
          <a:p>
            <a:pPr marL="457200" lvl="0" indent="-342900" rtl="0"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en" sz="1800" dirty="0"/>
              <a:t>Cost Saving Procedure</a:t>
            </a:r>
          </a:p>
          <a:p>
            <a:pPr marL="457200" lvl="0" indent="-342900" rtl="0"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en" sz="1800" dirty="0"/>
              <a:t>Provides in depth knowledge of the process</a:t>
            </a:r>
          </a:p>
          <a:p>
            <a:pPr lvl="0">
              <a:spcBef>
                <a:spcPts val="0"/>
              </a:spcBef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 txBox="1">
            <a:spLocks noGrp="1"/>
          </p:cNvSpPr>
          <p:nvPr>
            <p:ph type="title"/>
          </p:nvPr>
        </p:nvSpPr>
        <p:spPr>
          <a:xfrm>
            <a:off x="311700" y="541175"/>
            <a:ext cx="7407300" cy="7557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Example Cases of Statistical Process Control in an Industrial Setting</a:t>
            </a:r>
          </a:p>
        </p:txBody>
      </p:sp>
      <p:sp>
        <p:nvSpPr>
          <p:cNvPr id="81" name="Shape 81"/>
          <p:cNvSpPr txBox="1">
            <a:spLocks noGrp="1"/>
          </p:cNvSpPr>
          <p:nvPr>
            <p:ph type="body" idx="1"/>
          </p:nvPr>
        </p:nvSpPr>
        <p:spPr>
          <a:xfrm>
            <a:off x="5108925" y="2611450"/>
            <a:ext cx="3532500" cy="2015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2400"/>
              <a:t>A Cookie Conundrum</a:t>
            </a:r>
          </a:p>
          <a:p>
            <a:pPr lvl="0">
              <a:spcBef>
                <a:spcPts val="0"/>
              </a:spcBef>
              <a:buNone/>
            </a:pPr>
            <a:endParaRPr/>
          </a:p>
        </p:txBody>
      </p:sp>
      <p:pic>
        <p:nvPicPr>
          <p:cNvPr id="82" name="Shape 82" descr="chocolate-chip-cookie-app-60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49275"/>
            <a:ext cx="4722433" cy="354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8157300" cy="7557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Example Cases of Statistical Process Control in an Industrial Setting</a:t>
            </a:r>
          </a:p>
        </p:txBody>
      </p:sp>
      <p:sp>
        <p:nvSpPr>
          <p:cNvPr id="88" name="Shape 88"/>
          <p:cNvSpPr txBox="1">
            <a:spLocks noGrp="1"/>
          </p:cNvSpPr>
          <p:nvPr>
            <p:ph type="body" idx="1"/>
          </p:nvPr>
        </p:nvSpPr>
        <p:spPr>
          <a:xfrm>
            <a:off x="6016075" y="1386300"/>
            <a:ext cx="2520600" cy="27585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800" dirty="0"/>
              <a:t>Expected Chocolate chip coverage coverage: </a:t>
            </a:r>
            <a:r>
              <a:rPr lang="en" sz="1800" b="1" dirty="0"/>
              <a:t>25% (Assuming equal distribution)</a:t>
            </a:r>
          </a:p>
          <a:p>
            <a:pPr lvl="0" algn="ctr">
              <a:spcBef>
                <a:spcPts val="0"/>
              </a:spcBef>
              <a:buNone/>
            </a:pPr>
            <a:r>
              <a:rPr lang="en" sz="1800" dirty="0"/>
              <a:t>Expected Deviation in chocolate chip coverage:          </a:t>
            </a:r>
            <a:r>
              <a:rPr lang="en" sz="1800" b="1" dirty="0"/>
              <a:t>2%</a:t>
            </a:r>
          </a:p>
          <a:p>
            <a:pPr lvl="0" algn="ctr">
              <a:spcBef>
                <a:spcPts val="0"/>
              </a:spcBef>
              <a:buNone/>
            </a:pPr>
            <a:endParaRPr b="1" dirty="0"/>
          </a:p>
          <a:p>
            <a:pPr lvl="0">
              <a:spcBef>
                <a:spcPts val="0"/>
              </a:spcBef>
              <a:buNone/>
            </a:pPr>
            <a:endParaRPr dirty="0"/>
          </a:p>
        </p:txBody>
      </p:sp>
      <p:pic>
        <p:nvPicPr>
          <p:cNvPr id="89" name="Shape 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941" y="2527691"/>
            <a:ext cx="5309460" cy="2163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Shape 90"/>
          <p:cNvPicPr preferRelativeResize="0"/>
          <p:nvPr/>
        </p:nvPicPr>
        <p:blipFill rotWithShape="1">
          <a:blip r:embed="rId4">
            <a:alphaModFix/>
          </a:blip>
          <a:srcRect r="49627"/>
          <a:stretch/>
        </p:blipFill>
        <p:spPr>
          <a:xfrm rot="195478">
            <a:off x="3448546" y="1481279"/>
            <a:ext cx="1448792" cy="2215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Shape 91" descr="Just enough Chocolate chips.png"/>
          <p:cNvPicPr preferRelativeResize="0"/>
          <p:nvPr/>
        </p:nvPicPr>
        <p:blipFill rotWithShape="1">
          <a:blip r:embed="rId5">
            <a:alphaModFix/>
          </a:blip>
          <a:srcRect l="30478" t="29540" r="28171" b="28192"/>
          <a:stretch/>
        </p:blipFill>
        <p:spPr>
          <a:xfrm>
            <a:off x="-3931101" y="2949680"/>
            <a:ext cx="870174" cy="55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Shape 92" descr="Just enough Chocolate chips.png"/>
          <p:cNvPicPr preferRelativeResize="0"/>
          <p:nvPr/>
        </p:nvPicPr>
        <p:blipFill rotWithShape="1">
          <a:blip r:embed="rId5">
            <a:alphaModFix/>
          </a:blip>
          <a:srcRect l="30478" t="29540" r="28171" b="28192"/>
          <a:stretch/>
        </p:blipFill>
        <p:spPr>
          <a:xfrm>
            <a:off x="-2796213" y="2938960"/>
            <a:ext cx="870174" cy="55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Shape 93" descr="Just enough Chocolate chips.png"/>
          <p:cNvPicPr preferRelativeResize="0"/>
          <p:nvPr/>
        </p:nvPicPr>
        <p:blipFill rotWithShape="1">
          <a:blip r:embed="rId5">
            <a:alphaModFix/>
          </a:blip>
          <a:srcRect l="30478" t="29540" r="28171" b="28192"/>
          <a:stretch/>
        </p:blipFill>
        <p:spPr>
          <a:xfrm>
            <a:off x="-1756575" y="2905297"/>
            <a:ext cx="870174" cy="55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Shape 94" descr="Just enough Chocolate chips.png"/>
          <p:cNvPicPr preferRelativeResize="0"/>
          <p:nvPr/>
        </p:nvPicPr>
        <p:blipFill rotWithShape="1">
          <a:blip r:embed="rId5">
            <a:alphaModFix/>
          </a:blip>
          <a:srcRect l="30478" t="29540" r="28171" b="28192"/>
          <a:stretch/>
        </p:blipFill>
        <p:spPr>
          <a:xfrm>
            <a:off x="-869182" y="2938959"/>
            <a:ext cx="870174" cy="55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17 -0.00371 L 0.5 0.0037 " pathEditMode="relative" rAng="0" ptsTypes="AA">
                                      <p:cBhvr>
                                        <p:cTn id="6" dur="3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792" y="37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2.83951E-6 L 0.4625 0.0037 " pathEditMode="relative" rAng="0" ptsTypes="AA">
                                      <p:cBhvr>
                                        <p:cTn id="8" dur="3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125" y="185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1.35802E-6 L 0.45 0.0037 " pathEditMode="relative" rAng="0" ptsTypes="AA">
                                      <p:cBhvr>
                                        <p:cTn id="10" dur="3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500" y="185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8.64198E-7 L 0.48542 -0.01482 " pathEditMode="relative" rAng="0" ptsTypes="AA">
                                      <p:cBhvr>
                                        <p:cTn id="12" dur="3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271" y="-7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8099400" cy="7557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Example Cases of Statistical Process Control in an Industrial Setting</a:t>
            </a:r>
          </a:p>
        </p:txBody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5226525" y="1421750"/>
            <a:ext cx="2808000" cy="3179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b="1"/>
          </a:p>
          <a:p>
            <a:pPr lvl="0">
              <a:spcBef>
                <a:spcPts val="0"/>
              </a:spcBef>
              <a:buNone/>
            </a:pPr>
            <a:endParaRPr b="1"/>
          </a:p>
          <a:p>
            <a:pPr lvl="0">
              <a:spcBef>
                <a:spcPts val="0"/>
              </a:spcBef>
              <a:buNone/>
            </a:pPr>
            <a:endParaRPr/>
          </a:p>
        </p:txBody>
      </p:sp>
      <p:pic>
        <p:nvPicPr>
          <p:cNvPr id="101" name="Shape 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941" y="2527691"/>
            <a:ext cx="5309460" cy="2163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Shape 102"/>
          <p:cNvPicPr preferRelativeResize="0"/>
          <p:nvPr/>
        </p:nvPicPr>
        <p:blipFill rotWithShape="1">
          <a:blip r:embed="rId4">
            <a:alphaModFix/>
          </a:blip>
          <a:srcRect r="49627"/>
          <a:stretch/>
        </p:blipFill>
        <p:spPr>
          <a:xfrm rot="195478">
            <a:off x="3448546" y="1481279"/>
            <a:ext cx="1448792" cy="2215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Shape 106"/>
          <p:cNvSpPr txBox="1">
            <a:spLocks noGrp="1"/>
          </p:cNvSpPr>
          <p:nvPr>
            <p:ph type="body" idx="1"/>
          </p:nvPr>
        </p:nvSpPr>
        <p:spPr>
          <a:xfrm>
            <a:off x="5936675" y="1896737"/>
            <a:ext cx="2520600" cy="27585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800" dirty="0"/>
              <a:t>How do you tell when the process is in control?</a:t>
            </a:r>
          </a:p>
          <a:p>
            <a:pPr lvl="0" algn="ctr" rtl="0">
              <a:spcBef>
                <a:spcPts val="0"/>
              </a:spcBef>
              <a:buNone/>
            </a:pPr>
            <a:endParaRPr b="1" dirty="0"/>
          </a:p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  <p:grpSp>
        <p:nvGrpSpPr>
          <p:cNvPr id="2" name="Group 1"/>
          <p:cNvGrpSpPr/>
          <p:nvPr/>
        </p:nvGrpSpPr>
        <p:grpSpPr>
          <a:xfrm>
            <a:off x="-3947500" y="2889116"/>
            <a:ext cx="3947500" cy="625960"/>
            <a:chOff x="660524" y="2998015"/>
            <a:chExt cx="3947500" cy="625960"/>
          </a:xfrm>
        </p:grpSpPr>
        <p:pic>
          <p:nvPicPr>
            <p:cNvPr id="103" name="Shape 103" descr="Just enough Chocolate chips.png"/>
            <p:cNvPicPr preferRelativeResize="0"/>
            <p:nvPr/>
          </p:nvPicPr>
          <p:blipFill rotWithShape="1">
            <a:blip r:embed="rId5">
              <a:alphaModFix/>
            </a:blip>
            <a:srcRect l="30478" t="29540" r="28171" b="28192"/>
            <a:stretch/>
          </p:blipFill>
          <p:spPr>
            <a:xfrm>
              <a:off x="3737850" y="3068050"/>
              <a:ext cx="870174" cy="555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" name="Shape 104" descr="Questionable chocolate chips.png"/>
            <p:cNvPicPr preferRelativeResize="0"/>
            <p:nvPr/>
          </p:nvPicPr>
          <p:blipFill rotWithShape="1">
            <a:blip r:embed="rId6">
              <a:alphaModFix/>
            </a:blip>
            <a:srcRect l="30521" t="30914" r="29649" b="30806"/>
            <a:stretch/>
          </p:blipFill>
          <p:spPr>
            <a:xfrm>
              <a:off x="1729750" y="3052625"/>
              <a:ext cx="743729" cy="446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" name="Shape 105" descr="Way Too many Chocolate chips.png"/>
            <p:cNvPicPr preferRelativeResize="0"/>
            <p:nvPr/>
          </p:nvPicPr>
          <p:blipFill rotWithShape="1">
            <a:blip r:embed="rId7">
              <a:alphaModFix/>
            </a:blip>
            <a:srcRect l="27987" t="30280" r="25951" b="29290"/>
            <a:stretch/>
          </p:blipFill>
          <p:spPr>
            <a:xfrm>
              <a:off x="660524" y="2998015"/>
              <a:ext cx="870174" cy="4773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" name="Shape 107" descr="Unchipped.png"/>
            <p:cNvPicPr preferRelativeResize="0"/>
            <p:nvPr/>
          </p:nvPicPr>
          <p:blipFill rotWithShape="1">
            <a:blip r:embed="rId8">
              <a:alphaModFix/>
            </a:blip>
            <a:srcRect r="26648" b="40119"/>
            <a:stretch/>
          </p:blipFill>
          <p:spPr>
            <a:xfrm>
              <a:off x="2532525" y="3055025"/>
              <a:ext cx="935564" cy="4773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75 -4.44444E-6 L 0.48959 0.01482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354" y="7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 txBox="1">
            <a:spLocks noGrp="1"/>
          </p:cNvSpPr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Establishing A statistical Process Control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3670200" cy="7557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Required Components</a:t>
            </a:r>
          </a:p>
        </p:txBody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5273700" cy="3179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buSzPct val="100000"/>
            </a:pPr>
            <a:r>
              <a:rPr lang="en" sz="1800" dirty="0"/>
              <a:t>A process, or a process step.</a:t>
            </a:r>
          </a:p>
          <a:p>
            <a:pPr marL="457200" lvl="0" indent="-342900" rtl="0">
              <a:spcBef>
                <a:spcPts val="0"/>
              </a:spcBef>
              <a:buSzPct val="100000"/>
            </a:pPr>
            <a:r>
              <a:rPr lang="en" sz="1800" dirty="0"/>
              <a:t>Data from the </a:t>
            </a:r>
            <a:r>
              <a:rPr lang="en" sz="1800" dirty="0" smtClean="0"/>
              <a:t>process</a:t>
            </a:r>
          </a:p>
          <a:p>
            <a:pPr marL="457200" lvl="0" indent="-342900" rtl="0">
              <a:spcBef>
                <a:spcPts val="0"/>
              </a:spcBef>
              <a:buSzPct val="100000"/>
            </a:pPr>
            <a:r>
              <a:rPr lang="en" sz="1800" dirty="0" smtClean="0"/>
              <a:t>Continuous </a:t>
            </a:r>
            <a:r>
              <a:rPr lang="en" sz="1800" dirty="0"/>
              <a:t>data collection method</a:t>
            </a:r>
          </a:p>
          <a:p>
            <a:pPr marL="457200" lvl="0" indent="-342900" rtl="0">
              <a:spcBef>
                <a:spcPts val="0"/>
              </a:spcBef>
              <a:buSzPct val="100000"/>
            </a:pPr>
            <a:r>
              <a:rPr lang="en" sz="1800" dirty="0"/>
              <a:t>An average (baseline) value, </a:t>
            </a:r>
          </a:p>
          <a:p>
            <a:pPr marL="457200" lvl="0" indent="-342900">
              <a:spcBef>
                <a:spcPts val="0"/>
              </a:spcBef>
              <a:buSzPct val="100000"/>
            </a:pPr>
            <a:r>
              <a:rPr lang="en" sz="1800" dirty="0"/>
              <a:t>The Standard Deviation, </a:t>
            </a:r>
          </a:p>
        </p:txBody>
      </p:sp>
      <p:pic>
        <p:nvPicPr>
          <p:cNvPr id="119" name="Shape 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1062" y="2979300"/>
            <a:ext cx="350824" cy="350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Shape 1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9220" y="3540153"/>
            <a:ext cx="350824" cy="35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1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1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/>
                                        <p:tgtEl>
                                          <p:spTgt spid="1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Constructing a Process Control Chart</a:t>
            </a:r>
          </a:p>
        </p:txBody>
      </p:sp>
      <p:pic>
        <p:nvPicPr>
          <p:cNvPr id="126" name="Shape 126"/>
          <p:cNvPicPr preferRelativeResize="0"/>
          <p:nvPr/>
        </p:nvPicPr>
        <p:blipFill rotWithShape="1">
          <a:blip r:embed="rId3">
            <a:alphaModFix/>
          </a:blip>
          <a:srcRect l="1578" r="1559"/>
          <a:stretch/>
        </p:blipFill>
        <p:spPr>
          <a:xfrm>
            <a:off x="1477525" y="1839950"/>
            <a:ext cx="5979849" cy="230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Shape 127"/>
          <p:cNvSpPr txBox="1"/>
          <p:nvPr/>
        </p:nvSpPr>
        <p:spPr>
          <a:xfrm>
            <a:off x="4363850" y="4145250"/>
            <a:ext cx="325500" cy="390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" sz="1650" b="1" dirty="0">
              <a:solidFill>
                <a:srgbClr val="003366"/>
              </a:solidFill>
              <a:highlight>
                <a:srgbClr val="FFFFFF"/>
              </a:highlight>
            </a:endParaRPr>
          </a:p>
          <a:p>
            <a:pPr lvl="0">
              <a:spcBef>
                <a:spcPts val="0"/>
              </a:spcBef>
              <a:buNone/>
            </a:pPr>
            <a:endParaRPr dirty="0"/>
          </a:p>
        </p:txBody>
      </p:sp>
      <p:cxnSp>
        <p:nvCxnSpPr>
          <p:cNvPr id="128" name="Shape 128"/>
          <p:cNvCxnSpPr/>
          <p:nvPr/>
        </p:nvCxnSpPr>
        <p:spPr>
          <a:xfrm>
            <a:off x="1923575" y="1812075"/>
            <a:ext cx="27900" cy="25647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29" name="Shape 129"/>
          <p:cNvCxnSpPr/>
          <p:nvPr/>
        </p:nvCxnSpPr>
        <p:spPr>
          <a:xfrm>
            <a:off x="6926775" y="1812075"/>
            <a:ext cx="28800" cy="2523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30" name="Shape 130"/>
          <p:cNvSpPr txBox="1"/>
          <p:nvPr/>
        </p:nvSpPr>
        <p:spPr>
          <a:xfrm>
            <a:off x="1679200" y="4328525"/>
            <a:ext cx="613500" cy="390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1800" dirty="0">
                <a:latin typeface="Calibri"/>
                <a:ea typeface="Calibri"/>
                <a:cs typeface="Calibri"/>
                <a:sym typeface="Calibri"/>
              </a:rPr>
              <a:t>-3σ</a:t>
            </a:r>
          </a:p>
        </p:txBody>
      </p:sp>
      <p:sp>
        <p:nvSpPr>
          <p:cNvPr id="131" name="Shape 131"/>
          <p:cNvSpPr txBox="1"/>
          <p:nvPr/>
        </p:nvSpPr>
        <p:spPr>
          <a:xfrm>
            <a:off x="6710625" y="4328525"/>
            <a:ext cx="613500" cy="390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+3σ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3610" y="4140563"/>
            <a:ext cx="399743" cy="472424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1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pic>
        <p:nvPicPr>
          <p:cNvPr id="137" name="Shape 137"/>
          <p:cNvPicPr preferRelativeResize="0"/>
          <p:nvPr/>
        </p:nvPicPr>
        <p:blipFill rotWithShape="1">
          <a:blip r:embed="rId3">
            <a:alphaModFix/>
          </a:blip>
          <a:srcRect l="1578" r="1559"/>
          <a:stretch/>
        </p:blipFill>
        <p:spPr>
          <a:xfrm>
            <a:off x="311700" y="1450428"/>
            <a:ext cx="3219924" cy="1216037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Shape 138"/>
          <p:cNvSpPr txBox="1"/>
          <p:nvPr/>
        </p:nvSpPr>
        <p:spPr>
          <a:xfrm>
            <a:off x="1865877" y="2666466"/>
            <a:ext cx="175200" cy="205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" sz="1650" b="1" dirty="0">
              <a:solidFill>
                <a:srgbClr val="003366"/>
              </a:solidFill>
              <a:highlight>
                <a:srgbClr val="FFFFFF"/>
              </a:highlight>
            </a:endParaRPr>
          </a:p>
          <a:p>
            <a:pPr lvl="0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sz="1650" b="1" dirty="0">
              <a:solidFill>
                <a:srgbClr val="003366"/>
              </a:solidFill>
              <a:highlight>
                <a:srgbClr val="FFFFFF"/>
              </a:highlight>
            </a:endParaRPr>
          </a:p>
          <a:p>
            <a:pPr lvl="0" rtl="0">
              <a:spcBef>
                <a:spcPts val="0"/>
              </a:spcBef>
              <a:buNone/>
            </a:pPr>
            <a:endParaRPr dirty="0"/>
          </a:p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  <p:cxnSp>
        <p:nvCxnSpPr>
          <p:cNvPr id="139" name="Shape 139"/>
          <p:cNvCxnSpPr/>
          <p:nvPr/>
        </p:nvCxnSpPr>
        <p:spPr>
          <a:xfrm>
            <a:off x="551881" y="1435725"/>
            <a:ext cx="15000" cy="1353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40" name="Shape 140"/>
          <p:cNvCxnSpPr/>
          <p:nvPr/>
        </p:nvCxnSpPr>
        <p:spPr>
          <a:xfrm>
            <a:off x="3245917" y="1435725"/>
            <a:ext cx="15600" cy="1330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42" name="Shape 142"/>
          <p:cNvSpPr txBox="1"/>
          <p:nvPr/>
        </p:nvSpPr>
        <p:spPr>
          <a:xfrm>
            <a:off x="3129528" y="2763143"/>
            <a:ext cx="330300" cy="205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lang="en" sz="1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Shape 143"/>
          <p:cNvSpPr txBox="1"/>
          <p:nvPr/>
        </p:nvSpPr>
        <p:spPr>
          <a:xfrm>
            <a:off x="5129575" y="1170875"/>
            <a:ext cx="3317400" cy="3568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SzPct val="100000"/>
              <a:buChar char="●"/>
            </a:pPr>
            <a:r>
              <a:rPr lang="en" sz="1800" b="1" dirty="0">
                <a:solidFill>
                  <a:srgbClr val="003366"/>
                </a:solidFill>
                <a:highlight>
                  <a:srgbClr val="FFFFFF"/>
                </a:highlight>
              </a:rPr>
              <a:t> </a:t>
            </a:r>
            <a:r>
              <a:rPr lang="en" sz="1800" b="1" dirty="0" smtClean="0">
                <a:solidFill>
                  <a:srgbClr val="003366"/>
                </a:solidFill>
                <a:highlight>
                  <a:srgbClr val="FFFFFF"/>
                </a:highlight>
              </a:rPr>
              <a:t>    </a:t>
            </a:r>
            <a:r>
              <a:rPr lang="en" sz="2400" b="1" dirty="0" smtClean="0">
                <a:solidFill>
                  <a:srgbClr val="003366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lang="en" sz="2400" dirty="0">
                <a:solidFill>
                  <a:srgbClr val="003366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25%</a:t>
            </a:r>
          </a:p>
          <a:p>
            <a:pPr marL="457200" lvl="0" indent="-342900" rtl="0">
              <a:spcBef>
                <a:spcPts val="0"/>
              </a:spcBef>
              <a:buClr>
                <a:srgbClr val="003366"/>
              </a:buClr>
              <a:buSzPct val="75000"/>
              <a:buChar char="●"/>
            </a:pPr>
            <a:r>
              <a:rPr lang="en" sz="2400" dirty="0">
                <a:latin typeface="Calibri"/>
                <a:ea typeface="Calibri"/>
                <a:cs typeface="Calibri"/>
                <a:sym typeface="Calibri"/>
              </a:rPr>
              <a:t>σ = 2%</a:t>
            </a:r>
          </a:p>
          <a:p>
            <a:pPr marL="457200" lvl="0" indent="-342900" rtl="0">
              <a:spcBef>
                <a:spcPts val="0"/>
              </a:spcBef>
              <a:buSzPct val="75000"/>
              <a:buFont typeface="Calibri"/>
              <a:buChar char="●"/>
            </a:pPr>
            <a:r>
              <a:rPr lang="en" sz="2400" dirty="0">
                <a:latin typeface="Calibri"/>
                <a:ea typeface="Calibri"/>
                <a:cs typeface="Calibri"/>
                <a:sym typeface="Calibri"/>
              </a:rPr>
              <a:t>+/-3σ = 19-31%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8363" y="2866043"/>
            <a:ext cx="363395" cy="429467"/>
          </a:xfrm>
          <a:prstGeom prst="rect">
            <a:avLst/>
          </a:prstGeom>
        </p:spPr>
      </p:pic>
      <p:pic>
        <p:nvPicPr>
          <p:cNvPr id="11" name="Shape 2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7894" y="2898301"/>
            <a:ext cx="662974" cy="36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Shape 2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89792" y="2898301"/>
            <a:ext cx="712249" cy="364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8864" y="1214216"/>
            <a:ext cx="399743" cy="4724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pic>
        <p:nvPicPr>
          <p:cNvPr id="149" name="Shape 149"/>
          <p:cNvPicPr preferRelativeResize="0"/>
          <p:nvPr/>
        </p:nvPicPr>
        <p:blipFill rotWithShape="1">
          <a:blip r:embed="rId3">
            <a:alphaModFix/>
          </a:blip>
          <a:srcRect l="1578" r="1559"/>
          <a:stretch/>
        </p:blipFill>
        <p:spPr>
          <a:xfrm>
            <a:off x="311700" y="1450428"/>
            <a:ext cx="3219924" cy="1216037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Shape 150"/>
          <p:cNvSpPr txBox="1"/>
          <p:nvPr/>
        </p:nvSpPr>
        <p:spPr>
          <a:xfrm>
            <a:off x="1608254" y="2666475"/>
            <a:ext cx="791700" cy="205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650" b="1">
                <a:solidFill>
                  <a:srgbClr val="003366"/>
                </a:solidFill>
                <a:highlight>
                  <a:srgbClr val="FFFFFF"/>
                </a:highlight>
              </a:rPr>
              <a:t>25%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sz="1650" b="1">
              <a:solidFill>
                <a:srgbClr val="003366"/>
              </a:solidFill>
              <a:highlight>
                <a:srgbClr val="FFFFFF"/>
              </a:highlight>
            </a:endParaRPr>
          </a:p>
          <a:p>
            <a:pPr lvl="0" rtl="0">
              <a:spcBef>
                <a:spcPts val="0"/>
              </a:spcBef>
              <a:buNone/>
            </a:pPr>
            <a:endParaRPr/>
          </a:p>
          <a:p>
            <a:pPr lvl="0" rtl="0">
              <a:spcBef>
                <a:spcPts val="0"/>
              </a:spcBef>
              <a:buNone/>
            </a:pPr>
            <a:endParaRPr/>
          </a:p>
        </p:txBody>
      </p:sp>
      <p:cxnSp>
        <p:nvCxnSpPr>
          <p:cNvPr id="151" name="Shape 151"/>
          <p:cNvCxnSpPr/>
          <p:nvPr/>
        </p:nvCxnSpPr>
        <p:spPr>
          <a:xfrm>
            <a:off x="551881" y="1435725"/>
            <a:ext cx="15000" cy="1353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52" name="Shape 152"/>
          <p:cNvCxnSpPr/>
          <p:nvPr/>
        </p:nvCxnSpPr>
        <p:spPr>
          <a:xfrm>
            <a:off x="3245917" y="1435725"/>
            <a:ext cx="15600" cy="1330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53" name="Shape 153"/>
          <p:cNvSpPr txBox="1"/>
          <p:nvPr/>
        </p:nvSpPr>
        <p:spPr>
          <a:xfrm>
            <a:off x="311698" y="2763150"/>
            <a:ext cx="705900" cy="205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19%</a:t>
            </a:r>
          </a:p>
        </p:txBody>
      </p:sp>
      <p:sp>
        <p:nvSpPr>
          <p:cNvPr id="154" name="Shape 154"/>
          <p:cNvSpPr txBox="1"/>
          <p:nvPr/>
        </p:nvSpPr>
        <p:spPr>
          <a:xfrm>
            <a:off x="2990600" y="2763150"/>
            <a:ext cx="705899" cy="205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31+</a:t>
            </a:r>
          </a:p>
        </p:txBody>
      </p:sp>
      <p:sp>
        <p:nvSpPr>
          <p:cNvPr id="155" name="Shape 155"/>
          <p:cNvSpPr txBox="1"/>
          <p:nvPr/>
        </p:nvSpPr>
        <p:spPr>
          <a:xfrm>
            <a:off x="5129575" y="1170875"/>
            <a:ext cx="3317400" cy="3568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SzPct val="100000"/>
              <a:buChar char="●"/>
            </a:pPr>
            <a:r>
              <a:rPr lang="en" sz="1800" b="1" dirty="0">
                <a:solidFill>
                  <a:srgbClr val="003366"/>
                </a:solidFill>
                <a:highlight>
                  <a:srgbClr val="FFFFFF"/>
                </a:highlight>
              </a:rPr>
              <a:t> </a:t>
            </a:r>
            <a:r>
              <a:rPr lang="en" sz="1800" b="1" dirty="0" smtClean="0">
                <a:solidFill>
                  <a:srgbClr val="003366"/>
                </a:solidFill>
                <a:highlight>
                  <a:srgbClr val="FFFFFF"/>
                </a:highlight>
              </a:rPr>
              <a:t>   </a:t>
            </a:r>
            <a:r>
              <a:rPr lang="en" sz="2400" b="1" dirty="0">
                <a:solidFill>
                  <a:srgbClr val="003366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lang="en" sz="2400" dirty="0">
                <a:solidFill>
                  <a:srgbClr val="003366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25%</a:t>
            </a:r>
          </a:p>
          <a:p>
            <a:pPr marL="457200" lvl="0" indent="-342900" rtl="0">
              <a:spcBef>
                <a:spcPts val="0"/>
              </a:spcBef>
              <a:buClr>
                <a:srgbClr val="003366"/>
              </a:buClr>
              <a:buSzPct val="75000"/>
              <a:buChar char="●"/>
            </a:pPr>
            <a:r>
              <a:rPr lang="en" sz="2400" dirty="0">
                <a:latin typeface="Calibri"/>
                <a:ea typeface="Calibri"/>
                <a:cs typeface="Calibri"/>
                <a:sym typeface="Calibri"/>
              </a:rPr>
              <a:t>σ = 2%</a:t>
            </a:r>
          </a:p>
          <a:p>
            <a:pPr marL="457200" lvl="0" indent="-342900" rtl="0">
              <a:spcBef>
                <a:spcPts val="0"/>
              </a:spcBef>
              <a:buSzPct val="75000"/>
              <a:buFont typeface="Calibri"/>
              <a:buChar char="●"/>
            </a:pPr>
            <a:r>
              <a:rPr lang="en" sz="2400" dirty="0">
                <a:latin typeface="Calibri"/>
                <a:ea typeface="Calibri"/>
                <a:cs typeface="Calibri"/>
                <a:sym typeface="Calibri"/>
              </a:rPr>
              <a:t>+/-3σ = 19-31%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0810" y="1214216"/>
            <a:ext cx="399743" cy="4724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Shape 160"/>
          <p:cNvPicPr preferRelativeResize="0"/>
          <p:nvPr/>
        </p:nvPicPr>
        <p:blipFill rotWithShape="1">
          <a:blip r:embed="rId3">
            <a:alphaModFix/>
          </a:blip>
          <a:srcRect l="1578" r="1559"/>
          <a:stretch/>
        </p:blipFill>
        <p:spPr>
          <a:xfrm rot="-5400000">
            <a:off x="-675527" y="2478130"/>
            <a:ext cx="3219924" cy="1216037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Shape 161"/>
          <p:cNvSpPr txBox="1"/>
          <p:nvPr/>
        </p:nvSpPr>
        <p:spPr>
          <a:xfrm rot="-5400000">
            <a:off x="8009936" y="2900807"/>
            <a:ext cx="791700" cy="205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650" b="1">
                <a:solidFill>
                  <a:srgbClr val="003366"/>
                </a:solidFill>
                <a:highlight>
                  <a:srgbClr val="FFFFFF"/>
                </a:highlight>
              </a:rPr>
              <a:t>25%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sz="1650" b="1">
              <a:solidFill>
                <a:srgbClr val="003366"/>
              </a:solidFill>
              <a:highlight>
                <a:srgbClr val="FFFFFF"/>
              </a:highlight>
            </a:endParaRPr>
          </a:p>
          <a:p>
            <a:pPr lvl="0" rtl="0">
              <a:spcBef>
                <a:spcPts val="0"/>
              </a:spcBef>
              <a:buNone/>
            </a:pPr>
            <a:endParaRPr/>
          </a:p>
          <a:p>
            <a:pPr lvl="0" rtl="0">
              <a:spcBef>
                <a:spcPts val="0"/>
              </a:spcBef>
              <a:buNone/>
            </a:pPr>
            <a:endParaRPr/>
          </a:p>
        </p:txBody>
      </p:sp>
      <p:cxnSp>
        <p:nvCxnSpPr>
          <p:cNvPr id="162" name="Shape 162"/>
          <p:cNvCxnSpPr/>
          <p:nvPr/>
        </p:nvCxnSpPr>
        <p:spPr>
          <a:xfrm rot="10800000" flipH="1">
            <a:off x="311711" y="4432530"/>
            <a:ext cx="7675200" cy="23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63" name="Shape 163"/>
          <p:cNvCxnSpPr/>
          <p:nvPr/>
        </p:nvCxnSpPr>
        <p:spPr>
          <a:xfrm>
            <a:off x="311711" y="1761894"/>
            <a:ext cx="7800900" cy="8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64" name="Shape 164"/>
          <p:cNvSpPr txBox="1"/>
          <p:nvPr/>
        </p:nvSpPr>
        <p:spPr>
          <a:xfrm rot="-5400000">
            <a:off x="1362761" y="4341313"/>
            <a:ext cx="705900" cy="205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19%</a:t>
            </a:r>
          </a:p>
        </p:txBody>
      </p:sp>
      <p:sp>
        <p:nvSpPr>
          <p:cNvPr id="165" name="Shape 165"/>
          <p:cNvSpPr txBox="1"/>
          <p:nvPr/>
        </p:nvSpPr>
        <p:spPr>
          <a:xfrm rot="-5400000">
            <a:off x="8149511" y="1561361"/>
            <a:ext cx="705900" cy="205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31+</a:t>
            </a:r>
          </a:p>
        </p:txBody>
      </p:sp>
      <p:cxnSp>
        <p:nvCxnSpPr>
          <p:cNvPr id="166" name="Shape 166"/>
          <p:cNvCxnSpPr/>
          <p:nvPr/>
        </p:nvCxnSpPr>
        <p:spPr>
          <a:xfrm rot="10800000" flipH="1">
            <a:off x="374561" y="2992005"/>
            <a:ext cx="7675200" cy="23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67" name="Shape 167"/>
          <p:cNvSpPr txBox="1"/>
          <p:nvPr/>
        </p:nvSpPr>
        <p:spPr>
          <a:xfrm rot="-5400000">
            <a:off x="1319861" y="2998520"/>
            <a:ext cx="791700" cy="205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650" b="1">
                <a:solidFill>
                  <a:srgbClr val="003366"/>
                </a:solidFill>
                <a:highlight>
                  <a:srgbClr val="FFFFFF"/>
                </a:highlight>
              </a:rPr>
              <a:t>25%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sz="1650" b="1">
              <a:solidFill>
                <a:srgbClr val="003366"/>
              </a:solidFill>
              <a:highlight>
                <a:srgbClr val="FFFFFF"/>
              </a:highlight>
            </a:endParaRPr>
          </a:p>
          <a:p>
            <a:pPr lvl="0" rtl="0">
              <a:spcBef>
                <a:spcPts val="0"/>
              </a:spcBef>
              <a:buNone/>
            </a:pPr>
            <a:endParaRPr/>
          </a:p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168" name="Shape 168"/>
          <p:cNvSpPr txBox="1"/>
          <p:nvPr/>
        </p:nvSpPr>
        <p:spPr>
          <a:xfrm rot="-5400000">
            <a:off x="8301911" y="4392663"/>
            <a:ext cx="705900" cy="205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19%</a:t>
            </a:r>
          </a:p>
        </p:txBody>
      </p:sp>
      <p:sp>
        <p:nvSpPr>
          <p:cNvPr id="169" name="Shape 169"/>
          <p:cNvSpPr txBox="1"/>
          <p:nvPr/>
        </p:nvSpPr>
        <p:spPr>
          <a:xfrm rot="-5400000">
            <a:off x="1339961" y="1524548"/>
            <a:ext cx="705900" cy="205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31+</a:t>
            </a:r>
          </a:p>
        </p:txBody>
      </p:sp>
      <p:sp>
        <p:nvSpPr>
          <p:cNvPr id="170" name="Shape 170"/>
          <p:cNvSpPr txBox="1">
            <a:spLocks noGrp="1"/>
          </p:cNvSpPr>
          <p:nvPr>
            <p:ph type="title"/>
          </p:nvPr>
        </p:nvSpPr>
        <p:spPr>
          <a:xfrm>
            <a:off x="3280725" y="313825"/>
            <a:ext cx="2808000" cy="7557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Process Control Chart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 txBox="1">
            <a:spLocks noGrp="1"/>
          </p:cNvSpPr>
          <p:nvPr>
            <p:ph type="title"/>
          </p:nvPr>
        </p:nvSpPr>
        <p:spPr>
          <a:xfrm>
            <a:off x="3280725" y="313825"/>
            <a:ext cx="2808000" cy="7557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Process Control Chart</a:t>
            </a:r>
          </a:p>
        </p:txBody>
      </p:sp>
      <p:pic>
        <p:nvPicPr>
          <p:cNvPr id="176" name="Shape 176"/>
          <p:cNvPicPr preferRelativeResize="0"/>
          <p:nvPr/>
        </p:nvPicPr>
        <p:blipFill rotWithShape="1">
          <a:blip r:embed="rId3">
            <a:alphaModFix/>
          </a:blip>
          <a:srcRect l="1578" r="1559"/>
          <a:stretch/>
        </p:blipFill>
        <p:spPr>
          <a:xfrm rot="-5400000">
            <a:off x="-675527" y="2478130"/>
            <a:ext cx="3219924" cy="1216037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Shape 177"/>
          <p:cNvSpPr txBox="1"/>
          <p:nvPr/>
        </p:nvSpPr>
        <p:spPr>
          <a:xfrm rot="-5400000">
            <a:off x="8009936" y="2900807"/>
            <a:ext cx="791700" cy="205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650" b="1">
                <a:solidFill>
                  <a:srgbClr val="003366"/>
                </a:solidFill>
                <a:highlight>
                  <a:srgbClr val="FFFFFF"/>
                </a:highlight>
              </a:rPr>
              <a:t>25%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sz="1650" b="1">
              <a:solidFill>
                <a:srgbClr val="003366"/>
              </a:solidFill>
              <a:highlight>
                <a:srgbClr val="FFFFFF"/>
              </a:highlight>
            </a:endParaRPr>
          </a:p>
          <a:p>
            <a:pPr lvl="0" rtl="0">
              <a:spcBef>
                <a:spcPts val="0"/>
              </a:spcBef>
              <a:buNone/>
            </a:pPr>
            <a:endParaRPr/>
          </a:p>
          <a:p>
            <a:pPr lvl="0" rtl="0">
              <a:spcBef>
                <a:spcPts val="0"/>
              </a:spcBef>
              <a:buNone/>
            </a:pPr>
            <a:endParaRPr/>
          </a:p>
        </p:txBody>
      </p:sp>
      <p:cxnSp>
        <p:nvCxnSpPr>
          <p:cNvPr id="178" name="Shape 178"/>
          <p:cNvCxnSpPr/>
          <p:nvPr/>
        </p:nvCxnSpPr>
        <p:spPr>
          <a:xfrm rot="10800000" flipH="1">
            <a:off x="311711" y="4432530"/>
            <a:ext cx="7675200" cy="23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79" name="Shape 179"/>
          <p:cNvCxnSpPr/>
          <p:nvPr/>
        </p:nvCxnSpPr>
        <p:spPr>
          <a:xfrm>
            <a:off x="311711" y="1761894"/>
            <a:ext cx="7800900" cy="8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80" name="Shape 180"/>
          <p:cNvSpPr txBox="1"/>
          <p:nvPr/>
        </p:nvSpPr>
        <p:spPr>
          <a:xfrm rot="-5400000">
            <a:off x="8149511" y="1561361"/>
            <a:ext cx="705900" cy="205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31+</a:t>
            </a:r>
          </a:p>
        </p:txBody>
      </p:sp>
      <p:cxnSp>
        <p:nvCxnSpPr>
          <p:cNvPr id="181" name="Shape 181"/>
          <p:cNvCxnSpPr/>
          <p:nvPr/>
        </p:nvCxnSpPr>
        <p:spPr>
          <a:xfrm rot="10800000" flipH="1">
            <a:off x="374561" y="2992005"/>
            <a:ext cx="7675200" cy="23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82" name="Shape 182"/>
          <p:cNvSpPr txBox="1"/>
          <p:nvPr/>
        </p:nvSpPr>
        <p:spPr>
          <a:xfrm rot="-5400000">
            <a:off x="8301911" y="4392663"/>
            <a:ext cx="705900" cy="205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19%</a:t>
            </a:r>
          </a:p>
        </p:txBody>
      </p:sp>
      <p:sp>
        <p:nvSpPr>
          <p:cNvPr id="183" name="Shape 183"/>
          <p:cNvSpPr txBox="1"/>
          <p:nvPr/>
        </p:nvSpPr>
        <p:spPr>
          <a:xfrm>
            <a:off x="1812075" y="2160550"/>
            <a:ext cx="362400" cy="237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X</a:t>
            </a:r>
          </a:p>
        </p:txBody>
      </p:sp>
      <p:sp>
        <p:nvSpPr>
          <p:cNvPr id="184" name="Shape 184"/>
          <p:cNvSpPr txBox="1"/>
          <p:nvPr/>
        </p:nvSpPr>
        <p:spPr>
          <a:xfrm>
            <a:off x="2299000" y="4142625"/>
            <a:ext cx="362400" cy="237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X</a:t>
            </a:r>
          </a:p>
        </p:txBody>
      </p:sp>
      <p:sp>
        <p:nvSpPr>
          <p:cNvPr id="185" name="Shape 185"/>
          <p:cNvSpPr txBox="1"/>
          <p:nvPr/>
        </p:nvSpPr>
        <p:spPr>
          <a:xfrm>
            <a:off x="2918325" y="2690250"/>
            <a:ext cx="362400" cy="237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X</a:t>
            </a:r>
          </a:p>
        </p:txBody>
      </p:sp>
      <p:sp>
        <p:nvSpPr>
          <p:cNvPr id="186" name="Shape 186"/>
          <p:cNvSpPr txBox="1"/>
          <p:nvPr/>
        </p:nvSpPr>
        <p:spPr>
          <a:xfrm>
            <a:off x="3893125" y="2982900"/>
            <a:ext cx="362400" cy="237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X</a:t>
            </a:r>
          </a:p>
        </p:txBody>
      </p:sp>
      <p:sp>
        <p:nvSpPr>
          <p:cNvPr id="187" name="Shape 187"/>
          <p:cNvSpPr txBox="1"/>
          <p:nvPr/>
        </p:nvSpPr>
        <p:spPr>
          <a:xfrm>
            <a:off x="4615050" y="1912262"/>
            <a:ext cx="362400" cy="237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X</a:t>
            </a:r>
          </a:p>
        </p:txBody>
      </p:sp>
      <p:sp>
        <p:nvSpPr>
          <p:cNvPr id="188" name="Shape 188"/>
          <p:cNvSpPr txBox="1"/>
          <p:nvPr/>
        </p:nvSpPr>
        <p:spPr>
          <a:xfrm>
            <a:off x="5229400" y="4544075"/>
            <a:ext cx="362400" cy="237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89" name="Shape 189"/>
          <p:cNvSpPr txBox="1"/>
          <p:nvPr/>
        </p:nvSpPr>
        <p:spPr>
          <a:xfrm>
            <a:off x="6287850" y="2453250"/>
            <a:ext cx="362400" cy="237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 txBox="1">
            <a:spLocks noGrp="1"/>
          </p:cNvSpPr>
          <p:nvPr>
            <p:ph type="title"/>
          </p:nvPr>
        </p:nvSpPr>
        <p:spPr>
          <a:xfrm>
            <a:off x="105222" y="0"/>
            <a:ext cx="2808000" cy="7557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dirty="0"/>
              <a:t>Interpreting a Variation </a:t>
            </a:r>
          </a:p>
        </p:txBody>
      </p:sp>
      <p:sp>
        <p:nvSpPr>
          <p:cNvPr id="195" name="Shape 195"/>
          <p:cNvSpPr txBox="1">
            <a:spLocks noGrp="1"/>
          </p:cNvSpPr>
          <p:nvPr>
            <p:ph type="body" idx="1"/>
          </p:nvPr>
        </p:nvSpPr>
        <p:spPr>
          <a:xfrm>
            <a:off x="105222" y="755700"/>
            <a:ext cx="8625823" cy="3596913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buSzPct val="100000"/>
            </a:pPr>
            <a:r>
              <a:rPr lang="en" sz="1800" b="1" dirty="0"/>
              <a:t>Special Variation</a:t>
            </a:r>
            <a:r>
              <a:rPr lang="en" sz="1800" dirty="0"/>
              <a:t> - Uncontrollable factors lead to variation in process</a:t>
            </a:r>
          </a:p>
          <a:p>
            <a:pPr marL="914400" lvl="1" indent="-342900" rtl="0">
              <a:spcBef>
                <a:spcPts val="0"/>
              </a:spcBef>
              <a:buSzPct val="100000"/>
            </a:pPr>
            <a:r>
              <a:rPr lang="en" sz="1800" dirty="0"/>
              <a:t>May be minor or serious</a:t>
            </a:r>
          </a:p>
          <a:p>
            <a:pPr marL="914400" lvl="1" indent="-342900" rtl="0">
              <a:spcBef>
                <a:spcPts val="0"/>
              </a:spcBef>
              <a:buSzPct val="100000"/>
            </a:pPr>
            <a:r>
              <a:rPr lang="en" sz="1800" dirty="0"/>
              <a:t>Need not adjust process</a:t>
            </a:r>
          </a:p>
          <a:p>
            <a:pPr marL="457200" lvl="0" indent="-342900" rtl="0">
              <a:spcBef>
                <a:spcPts val="0"/>
              </a:spcBef>
              <a:buSzPct val="100000"/>
            </a:pPr>
            <a:r>
              <a:rPr lang="en" sz="1800" b="1" dirty="0"/>
              <a:t>Common Cause Variation</a:t>
            </a:r>
          </a:p>
          <a:p>
            <a:pPr marL="914400" lvl="1" indent="-342900" rtl="0">
              <a:spcBef>
                <a:spcPts val="0"/>
              </a:spcBef>
              <a:buSzPct val="100000"/>
            </a:pPr>
            <a:r>
              <a:rPr lang="en" sz="1800" dirty="0"/>
              <a:t>“Expected” Variation</a:t>
            </a:r>
          </a:p>
          <a:p>
            <a:pPr marL="1371600" lvl="2" indent="-342900" rtl="0">
              <a:spcBef>
                <a:spcPts val="0"/>
              </a:spcBef>
              <a:buSzPct val="100000"/>
            </a:pPr>
            <a:r>
              <a:rPr lang="en" sz="1800" dirty="0"/>
              <a:t>Reason for Monitoring our system</a:t>
            </a:r>
          </a:p>
          <a:p>
            <a:pPr marL="914400" lvl="1" indent="-342900">
              <a:spcBef>
                <a:spcPts val="0"/>
              </a:spcBef>
              <a:buSzPct val="100000"/>
            </a:pPr>
            <a:r>
              <a:rPr lang="en" sz="1800" dirty="0"/>
              <a:t>Review Process and need for maintenance (expensive) or change in process capability (free)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 txBox="1">
            <a:spLocks noGrp="1"/>
          </p:cNvSpPr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Process Capability and </a:t>
            </a:r>
          </a:p>
          <a:p>
            <a:pPr lvl="0" rtl="0">
              <a:spcBef>
                <a:spcPts val="0"/>
              </a:spcBef>
              <a:buNone/>
            </a:pPr>
            <a:r>
              <a:rPr lang="en"/>
              <a:t>Customer Specifications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205"/>
          <p:cNvSpPr txBox="1">
            <a:spLocks noGrp="1"/>
          </p:cNvSpPr>
          <p:nvPr>
            <p:ph type="title"/>
          </p:nvPr>
        </p:nvSpPr>
        <p:spPr>
          <a:xfrm>
            <a:off x="292700" y="215975"/>
            <a:ext cx="2791500" cy="5832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 Process   capability  ‘Cp’             </a:t>
            </a:r>
          </a:p>
        </p:txBody>
      </p:sp>
      <p:pic>
        <p:nvPicPr>
          <p:cNvPr id="206" name="Shape 2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350" y="1525324"/>
            <a:ext cx="3510997" cy="1131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Shape 207"/>
          <p:cNvPicPr preferRelativeResize="0"/>
          <p:nvPr/>
        </p:nvPicPr>
        <p:blipFill rotWithShape="1">
          <a:blip r:embed="rId4">
            <a:alphaModFix/>
          </a:blip>
          <a:srcRect l="1578" r="1559"/>
          <a:stretch/>
        </p:blipFill>
        <p:spPr>
          <a:xfrm>
            <a:off x="5086650" y="799178"/>
            <a:ext cx="3219924" cy="12160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8" name="Shape 208"/>
          <p:cNvCxnSpPr/>
          <p:nvPr/>
        </p:nvCxnSpPr>
        <p:spPr>
          <a:xfrm>
            <a:off x="5278831" y="618775"/>
            <a:ext cx="15000" cy="1353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09" name="Shape 209"/>
          <p:cNvCxnSpPr/>
          <p:nvPr/>
        </p:nvCxnSpPr>
        <p:spPr>
          <a:xfrm>
            <a:off x="8008342" y="629875"/>
            <a:ext cx="15600" cy="1330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210" name="Shape 2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60025" y="215975"/>
            <a:ext cx="712249" cy="3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Shape 2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85599" y="215974"/>
            <a:ext cx="601449" cy="352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Shape 2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10875" y="2058037"/>
            <a:ext cx="37147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Shape 213"/>
          <p:cNvSpPr txBox="1"/>
          <p:nvPr/>
        </p:nvSpPr>
        <p:spPr>
          <a:xfrm>
            <a:off x="5223100" y="3911700"/>
            <a:ext cx="5730600" cy="668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pic>
        <p:nvPicPr>
          <p:cNvPr id="214" name="Shape 2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2700" y="3217375"/>
            <a:ext cx="3720949" cy="1003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Shape 2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85599" y="2135668"/>
            <a:ext cx="601449" cy="322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Shape 21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715424" y="2121187"/>
            <a:ext cx="601449" cy="351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Shape 2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450" y="3831116"/>
            <a:ext cx="4048125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Shape 2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225" y="1237400"/>
            <a:ext cx="2600325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Shape 223"/>
          <p:cNvPicPr preferRelativeResize="0"/>
          <p:nvPr/>
        </p:nvPicPr>
        <p:blipFill rotWithShape="1">
          <a:blip r:embed="rId5">
            <a:alphaModFix/>
          </a:blip>
          <a:srcRect l="1578" r="1559"/>
          <a:stretch/>
        </p:blipFill>
        <p:spPr>
          <a:xfrm>
            <a:off x="5086650" y="799178"/>
            <a:ext cx="3219924" cy="12160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Shape 224"/>
          <p:cNvCxnSpPr/>
          <p:nvPr/>
        </p:nvCxnSpPr>
        <p:spPr>
          <a:xfrm>
            <a:off x="5199256" y="629875"/>
            <a:ext cx="15000" cy="1353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25" name="Shape 225"/>
          <p:cNvCxnSpPr/>
          <p:nvPr/>
        </p:nvCxnSpPr>
        <p:spPr>
          <a:xfrm>
            <a:off x="8177492" y="640975"/>
            <a:ext cx="15600" cy="1330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226" name="Shape 2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26800" y="336787"/>
            <a:ext cx="712249" cy="3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Shape 2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56299" y="277299"/>
            <a:ext cx="601449" cy="352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Shape 2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10875" y="2058037"/>
            <a:ext cx="37147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Shape 22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829175" y="2075595"/>
            <a:ext cx="712249" cy="364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Shape 23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906025" y="2071124"/>
            <a:ext cx="662974" cy="36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Shape 23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68375" y="2283400"/>
            <a:ext cx="2048961" cy="121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Shape 232"/>
          <p:cNvSpPr txBox="1"/>
          <p:nvPr/>
        </p:nvSpPr>
        <p:spPr>
          <a:xfrm>
            <a:off x="5356325" y="2706050"/>
            <a:ext cx="3000000" cy="2300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800" dirty="0">
                <a:latin typeface="Cambria"/>
                <a:ea typeface="Cambria"/>
                <a:cs typeface="Cambria"/>
                <a:sym typeface="Cambria"/>
              </a:rPr>
              <a:t>At least 99.7% of cookies produced will be within limits!</a:t>
            </a:r>
          </a:p>
        </p:txBody>
      </p:sp>
      <p:sp>
        <p:nvSpPr>
          <p:cNvPr id="233" name="Shape 233"/>
          <p:cNvSpPr txBox="1">
            <a:spLocks noGrp="1"/>
          </p:cNvSpPr>
          <p:nvPr>
            <p:ph type="title"/>
          </p:nvPr>
        </p:nvSpPr>
        <p:spPr>
          <a:xfrm>
            <a:off x="292700" y="215975"/>
            <a:ext cx="2791500" cy="5832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 Process   capability  ‘Cp’            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927846" y="17133"/>
            <a:ext cx="662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31%</a:t>
            </a:r>
            <a:endParaRPr lang="en-US" sz="1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91324" y="-4458"/>
            <a:ext cx="662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19%</a:t>
            </a:r>
            <a:endParaRPr lang="en-US" sz="1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Shape 2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580566"/>
            <a:ext cx="45053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Shape 2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5712" y="3903541"/>
            <a:ext cx="18097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Shape 2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5162" y="1133623"/>
            <a:ext cx="2035386" cy="114859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Shape 241"/>
          <p:cNvSpPr/>
          <p:nvPr/>
        </p:nvSpPr>
        <p:spPr>
          <a:xfrm>
            <a:off x="616812" y="3662975"/>
            <a:ext cx="2536800" cy="1074600"/>
          </a:xfrm>
          <a:prstGeom prst="ellipse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42" name="Shape 242"/>
          <p:cNvSpPr txBox="1"/>
          <p:nvPr/>
        </p:nvSpPr>
        <p:spPr>
          <a:xfrm>
            <a:off x="5352425" y="2822675"/>
            <a:ext cx="3000000" cy="1914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800" dirty="0">
                <a:latin typeface="Cambria"/>
                <a:ea typeface="Cambria"/>
                <a:cs typeface="Cambria"/>
                <a:sym typeface="Cambria"/>
              </a:rPr>
              <a:t>Too many cookies produced will be outside the limits.</a:t>
            </a:r>
          </a:p>
        </p:txBody>
      </p:sp>
      <p:sp>
        <p:nvSpPr>
          <p:cNvPr id="243" name="Shape 243"/>
          <p:cNvSpPr txBox="1">
            <a:spLocks noGrp="1"/>
          </p:cNvSpPr>
          <p:nvPr>
            <p:ph type="title"/>
          </p:nvPr>
        </p:nvSpPr>
        <p:spPr>
          <a:xfrm>
            <a:off x="292700" y="215975"/>
            <a:ext cx="2791500" cy="5832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 Process   capability  ‘Cp’             </a:t>
            </a:r>
          </a:p>
        </p:txBody>
      </p:sp>
      <p:pic>
        <p:nvPicPr>
          <p:cNvPr id="244" name="Shape 2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18375" y="111124"/>
            <a:ext cx="3895725" cy="24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" grpId="0" animBg="1"/>
      <p:bldP spid="24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Shape 249"/>
          <p:cNvPicPr preferRelativeResize="0"/>
          <p:nvPr/>
        </p:nvPicPr>
        <p:blipFill rotWithShape="1">
          <a:blip r:embed="rId3">
            <a:alphaModFix/>
          </a:blip>
          <a:srcRect l="1578" r="1559"/>
          <a:stretch/>
        </p:blipFill>
        <p:spPr>
          <a:xfrm>
            <a:off x="5086650" y="799178"/>
            <a:ext cx="3219924" cy="12160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0" name="Shape 250"/>
          <p:cNvCxnSpPr/>
          <p:nvPr/>
        </p:nvCxnSpPr>
        <p:spPr>
          <a:xfrm>
            <a:off x="4759456" y="635762"/>
            <a:ext cx="15000" cy="1353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51" name="Shape 251"/>
          <p:cNvCxnSpPr/>
          <p:nvPr/>
        </p:nvCxnSpPr>
        <p:spPr>
          <a:xfrm>
            <a:off x="8654892" y="647287"/>
            <a:ext cx="15600" cy="1330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252" name="Shape 2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695091"/>
            <a:ext cx="4581525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Shape 2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8450" y="1069548"/>
            <a:ext cx="2188799" cy="1206752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Shape 254"/>
          <p:cNvSpPr txBox="1"/>
          <p:nvPr/>
        </p:nvSpPr>
        <p:spPr>
          <a:xfrm>
            <a:off x="0" y="3761900"/>
            <a:ext cx="9298800" cy="1194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800" dirty="0">
                <a:latin typeface="Cambria"/>
                <a:ea typeface="Cambria"/>
                <a:cs typeface="Cambria"/>
                <a:sym typeface="Cambria"/>
              </a:rPr>
              <a:t>More than 99.7% of cookies produced will be within limits!</a:t>
            </a:r>
          </a:p>
        </p:txBody>
      </p:sp>
      <p:pic>
        <p:nvPicPr>
          <p:cNvPr id="255" name="Shape 2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06575" y="222287"/>
            <a:ext cx="712249" cy="3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Shape 25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66224" y="221862"/>
            <a:ext cx="601449" cy="352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Shape 25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49700" y="2015225"/>
            <a:ext cx="633125" cy="37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Shape 25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346137" y="2050513"/>
            <a:ext cx="633125" cy="351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Shape 25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466225" y="2061040"/>
            <a:ext cx="601450" cy="329834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Shape 260"/>
          <p:cNvSpPr txBox="1">
            <a:spLocks noGrp="1"/>
          </p:cNvSpPr>
          <p:nvPr>
            <p:ph type="title"/>
          </p:nvPr>
        </p:nvSpPr>
        <p:spPr>
          <a:xfrm>
            <a:off x="292700" y="215975"/>
            <a:ext cx="2791500" cy="5832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 Process   capability  ‘Cp’       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Shape 265"/>
          <p:cNvSpPr txBox="1">
            <a:spLocks noGrp="1"/>
          </p:cNvSpPr>
          <p:nvPr>
            <p:ph type="title"/>
          </p:nvPr>
        </p:nvSpPr>
        <p:spPr>
          <a:xfrm>
            <a:off x="292700" y="215975"/>
            <a:ext cx="3109800" cy="5832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 Process   capability  ‘Cpk’             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5086650" y="216387"/>
            <a:ext cx="3953875" cy="2266250"/>
            <a:chOff x="5086650" y="216387"/>
            <a:chExt cx="3953875" cy="2266250"/>
          </a:xfrm>
        </p:grpSpPr>
        <p:pic>
          <p:nvPicPr>
            <p:cNvPr id="266" name="Shape 266"/>
            <p:cNvPicPr preferRelativeResize="0"/>
            <p:nvPr/>
          </p:nvPicPr>
          <p:blipFill rotWithShape="1">
            <a:blip r:embed="rId3">
              <a:alphaModFix/>
            </a:blip>
            <a:srcRect l="1578" r="1559"/>
            <a:stretch/>
          </p:blipFill>
          <p:spPr>
            <a:xfrm>
              <a:off x="5086650" y="799178"/>
              <a:ext cx="3219924" cy="1216037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67" name="Shape 267"/>
            <p:cNvCxnSpPr/>
            <p:nvPr/>
          </p:nvCxnSpPr>
          <p:spPr>
            <a:xfrm>
              <a:off x="6046868" y="608725"/>
              <a:ext cx="15000" cy="13530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268" name="Shape 268"/>
            <p:cNvCxnSpPr/>
            <p:nvPr/>
          </p:nvCxnSpPr>
          <p:spPr>
            <a:xfrm>
              <a:off x="8666442" y="641387"/>
              <a:ext cx="15600" cy="1330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lg" len="lg"/>
              <a:tailEnd type="none" w="lg" len="lg"/>
            </a:ln>
          </p:spPr>
        </p:cxnSp>
        <p:pic>
          <p:nvPicPr>
            <p:cNvPr id="269" name="Shape 26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318112" y="216387"/>
              <a:ext cx="712249" cy="352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0" name="Shape 27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753649" y="216399"/>
              <a:ext cx="601449" cy="3525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1" name="Shape 27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449700" y="2033137"/>
              <a:ext cx="633125" cy="374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2" name="Shape 27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407400" y="2044613"/>
              <a:ext cx="633125" cy="3517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" name="Shape 273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5753650" y="2044625"/>
              <a:ext cx="601450" cy="43801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74" name="Shape 27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71825" y="2927175"/>
            <a:ext cx="4914824" cy="155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Shape 27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01125" y="1057549"/>
            <a:ext cx="2013551" cy="1216049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Shape 276"/>
          <p:cNvSpPr txBox="1"/>
          <p:nvPr/>
        </p:nvSpPr>
        <p:spPr>
          <a:xfrm>
            <a:off x="5568475" y="3404362"/>
            <a:ext cx="3382500" cy="736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3600" dirty="0">
                <a:latin typeface="Cambria"/>
                <a:ea typeface="Cambria"/>
                <a:cs typeface="Cambria"/>
                <a:sym typeface="Cambria"/>
              </a:rPr>
              <a:t>Are we good?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Shape 281"/>
          <p:cNvSpPr txBox="1">
            <a:spLocks noGrp="1"/>
          </p:cNvSpPr>
          <p:nvPr>
            <p:ph type="title"/>
          </p:nvPr>
        </p:nvSpPr>
        <p:spPr>
          <a:xfrm>
            <a:off x="292700" y="215975"/>
            <a:ext cx="3109800" cy="5832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 Process   capability  ‘Cpk’             </a:t>
            </a:r>
          </a:p>
        </p:txBody>
      </p:sp>
      <p:pic>
        <p:nvPicPr>
          <p:cNvPr id="282" name="Shape 2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025" y="1001325"/>
            <a:ext cx="5467350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Shape 2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399" y="2265600"/>
            <a:ext cx="6326495" cy="1286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Shape 2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1875" y="3692824"/>
            <a:ext cx="6178225" cy="1161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Shape 28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02495" y="3893537"/>
            <a:ext cx="2152650" cy="84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Shape 286"/>
          <p:cNvSpPr/>
          <p:nvPr/>
        </p:nvSpPr>
        <p:spPr>
          <a:xfrm>
            <a:off x="6478887" y="3780100"/>
            <a:ext cx="2536800" cy="1074600"/>
          </a:xfrm>
          <a:prstGeom prst="ellipse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87" name="Shape 287"/>
          <p:cNvSpPr txBox="1"/>
          <p:nvPr/>
        </p:nvSpPr>
        <p:spPr>
          <a:xfrm>
            <a:off x="6528725" y="2049075"/>
            <a:ext cx="2536800" cy="1643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>
                <a:latin typeface="Cambria"/>
                <a:ea typeface="Cambria"/>
                <a:cs typeface="Cambria"/>
                <a:sym typeface="Cambria"/>
              </a:rPr>
              <a:t>Too many cookies produced will be outside the limits</a:t>
            </a:r>
            <a:r>
              <a:rPr lang="en" sz="1800" dirty="0">
                <a:latin typeface="Cambria"/>
                <a:ea typeface="Cambria"/>
                <a:cs typeface="Cambria"/>
                <a:sym typeface="Cambria"/>
              </a:rPr>
              <a:t>.</a:t>
            </a:r>
          </a:p>
        </p:txBody>
      </p:sp>
      <p:pic>
        <p:nvPicPr>
          <p:cNvPr id="288" name="Shape 288"/>
          <p:cNvPicPr preferRelativeResize="0"/>
          <p:nvPr/>
        </p:nvPicPr>
        <p:blipFill rotWithShape="1">
          <a:blip r:embed="rId7">
            <a:alphaModFix/>
          </a:blip>
          <a:srcRect l="1578" r="1559"/>
          <a:stretch/>
        </p:blipFill>
        <p:spPr>
          <a:xfrm>
            <a:off x="6019000" y="665233"/>
            <a:ext cx="2460645" cy="9365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9" name="Shape 289"/>
          <p:cNvCxnSpPr/>
          <p:nvPr/>
        </p:nvCxnSpPr>
        <p:spPr>
          <a:xfrm>
            <a:off x="6752792" y="518555"/>
            <a:ext cx="11400" cy="10419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90" name="Shape 290"/>
          <p:cNvCxnSpPr/>
          <p:nvPr/>
        </p:nvCxnSpPr>
        <p:spPr>
          <a:xfrm>
            <a:off x="8754653" y="543710"/>
            <a:ext cx="12000" cy="1024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291" name="Shape 29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88462" y="216397"/>
            <a:ext cx="544296" cy="271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Shape 29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28716" y="216406"/>
            <a:ext cx="459624" cy="271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Shape 29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060633" y="1615565"/>
            <a:ext cx="483829" cy="28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Shape 29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556695" y="1624403"/>
            <a:ext cx="483829" cy="270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Shape 29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528716" y="1624412"/>
            <a:ext cx="459624" cy="337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" grpId="0" animBg="1"/>
      <p:bldP spid="28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hape 300"/>
          <p:cNvSpPr txBox="1">
            <a:spLocks noGrp="1"/>
          </p:cNvSpPr>
          <p:nvPr>
            <p:ph type="title"/>
          </p:nvPr>
        </p:nvSpPr>
        <p:spPr>
          <a:xfrm>
            <a:off x="149467" y="105662"/>
            <a:ext cx="2808000" cy="7557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dirty="0"/>
              <a:t>Summary:</a:t>
            </a:r>
          </a:p>
        </p:txBody>
      </p:sp>
      <p:sp>
        <p:nvSpPr>
          <p:cNvPr id="301" name="Shape 301"/>
          <p:cNvSpPr txBox="1">
            <a:spLocks noGrp="1"/>
          </p:cNvSpPr>
          <p:nvPr>
            <p:ph type="body" idx="1"/>
          </p:nvPr>
        </p:nvSpPr>
        <p:spPr>
          <a:xfrm>
            <a:off x="252707" y="861362"/>
            <a:ext cx="7567500" cy="3179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dirty="0"/>
              <a:t>Statistical Process control is beneficial for establishing process capability and determining when  a process is functioning within set limits.</a:t>
            </a:r>
          </a:p>
          <a:p>
            <a:pPr lvl="0">
              <a:spcBef>
                <a:spcPts val="0"/>
              </a:spcBef>
              <a:buNone/>
            </a:pPr>
            <a:r>
              <a:rPr lang="en" dirty="0"/>
              <a:t>To establish a Statistical Process Control you need: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 dirty="0"/>
              <a:t>A process, or processing step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 dirty="0"/>
              <a:t>Continuous data from the processing step</a:t>
            </a:r>
          </a:p>
          <a:p>
            <a:pPr marL="914400" lvl="1" indent="-228600" rtl="0">
              <a:spcBef>
                <a:spcPts val="0"/>
              </a:spcBef>
            </a:pPr>
            <a:r>
              <a:rPr lang="en" dirty="0"/>
              <a:t>A Baseline,</a:t>
            </a:r>
          </a:p>
          <a:p>
            <a:pPr marL="914400" lvl="1" indent="-228600" rtl="0">
              <a:spcBef>
                <a:spcPts val="0"/>
              </a:spcBef>
            </a:pPr>
            <a:r>
              <a:rPr lang="en" dirty="0"/>
              <a:t>A standard deviation,</a:t>
            </a:r>
          </a:p>
          <a:p>
            <a:pPr lvl="0" rtl="0">
              <a:spcBef>
                <a:spcPts val="0"/>
              </a:spcBef>
              <a:buNone/>
            </a:pPr>
            <a:r>
              <a:rPr lang="en" dirty="0"/>
              <a:t>99.7% of the units in the process should fall within ±3σ of the mean.</a:t>
            </a:r>
          </a:p>
          <a:p>
            <a:pPr lvl="0" rtl="0">
              <a:spcBef>
                <a:spcPts val="0"/>
              </a:spcBef>
              <a:buNone/>
            </a:pPr>
            <a:r>
              <a:rPr lang="en" dirty="0"/>
              <a:t>To set customer specification limits, a producer should consider the process capability.</a:t>
            </a:r>
          </a:p>
          <a:p>
            <a:pPr marL="457200" lvl="0" indent="-228600">
              <a:spcBef>
                <a:spcPts val="0"/>
              </a:spcBef>
            </a:pPr>
            <a:r>
              <a:rPr lang="en" dirty="0"/>
              <a:t>  </a:t>
            </a:r>
          </a:p>
        </p:txBody>
      </p:sp>
      <p:pic>
        <p:nvPicPr>
          <p:cNvPr id="302" name="Shape 3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5876" y="2808110"/>
            <a:ext cx="199474" cy="199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Shape 3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5110" y="3232335"/>
            <a:ext cx="199474" cy="199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Shape 3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9925" y="4566175"/>
            <a:ext cx="1101924" cy="355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Shape 30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22850" y="4478873"/>
            <a:ext cx="2703699" cy="51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Shape 30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87550" y="4560348"/>
            <a:ext cx="1317527" cy="355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hape 31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Sources</a:t>
            </a:r>
          </a:p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12" name="Shape 312"/>
          <p:cNvSpPr txBox="1">
            <a:spLocks noGrp="1"/>
          </p:cNvSpPr>
          <p:nvPr>
            <p:ph type="body" idx="1"/>
          </p:nvPr>
        </p:nvSpPr>
        <p:spPr>
          <a:xfrm>
            <a:off x="81525" y="1020726"/>
            <a:ext cx="8967600" cy="35142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2286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" dirty="0"/>
              <a:t>Complexity Made Simple - Why Statistical Process Control (SPC) </a:t>
            </a:r>
            <a:r>
              <a:rPr lang="en" sz="950" u="sng" dirty="0">
                <a:solidFill>
                  <a:srgbClr val="1155CC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3"/>
              </a:rPr>
              <a:t>https://www.youtube.com/watch?v=KnY8Syl6I3A</a:t>
            </a:r>
          </a:p>
          <a:p>
            <a:pPr marL="457200" lvl="0" indent="-2286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" dirty="0"/>
              <a:t>Introduction to Quality Control – Statistics Chapter, Section 4 </a:t>
            </a:r>
            <a:r>
              <a:rPr lang="en" sz="950" u="sng" dirty="0">
                <a:solidFill>
                  <a:srgbClr val="1155CC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4"/>
              </a:rPr>
              <a:t>https://www.youtube.com/watch?v=_RXfZtBPOhc</a:t>
            </a:r>
          </a:p>
          <a:p>
            <a:pPr marL="457200" lvl="0" indent="-228600" rtl="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" dirty="0"/>
              <a:t>Cpk explained by Professor Cleary                        </a:t>
            </a:r>
            <a:r>
              <a:rPr lang="en" sz="950" u="sng" dirty="0">
                <a:solidFill>
                  <a:srgbClr val="1155CC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5"/>
              </a:rPr>
              <a:t>https://www.youtube.com/watch?v=ewHGNNzKjdU&amp;t=264s</a:t>
            </a:r>
          </a:p>
          <a:p>
            <a:pPr marL="457200" lvl="0" indent="-228600" rtl="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" dirty="0"/>
              <a:t>Video on CP Cpk from Advance Innovation Group               </a:t>
            </a:r>
            <a:r>
              <a:rPr lang="en" sz="950" u="sng" dirty="0">
                <a:solidFill>
                  <a:srgbClr val="1155CC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6"/>
              </a:rPr>
              <a:t>https://www.youtube.com/watch?v=0ohQF6j9fJo&amp;t=3s</a:t>
            </a:r>
          </a:p>
          <a:p>
            <a:pPr marL="457200" lvl="0" indent="-228600" rtl="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" dirty="0"/>
              <a:t>Process capability index                                     </a:t>
            </a:r>
            <a:r>
              <a:rPr lang="en" sz="1000" u="sng" dirty="0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https://en.wikipedia.org/wiki/Process_capability_index</a:t>
            </a:r>
          </a:p>
          <a:p>
            <a:pPr lvl="0">
              <a:spcBef>
                <a:spcPts val="0"/>
              </a:spcBef>
              <a:buNone/>
            </a:pPr>
            <a:endParaRPr dirty="0">
              <a:hlinkClick r:id="rId5"/>
            </a:endParaRPr>
          </a:p>
          <a:p>
            <a:pPr lvl="0">
              <a:spcBef>
                <a:spcPts val="0"/>
              </a:spcBef>
              <a:buNone/>
            </a:pPr>
            <a:endParaRPr sz="950" u="sng" dirty="0">
              <a:solidFill>
                <a:srgbClr val="1155CC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  <a:hlinkClick r:id="rId5"/>
            </a:endParaRPr>
          </a:p>
          <a:p>
            <a:pPr lvl="0">
              <a:spcBef>
                <a:spcPts val="0"/>
              </a:spcBef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Shape 317"/>
          <p:cNvSpPr txBox="1">
            <a:spLocks noGrp="1"/>
          </p:cNvSpPr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Questions?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each-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508</Words>
  <Application>Microsoft Office PowerPoint</Application>
  <PresentationFormat>On-screen Show (16:9)</PresentationFormat>
  <Paragraphs>105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Amatic SC</vt:lpstr>
      <vt:lpstr>Cambria</vt:lpstr>
      <vt:lpstr>Cambria Math</vt:lpstr>
      <vt:lpstr>Calibri</vt:lpstr>
      <vt:lpstr>Source Code Pro</vt:lpstr>
      <vt:lpstr>beach-day</vt:lpstr>
      <vt:lpstr>Statistical Process Control</vt:lpstr>
      <vt:lpstr>Overview</vt:lpstr>
      <vt:lpstr>Introduction</vt:lpstr>
      <vt:lpstr>Why have in-line statistical Process Control?</vt:lpstr>
      <vt:lpstr>Example Cases of Statistical Process Control in an Industrial Setting</vt:lpstr>
      <vt:lpstr>Example Cases of Statistical Process Control in an Industrial Setting</vt:lpstr>
      <vt:lpstr>Example Cases of Statistical Process Control in an Industrial Setting</vt:lpstr>
      <vt:lpstr>Establishing A statistical Process Control </vt:lpstr>
      <vt:lpstr>Required Components</vt:lpstr>
      <vt:lpstr>Constructing a Process Control Chart</vt:lpstr>
      <vt:lpstr>PowerPoint Presentation</vt:lpstr>
      <vt:lpstr>PowerPoint Presentation</vt:lpstr>
      <vt:lpstr>Process Control Chart</vt:lpstr>
      <vt:lpstr>Process Control Chart</vt:lpstr>
      <vt:lpstr>Interpreting a Variation </vt:lpstr>
      <vt:lpstr>Process Capability and  Customer Specifications</vt:lpstr>
      <vt:lpstr> Process   capability  ‘Cp’             </vt:lpstr>
      <vt:lpstr> Process   capability  ‘Cp’             </vt:lpstr>
      <vt:lpstr> Process   capability  ‘Cp’             </vt:lpstr>
      <vt:lpstr> Process   capability  ‘Cp’             </vt:lpstr>
      <vt:lpstr> Process   capability  ‘Cpk’             </vt:lpstr>
      <vt:lpstr> Process   capability  ‘Cpk’             </vt:lpstr>
      <vt:lpstr>Summary:</vt:lpstr>
      <vt:lpstr>Sources </vt:lpstr>
      <vt:lpstr>Questions?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Statistical Process Control</dc:title>
  <dc:creator>Aaron Clare</dc:creator>
  <cp:lastModifiedBy>Faith</cp:lastModifiedBy>
  <cp:revision>15</cp:revision>
  <dcterms:modified xsi:type="dcterms:W3CDTF">2016-12-07T03:08:45Z</dcterms:modified>
</cp:coreProperties>
</file>