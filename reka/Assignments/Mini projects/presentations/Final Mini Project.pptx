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69" r:id="rId6"/>
    <p:sldId id="264" r:id="rId7"/>
    <p:sldId id="259" r:id="rId8"/>
    <p:sldId id="265" r:id="rId9"/>
    <p:sldId id="266" r:id="rId10"/>
    <p:sldId id="267" r:id="rId11"/>
    <p:sldId id="262" r:id="rId12"/>
    <p:sldId id="263" r:id="rId13"/>
    <p:sldId id="271" r:id="rId14"/>
    <p:sldId id="268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D6E551-AAFD-4AE6-A24D-CFA8BFDA6652}" type="datetimeFigureOut">
              <a:rPr lang="en-US"/>
              <a:t>12/5/2016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8247D-FD49-4E19-879C-2E217613BD7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8247D-FD49-4E19-879C-2E217613BD70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8247D-FD49-4E19-879C-2E217613BD70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76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8247D-FD49-4E19-879C-2E217613BD70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08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7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33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9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7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9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18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7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4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0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16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actorial_experiment" TargetMode="External"/><Relationship Id="rId2" Type="http://schemas.openxmlformats.org/officeDocument/2006/relationships/hyperlink" Target="https://ocw.mit.edu/courses/brain-and-cognitive-sciences/9-07-statistical-methods-in-brain-and-cognitive-science-spring-2004/lecture-notes/20_anova3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tudy.com/academy/lesson/what-is-factorial-design-definition-example.html" TargetMode="External"/><Relationship Id="rId4" Type="http://schemas.openxmlformats.org/officeDocument/2006/relationships/hyperlink" Target="https://explorable.com/factorial-desig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/>
              <a:t>Factorial Design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Mark Keck, Don </a:t>
            </a:r>
            <a:r>
              <a:rPr lang="en-US" err="1"/>
              <a:t>Treptow</a:t>
            </a:r>
            <a:r>
              <a:rPr lang="en-US"/>
              <a:t>, Alicia Lansford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charset="0"/>
              <a:buChar char="•"/>
            </a:pPr>
            <a:r>
              <a:rPr lang="X-NONE" sz="2800">
                <a:solidFill>
                  <a:srgbClr val="000000"/>
                </a:solidFill>
              </a:rPr>
              <a:t>Factorial design was created by John Bennet Lawes</a:t>
            </a:r>
            <a:r>
              <a:rPr lang="X-NONE" sz="2800">
                <a:solidFill>
                  <a:srgbClr val="252525"/>
                </a:solidFill>
              </a:rPr>
              <a:t> and </a:t>
            </a:r>
            <a:r>
              <a:rPr lang="X-NONE" sz="2800">
                <a:solidFill>
                  <a:srgbClr val="000000"/>
                </a:solidFill>
              </a:rPr>
              <a:t>Joseph Henry Gilbert in th</a:t>
            </a:r>
            <a:r>
              <a:rPr lang="X-NONE" sz="2800">
                <a:solidFill>
                  <a:srgbClr val="252525"/>
                </a:solidFill>
              </a:rPr>
              <a:t>e 19th century</a:t>
            </a:r>
          </a:p>
          <a:p>
            <a:pPr>
              <a:buFont typeface="Arial" charset="0"/>
              <a:buChar char="•"/>
            </a:pPr>
            <a:r>
              <a:rPr lang="EN-US" sz="2800">
                <a:solidFill>
                  <a:srgbClr val="000000"/>
                </a:solidFill>
              </a:rPr>
              <a:t>E</a:t>
            </a:r>
            <a:r>
              <a:rPr lang="X-NONE" sz="2800">
                <a:solidFill>
                  <a:srgbClr val="000000"/>
                </a:solidFill>
              </a:rPr>
              <a:t>xperimental design which has two or more factors</a:t>
            </a:r>
            <a:endParaRPr lang="X-NONE" sz="280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2800">
                <a:solidFill>
                  <a:schemeClr val="tx1"/>
                </a:solidFill>
              </a:rPr>
              <a:t>E</a:t>
            </a:r>
            <a:r>
              <a:rPr lang="X-NONE" sz="2800">
                <a:solidFill>
                  <a:srgbClr val="000000"/>
                </a:solidFill>
              </a:rPr>
              <a:t>xperimental units take on all possible combinations of these levels across all such factors</a:t>
            </a:r>
          </a:p>
          <a:p>
            <a:pPr>
              <a:buFont typeface="Arial" charset="0"/>
              <a:buChar char="•"/>
            </a:pPr>
            <a:r>
              <a:rPr lang="X-NONE" sz="2800">
                <a:solidFill>
                  <a:schemeClr val="tx1"/>
                </a:solidFill>
              </a:rPr>
              <a:t>The idea was to take other factors into biological research like weather, or other influences that cannot be controlled and compare them between the treatments</a:t>
            </a:r>
          </a:p>
        </p:txBody>
      </p:sp>
    </p:spTree>
    <p:extLst>
      <p:ext uri="{BB962C8B-B14F-4D97-AF65-F5344CB8AC3E}">
        <p14:creationId xmlns:p14="http://schemas.microsoft.com/office/powerpoint/2010/main" val="187367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sz="2400"/>
              <a:t>Allows researchers to study the effect of each factor on the response variable</a:t>
            </a:r>
          </a:p>
          <a:p>
            <a:pPr>
              <a:buFont typeface="Arial" charset="0"/>
              <a:buChar char="•"/>
            </a:pPr>
            <a:r>
              <a:rPr lang="en-US" sz="2400"/>
              <a:t>For most, experiments, have 2 levels</a:t>
            </a:r>
          </a:p>
          <a:p>
            <a:pPr lvl="1">
              <a:buFont typeface="Arial" charset="0"/>
              <a:buChar char="•"/>
            </a:pPr>
            <a:r>
              <a:rPr lang="en-US" sz="2400"/>
              <a:t>4 treatment combinations</a:t>
            </a:r>
          </a:p>
          <a:p>
            <a:pPr lvl="1">
              <a:buFont typeface="Arial" charset="0"/>
              <a:buChar char="•"/>
            </a:pPr>
            <a:r>
              <a:rPr lang="en-US" sz="2400"/>
              <a:t>Infinite number of factors </a:t>
            </a:r>
            <a:r>
              <a:rPr lang="mr-IN" sz="2400"/>
              <a:t>–</a:t>
            </a:r>
            <a:r>
              <a:rPr lang="en-US" sz="2400"/>
              <a:t> 2</a:t>
            </a:r>
            <a:r>
              <a:rPr lang="en-US" sz="2400" baseline="30000"/>
              <a:t>k</a:t>
            </a:r>
            <a:r>
              <a:rPr lang="en-US" sz="2400"/>
              <a:t> , where k = number of factors</a:t>
            </a:r>
          </a:p>
          <a:p>
            <a:pPr>
              <a:buFont typeface="Arial" charset="0"/>
              <a:buChar char="•"/>
            </a:pPr>
            <a:r>
              <a:rPr lang="en-US" sz="2600"/>
              <a:t>Allows researchers to judge if there is a link between factors</a:t>
            </a:r>
          </a:p>
          <a:p>
            <a:pPr>
              <a:buFont typeface="Arial" charset="0"/>
              <a:buChar char="•"/>
            </a:pPr>
            <a:endParaRPr lang="en-US" sz="2600"/>
          </a:p>
          <a:p>
            <a:pPr>
              <a:buFont typeface="Arial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3758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When to implement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charset="0"/>
              <a:buChar char="•"/>
            </a:pPr>
            <a:r>
              <a:rPr lang="x-none" sz="2800"/>
              <a:t>When research has too </a:t>
            </a:r>
            <a:r>
              <a:rPr lang="en-US" sz="2800"/>
              <a:t>many </a:t>
            </a:r>
            <a:r>
              <a:rPr lang="x-none" sz="2800"/>
              <a:t>variables that can effect the treatment and it would be too costly and timely to test individually</a:t>
            </a:r>
          </a:p>
          <a:p>
            <a:pPr>
              <a:buFont typeface="Arial" charset="0"/>
              <a:buChar char="•"/>
            </a:pPr>
            <a:r>
              <a:rPr lang="x-none" sz="2800">
                <a:solidFill>
                  <a:schemeClr val="tx1"/>
                </a:solidFill>
              </a:rPr>
              <a:t>Thus, use when you have many different  factors across one experiment</a:t>
            </a:r>
          </a:p>
        </p:txBody>
      </p:sp>
    </p:spTree>
    <p:extLst>
      <p:ext uri="{BB962C8B-B14F-4D97-AF65-F5344CB8AC3E}">
        <p14:creationId xmlns:p14="http://schemas.microsoft.com/office/powerpoint/2010/main" val="191297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r>
                      <a:rPr lang="en-US" b="0" i="1" smtClean="0">
                        <a:latin typeface="Cambria Math" charset="0"/>
                      </a:rPr>
                      <m:t>= 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 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 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 ∈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/>
                  <a:t> = overall mean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/>
                  <a:t> = column effect (Factor A)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/>
                  <a:t> = row effect (Factor B)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/>
                  <a:t> = interaction effect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</m:oMath>
                </a14:m>
                <a:r>
                  <a:rPr lang="en-US"/>
                  <a:t> = error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28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 x 2 Experimental Design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/>
              <a:t>Look at the effect of beta carotene and </a:t>
            </a:r>
            <a:r>
              <a:rPr lang="en-US" err="1"/>
              <a:t>asprin</a:t>
            </a:r>
            <a:r>
              <a:rPr lang="en-US"/>
              <a:t> on heart attacks</a:t>
            </a:r>
          </a:p>
          <a:p>
            <a:pPr>
              <a:buFont typeface="Arial" charset="0"/>
              <a:buChar char="•"/>
            </a:pPr>
            <a:r>
              <a:rPr lang="en-US"/>
              <a:t>Main effects:</a:t>
            </a:r>
          </a:p>
          <a:p>
            <a:pPr lvl="1">
              <a:buFont typeface="Arial" charset="0"/>
              <a:buChar char="•"/>
            </a:pPr>
            <a:r>
              <a:rPr lang="en-US"/>
              <a:t>What effect does </a:t>
            </a:r>
            <a:r>
              <a:rPr lang="en-US" err="1"/>
              <a:t>asprin</a:t>
            </a:r>
            <a:r>
              <a:rPr lang="en-US"/>
              <a:t> have on heart attacks independent of beta carotene?</a:t>
            </a:r>
          </a:p>
          <a:p>
            <a:pPr lvl="1">
              <a:buFont typeface="Arial" charset="0"/>
              <a:buChar char="•"/>
            </a:pPr>
            <a:r>
              <a:rPr lang="en-US"/>
              <a:t>What effect does beta carotene have on heart attacks independent of </a:t>
            </a:r>
            <a:r>
              <a:rPr lang="en-US" err="1"/>
              <a:t>asprin</a:t>
            </a:r>
            <a:r>
              <a:rPr lang="en-US"/>
              <a:t>?</a:t>
            </a:r>
          </a:p>
          <a:p>
            <a:pPr>
              <a:buFont typeface="Arial" charset="0"/>
              <a:buChar char="•"/>
            </a:pPr>
            <a:r>
              <a:rPr lang="en-US"/>
              <a:t>Interactions:</a:t>
            </a:r>
          </a:p>
          <a:p>
            <a:pPr lvl="1">
              <a:buFont typeface="Arial" charset="0"/>
              <a:buChar char="•"/>
            </a:pPr>
            <a:r>
              <a:rPr lang="en-US"/>
              <a:t>How does beta carotene interact with </a:t>
            </a:r>
            <a:r>
              <a:rPr lang="en-US" err="1"/>
              <a:t>asprin</a:t>
            </a:r>
            <a:r>
              <a:rPr lang="en-US"/>
              <a:t>, as far as preventing heart attacks?</a:t>
            </a:r>
          </a:p>
          <a:p>
            <a:pPr>
              <a:buFont typeface="Arial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 x 2 Experimental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926813" y="2243134"/>
            <a:ext cx="2897504" cy="657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Beta-carotene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715578" y="3945730"/>
            <a:ext cx="2752726" cy="661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Asprin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rot="16200000">
            <a:off x="4010028" y="4736303"/>
            <a:ext cx="1323978" cy="50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</a:t>
            </a:r>
          </a:p>
        </p:txBody>
      </p:sp>
      <p:sp>
        <p:nvSpPr>
          <p:cNvPr id="8" name="Rectangle 7"/>
          <p:cNvSpPr/>
          <p:nvPr/>
        </p:nvSpPr>
        <p:spPr>
          <a:xfrm rot="16200000">
            <a:off x="4021936" y="3295645"/>
            <a:ext cx="1300163" cy="509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2237" y="2900359"/>
            <a:ext cx="1300163" cy="509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26813" y="2913105"/>
            <a:ext cx="1323978" cy="50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6813" y="3422696"/>
            <a:ext cx="1323978" cy="7905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Beta Carotene &amp; </a:t>
            </a:r>
            <a:r>
              <a:rPr lang="en-US" err="1"/>
              <a:t>Asprin</a:t>
            </a: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48422" y="3422695"/>
            <a:ext cx="1323978" cy="7905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Placebo &amp; </a:t>
            </a:r>
            <a:r>
              <a:rPr lang="en-US" err="1"/>
              <a:t>Asprin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913229" y="4655430"/>
            <a:ext cx="1323978" cy="7905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Placebo &amp; Beta-carotene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4384" y="4655430"/>
            <a:ext cx="1323978" cy="7905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Placebo &amp; Placebo</a:t>
            </a:r>
          </a:p>
        </p:txBody>
      </p:sp>
    </p:spTree>
    <p:extLst>
      <p:ext uri="{BB962C8B-B14F-4D97-AF65-F5344CB8AC3E}">
        <p14:creationId xmlns:p14="http://schemas.microsoft.com/office/powerpoint/2010/main" val="64644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Analysis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3"/>
          <a:stretch/>
        </p:blipFill>
        <p:spPr>
          <a:xfrm>
            <a:off x="2796546" y="1737360"/>
            <a:ext cx="6247442" cy="4661973"/>
          </a:xfrm>
        </p:spPr>
      </p:pic>
    </p:spTree>
    <p:extLst>
      <p:ext uri="{BB962C8B-B14F-4D97-AF65-F5344CB8AC3E}">
        <p14:creationId xmlns:p14="http://schemas.microsoft.com/office/powerpoint/2010/main" val="79326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Analysis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1"/>
          <a:stretch/>
        </p:blipFill>
        <p:spPr>
          <a:xfrm>
            <a:off x="2944659" y="1737360"/>
            <a:ext cx="6013603" cy="4488748"/>
          </a:xfrm>
        </p:spPr>
      </p:pic>
    </p:spTree>
    <p:extLst>
      <p:ext uri="{BB962C8B-B14F-4D97-AF65-F5344CB8AC3E}">
        <p14:creationId xmlns:p14="http://schemas.microsoft.com/office/powerpoint/2010/main" val="90645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788" y="1846263"/>
            <a:ext cx="5945797" cy="4443433"/>
          </a:xfrm>
        </p:spPr>
      </p:pic>
    </p:spTree>
    <p:extLst>
      <p:ext uri="{BB962C8B-B14F-4D97-AF65-F5344CB8AC3E}">
        <p14:creationId xmlns:p14="http://schemas.microsoft.com/office/powerpoint/2010/main" val="401844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/>
              <a:t>Factorial design reduces experimental error levels</a:t>
            </a:r>
          </a:p>
          <a:p>
            <a:pPr>
              <a:buFont typeface="Arial" charset="0"/>
              <a:buChar char="•"/>
            </a:pPr>
            <a:r>
              <a:rPr lang="en-US"/>
              <a:t>Experimental error can be estimated in 2 ways</a:t>
            </a:r>
          </a:p>
          <a:p>
            <a:pPr lvl="1">
              <a:buFont typeface="Arial" charset="0"/>
              <a:buChar char="•"/>
            </a:pPr>
            <a:r>
              <a:rPr lang="en-US"/>
              <a:t>Replication</a:t>
            </a:r>
          </a:p>
          <a:p>
            <a:pPr lvl="1">
              <a:buFont typeface="Arial" charset="0"/>
              <a:buChar char="•"/>
            </a:pPr>
            <a:r>
              <a:rPr lang="en-US"/>
              <a:t>Sparsity-of-effects principal</a:t>
            </a:r>
          </a:p>
          <a:p>
            <a:pPr lvl="2">
              <a:buFont typeface="Arial" charset="0"/>
              <a:buChar char="•"/>
            </a:pPr>
            <a:r>
              <a:rPr lang="en-US"/>
              <a:t>If there are many factors and replication would be too costly</a:t>
            </a:r>
          </a:p>
          <a:p>
            <a:pPr>
              <a:buFont typeface="Arial" charset="0"/>
              <a:buChar char="•"/>
            </a:pPr>
            <a:r>
              <a:rPr lang="en-US"/>
              <a:t>Sparsity-of-effects principal</a:t>
            </a:r>
          </a:p>
          <a:p>
            <a:pPr lvl="1">
              <a:buFont typeface="Arial" charset="0"/>
              <a:buChar char="•"/>
            </a:pPr>
            <a:r>
              <a:rPr lang="en-US"/>
              <a:t>States that a a system is usually dominated by main effects and low order interactions</a:t>
            </a:r>
          </a:p>
          <a:p>
            <a:pPr lvl="1">
              <a:buFont typeface="Arial" charset="0"/>
              <a:buChar char="•"/>
            </a:pPr>
            <a:r>
              <a:rPr lang="en-US"/>
              <a:t>States that main effects and two-factor effects would be most significant</a:t>
            </a:r>
          </a:p>
          <a:p>
            <a:pPr lvl="1">
              <a:buFont typeface="Arial" charset="0"/>
              <a:buChar char="•"/>
            </a:pPr>
            <a:r>
              <a:rPr lang="en-US"/>
              <a:t>Only a few effects in the system are actually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126235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/>
              <a:t>Can be analyzed using and ANOVA or regression table</a:t>
            </a:r>
          </a:p>
          <a:p>
            <a:pPr>
              <a:buFont typeface="Arial" charset="0"/>
              <a:buChar char="•"/>
            </a:pPr>
            <a:r>
              <a:rPr lang="en-US"/>
              <a:t>Visually, graphs are easy to look at</a:t>
            </a:r>
          </a:p>
          <a:p>
            <a:pPr lvl="1">
              <a:buFont typeface="Arial" charset="0"/>
              <a:buChar char="•"/>
            </a:pPr>
            <a:r>
              <a:rPr lang="en-US"/>
              <a:t>Differing slopes are indicative of interactions</a:t>
            </a:r>
          </a:p>
        </p:txBody>
      </p:sp>
    </p:spTree>
    <p:extLst>
      <p:ext uri="{BB962C8B-B14F-4D97-AF65-F5344CB8AC3E}">
        <p14:creationId xmlns:p14="http://schemas.microsoft.com/office/powerpoint/2010/main" val="139497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charset="0"/>
                  <a:buChar char="•"/>
                </a:pPr>
                <a:r>
                  <a:rPr lang="en-US"/>
                  <a:t>Main Effects:</a:t>
                </a:r>
              </a:p>
              <a:p>
                <a:pPr lvl="1">
                  <a:buFont typeface="Arial" charset="0"/>
                  <a:buChar char="•"/>
                </a:pPr>
                <a:r>
                  <a:rPr lang="en-US"/>
                  <a:t>H0: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A1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A2</a:t>
                </a:r>
                <a:endParaRPr lang="en-US"/>
              </a:p>
              <a:p>
                <a:pPr lvl="1">
                  <a:buFont typeface="Arial" charset="0"/>
                  <a:buChar char="•"/>
                </a:pPr>
                <a:r>
                  <a:rPr lang="en-US"/>
                  <a:t>H0: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B1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B2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B3</a:t>
                </a:r>
              </a:p>
              <a:p>
                <a:pPr lvl="1">
                  <a:buFont typeface="Arial" charset="0"/>
                  <a:buChar char="•"/>
                </a:pPr>
                <a:r>
                  <a:rPr lang="en-US"/>
                  <a:t>HA: means not all equal</a:t>
                </a:r>
              </a:p>
              <a:p>
                <a:pPr lvl="1">
                  <a:buFont typeface="Arial" charset="0"/>
                  <a:buChar char="•"/>
                </a:pPr>
                <a:endParaRPr lang="en-US"/>
              </a:p>
              <a:p>
                <a:pPr>
                  <a:buFont typeface="Arial" charset="0"/>
                  <a:buChar char="•"/>
                </a:pPr>
                <a:r>
                  <a:rPr lang="en-US"/>
                  <a:t>Interaction</a:t>
                </a:r>
              </a:p>
              <a:p>
                <a:pPr lvl="1">
                  <a:buFont typeface="Arial" charset="0"/>
                  <a:buChar char="•"/>
                </a:pPr>
                <a:r>
                  <a:rPr lang="en-US"/>
                  <a:t>H0: There is no interaction effect in the population </a:t>
                </a:r>
                <a:r>
                  <a:rPr lang="mr-IN"/>
                  <a:t>–</a:t>
                </a:r>
                <a:r>
                  <a:rPr lang="en-US"/>
                  <a:t> regardless of level</a:t>
                </a:r>
              </a:p>
              <a:p>
                <a:pPr lvl="1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A1B1</a:t>
                </a:r>
                <a:r>
                  <a:rPr lang="en-US"/>
                  <a:t>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A1B2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A1B2</a:t>
                </a:r>
                <a:r>
                  <a:rPr lang="en-US"/>
                  <a:t>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A2B2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A1B3</a:t>
                </a:r>
                <a:r>
                  <a:rPr lang="en-US"/>
                  <a:t>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baseline="-25000"/>
                  <a:t>A2B3</a:t>
                </a:r>
                <a:endParaRPr lang="en-US"/>
              </a:p>
              <a:p>
                <a:pPr lvl="1">
                  <a:buFont typeface="Arial" charset="0"/>
                  <a:buChar char="•"/>
                </a:pPr>
                <a:r>
                  <a:rPr lang="en-US"/>
                  <a:t>HA: not all differences are equal</a:t>
                </a: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041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737360"/>
            <a:ext cx="6001003" cy="4487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3043238"/>
            <a:ext cx="3417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df</a:t>
            </a:r>
            <a:r>
              <a:rPr lang="en-US" baseline="-25000" err="1"/>
              <a:t>A</a:t>
            </a:r>
            <a:r>
              <a:rPr lang="en-US"/>
              <a:t> = # of levels of factors for A  -1 </a:t>
            </a:r>
          </a:p>
          <a:p>
            <a:r>
              <a:rPr lang="en-US" err="1"/>
              <a:t>df</a:t>
            </a:r>
            <a:r>
              <a:rPr lang="en-US" baseline="-25000" err="1"/>
              <a:t>B</a:t>
            </a:r>
            <a:r>
              <a:rPr lang="en-US"/>
              <a:t> = # of levels of factors for B  -1 </a:t>
            </a:r>
          </a:p>
        </p:txBody>
      </p:sp>
    </p:spTree>
    <p:extLst>
      <p:ext uri="{BB962C8B-B14F-4D97-AF65-F5344CB8AC3E}">
        <p14:creationId xmlns:p14="http://schemas.microsoft.com/office/powerpoint/2010/main" val="1872890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54225"/>
            <a:ext cx="5638800" cy="30353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512" y="2124075"/>
            <a:ext cx="47371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63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/>
              <a:t>Factor A did have a significant effect on the dependent variable</a:t>
            </a:r>
          </a:p>
          <a:p>
            <a:pPr>
              <a:buFont typeface="Arial" charset="0"/>
              <a:buChar char="•"/>
            </a:pPr>
            <a:r>
              <a:rPr lang="en-US"/>
              <a:t>Factor B did have a significant effect on the dependent variable</a:t>
            </a:r>
          </a:p>
          <a:p>
            <a:pPr>
              <a:buFont typeface="Arial" charset="0"/>
              <a:buChar char="•"/>
            </a:pPr>
            <a:r>
              <a:rPr lang="en-US"/>
              <a:t>There was an interaction between factors A &amp; B</a:t>
            </a:r>
          </a:p>
          <a:p>
            <a:pPr>
              <a:buFont typeface="Arial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6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/>
              <a:t>Examples</a:t>
            </a:r>
          </a:p>
          <a:p>
            <a:pPr lvl="1">
              <a:buFont typeface="Arial" charset="0"/>
              <a:buChar char="•"/>
            </a:pPr>
            <a:r>
              <a:rPr lang="en-US">
                <a:hlinkClick r:id="rId2"/>
              </a:rPr>
              <a:t>https://ocw.mit.edu/courses/brain-and-cognitive-sciences/9-07-statistical-methods-in-brain-and-cognitive-science-spring-2004/lecture-notes/20_anova3.pdf</a:t>
            </a:r>
            <a:endParaRPr lang="en-US"/>
          </a:p>
          <a:p>
            <a:pPr>
              <a:buFont typeface="Arial" charset="0"/>
              <a:buChar char="•"/>
            </a:pPr>
            <a:r>
              <a:rPr lang="en-US"/>
              <a:t>Overview</a:t>
            </a:r>
          </a:p>
          <a:p>
            <a:pPr lvl="1">
              <a:buFont typeface="Arial" charset="0"/>
              <a:buChar char="•"/>
            </a:pPr>
            <a:r>
              <a:rPr lang="en-US">
                <a:hlinkClick r:id="rId3"/>
              </a:rPr>
              <a:t>https://en.wikipedia.org/wiki/Factorial_experiment</a:t>
            </a:r>
            <a:endParaRPr lang="en-US"/>
          </a:p>
          <a:p>
            <a:pPr lvl="1">
              <a:buFont typeface="Arial" charset="0"/>
              <a:buChar char="•"/>
            </a:pPr>
            <a:r>
              <a:rPr lang="en-US">
                <a:hlinkClick r:id="rId4"/>
              </a:rPr>
              <a:t>https://explorable.com/factorial-design</a:t>
            </a:r>
            <a:endParaRPr lang="en-US"/>
          </a:p>
          <a:p>
            <a:pPr lvl="1">
              <a:buFont typeface="Arial" charset="0"/>
              <a:buChar char="•"/>
            </a:pPr>
            <a:r>
              <a:rPr lang="en-US">
                <a:hlinkClick r:id="rId5"/>
              </a:rPr>
              <a:t>http://study.com/academy/lesson/what-is-factorial-design-definition-example.html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972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Retrospect</vt:lpstr>
      <vt:lpstr>Factorial Design </vt:lpstr>
      <vt:lpstr>Overview</vt:lpstr>
      <vt:lpstr>Overview</vt:lpstr>
      <vt:lpstr>When to implement</vt:lpstr>
      <vt:lpstr>Statistical Model</vt:lpstr>
      <vt:lpstr>Example 2 x 2 Experimental Design</vt:lpstr>
      <vt:lpstr>Example 2 x 2 Experimental design</vt:lpstr>
      <vt:lpstr>Example Analysis</vt:lpstr>
      <vt:lpstr>Example Analysis</vt:lpstr>
      <vt:lpstr>Example Analysis</vt:lpstr>
      <vt:lpstr>Error</vt:lpstr>
      <vt:lpstr>Analysis</vt:lpstr>
      <vt:lpstr>Example 2</vt:lpstr>
      <vt:lpstr>ANOVA</vt:lpstr>
      <vt:lpstr>ANOVA</vt:lpstr>
      <vt:lpstr>Conclusion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Factorial Design </dc:title>
  <cp:revision>1</cp:revision>
  <dcterms:modified xsi:type="dcterms:W3CDTF">2016-12-05T13:15:02Z</dcterms:modified>
</cp:coreProperties>
</file>