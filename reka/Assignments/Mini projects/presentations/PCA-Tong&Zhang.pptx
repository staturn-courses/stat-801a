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sldIdLst>
    <p:sldId id="258" r:id="rId2"/>
    <p:sldId id="256" r:id="rId3"/>
    <p:sldId id="257" r:id="rId4"/>
    <p:sldId id="259" r:id="rId5"/>
    <p:sldId id="260" r:id="rId6"/>
    <p:sldId id="261" r:id="rId7"/>
    <p:sldId id="262" r:id="rId8"/>
    <p:sldId id="264" r:id="rId9"/>
    <p:sldId id="265" r:id="rId10"/>
    <p:sldId id="266" r:id="rId11"/>
    <p:sldId id="267" r:id="rId12"/>
    <p:sldId id="268" r:id="rId13"/>
    <p:sldId id="269" r:id="rId14"/>
    <p:sldId id="270"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B01071D-71DA-4258-9D82-3BB10D588E2A}">
          <p14:sldIdLst>
            <p14:sldId id="258"/>
            <p14:sldId id="256"/>
            <p14:sldId id="257"/>
            <p14:sldId id="259"/>
            <p14:sldId id="260"/>
            <p14:sldId id="261"/>
            <p14:sldId id="262"/>
            <p14:sldId id="264"/>
            <p14:sldId id="265"/>
            <p14:sldId id="266"/>
            <p14:sldId id="267"/>
            <p14:sldId id="268"/>
            <p14:sldId id="269"/>
            <p14:sldId id="270"/>
            <p14:sldId id="272"/>
            <p14:sldId id="273"/>
            <p14:sldId id="274"/>
            <p14:sldId id="275"/>
            <p14:sldId id="276"/>
            <p14:sldId id="277"/>
            <p14:sldId id="278"/>
            <p14:sldId id="279"/>
            <p14:sldId id="280"/>
            <p14:sldId id="281"/>
            <p14:sldId id="282"/>
            <p14:sldId id="283"/>
            <p14:sldId id="284"/>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230" autoAdjust="0"/>
  </p:normalViewPr>
  <p:slideViewPr>
    <p:cSldViewPr snapToGrid="0">
      <p:cViewPr varScale="1">
        <p:scale>
          <a:sx n="72" d="100"/>
          <a:sy n="72" d="100"/>
        </p:scale>
        <p:origin x="17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F6E2AC-5144-4AC6-BB67-E5065242FBBE}" type="datetimeFigureOut">
              <a:rPr lang="en-US" smtClean="0"/>
              <a:t>12/5/2016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BDD690-71B8-49C7-9C4C-AF42B7DD219D}" type="slidenum">
              <a:rPr lang="en-US" smtClean="0"/>
              <a:t>‹#›</a:t>
            </a:fld>
            <a:endParaRPr lang="en-US"/>
          </a:p>
        </p:txBody>
      </p:sp>
    </p:spTree>
    <p:extLst>
      <p:ext uri="{BB962C8B-B14F-4D97-AF65-F5344CB8AC3E}">
        <p14:creationId xmlns:p14="http://schemas.microsoft.com/office/powerpoint/2010/main" val="3823801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BDD690-71B8-49C7-9C4C-AF42B7DD219D}" type="slidenum">
              <a:rPr lang="en-US" smtClean="0"/>
              <a:t>2</a:t>
            </a:fld>
            <a:endParaRPr lang="en-US"/>
          </a:p>
        </p:txBody>
      </p:sp>
    </p:spTree>
    <p:extLst>
      <p:ext uri="{BB962C8B-B14F-4D97-AF65-F5344CB8AC3E}">
        <p14:creationId xmlns:p14="http://schemas.microsoft.com/office/powerpoint/2010/main" val="7961120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t>Drawing on the blackboard</a:t>
            </a:r>
          </a:p>
        </p:txBody>
      </p:sp>
      <p:sp>
        <p:nvSpPr>
          <p:cNvPr id="4" name="Slide Number Placeholder 3"/>
          <p:cNvSpPr>
            <a:spLocks noGrp="1"/>
          </p:cNvSpPr>
          <p:nvPr>
            <p:ph type="sldNum" sz="quarter" idx="10"/>
          </p:nvPr>
        </p:nvSpPr>
        <p:spPr/>
        <p:txBody>
          <a:bodyPr/>
          <a:lstStyle/>
          <a:p>
            <a:fld id="{60BDD690-71B8-49C7-9C4C-AF42B7DD219D}" type="slidenum">
              <a:rPr lang="en-US" smtClean="0"/>
              <a:t>3</a:t>
            </a:fld>
            <a:endParaRPr lang="en-US"/>
          </a:p>
        </p:txBody>
      </p:sp>
    </p:spTree>
    <p:extLst>
      <p:ext uri="{BB962C8B-B14F-4D97-AF65-F5344CB8AC3E}">
        <p14:creationId xmlns:p14="http://schemas.microsoft.com/office/powerpoint/2010/main" val="11180426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BDD690-71B8-49C7-9C4C-AF42B7DD219D}" type="slidenum">
              <a:rPr lang="en-US" smtClean="0"/>
              <a:t>4</a:t>
            </a:fld>
            <a:endParaRPr lang="en-US"/>
          </a:p>
        </p:txBody>
      </p:sp>
    </p:spTree>
    <p:extLst>
      <p:ext uri="{BB962C8B-B14F-4D97-AF65-F5344CB8AC3E}">
        <p14:creationId xmlns:p14="http://schemas.microsoft.com/office/powerpoint/2010/main" val="14786365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BDD690-71B8-49C7-9C4C-AF42B7DD219D}" type="slidenum">
              <a:rPr lang="en-US" smtClean="0"/>
              <a:t>5</a:t>
            </a:fld>
            <a:endParaRPr lang="en-US"/>
          </a:p>
        </p:txBody>
      </p:sp>
    </p:spTree>
    <p:extLst>
      <p:ext uri="{BB962C8B-B14F-4D97-AF65-F5344CB8AC3E}">
        <p14:creationId xmlns:p14="http://schemas.microsoft.com/office/powerpoint/2010/main" val="40351371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00" kern="1200" dirty="0">
                <a:solidFill>
                  <a:schemeClr val="tx1"/>
                </a:solidFill>
                <a:latin typeface="+mn-lt"/>
                <a:ea typeface="+mn-ea"/>
                <a:cs typeface="+mn-cs"/>
              </a:rPr>
              <a:t>Each cell we sequence adds another “dimension”</a:t>
            </a:r>
          </a:p>
          <a:p>
            <a:r>
              <a:rPr lang="en-US" sz="800" kern="1200" dirty="0">
                <a:solidFill>
                  <a:schemeClr val="tx1"/>
                </a:solidFill>
                <a:latin typeface="+mn-lt"/>
                <a:ea typeface="+mn-ea"/>
                <a:cs typeface="+mn-cs"/>
              </a:rPr>
              <a:t>Some dimensions are more important than others…</a:t>
            </a:r>
          </a:p>
          <a:p>
            <a:endParaRPr lang="en-US" dirty="0"/>
          </a:p>
        </p:txBody>
      </p:sp>
      <p:sp>
        <p:nvSpPr>
          <p:cNvPr id="4" name="Slide Number Placeholder 3"/>
          <p:cNvSpPr>
            <a:spLocks noGrp="1"/>
          </p:cNvSpPr>
          <p:nvPr>
            <p:ph type="sldNum" sz="quarter" idx="10"/>
          </p:nvPr>
        </p:nvSpPr>
        <p:spPr/>
        <p:txBody>
          <a:bodyPr/>
          <a:lstStyle/>
          <a:p>
            <a:fld id="{60BDD690-71B8-49C7-9C4C-AF42B7DD219D}" type="slidenum">
              <a:rPr lang="en-US" smtClean="0"/>
              <a:t>7</a:t>
            </a:fld>
            <a:endParaRPr lang="en-US"/>
          </a:p>
        </p:txBody>
      </p:sp>
    </p:spTree>
    <p:extLst>
      <p:ext uri="{BB962C8B-B14F-4D97-AF65-F5344CB8AC3E}">
        <p14:creationId xmlns:p14="http://schemas.microsoft.com/office/powerpoint/2010/main" val="42609671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BDD690-71B8-49C7-9C4C-AF42B7DD219D}" type="slidenum">
              <a:rPr lang="en-US" smtClean="0"/>
              <a:t>9</a:t>
            </a:fld>
            <a:endParaRPr lang="en-US"/>
          </a:p>
        </p:txBody>
      </p:sp>
    </p:spTree>
    <p:extLst>
      <p:ext uri="{BB962C8B-B14F-4D97-AF65-F5344CB8AC3E}">
        <p14:creationId xmlns:p14="http://schemas.microsoft.com/office/powerpoint/2010/main" val="623936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BDD690-71B8-49C7-9C4C-AF42B7DD219D}" type="slidenum">
              <a:rPr lang="en-US" smtClean="0"/>
              <a:t>11</a:t>
            </a:fld>
            <a:endParaRPr lang="en-US"/>
          </a:p>
        </p:txBody>
      </p:sp>
    </p:spTree>
    <p:extLst>
      <p:ext uri="{BB962C8B-B14F-4D97-AF65-F5344CB8AC3E}">
        <p14:creationId xmlns:p14="http://schemas.microsoft.com/office/powerpoint/2010/main" val="9388069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BDD690-71B8-49C7-9C4C-AF42B7DD219D}" type="slidenum">
              <a:rPr lang="en-US" smtClean="0"/>
              <a:t>12</a:t>
            </a:fld>
            <a:endParaRPr lang="en-US"/>
          </a:p>
        </p:txBody>
      </p:sp>
    </p:spTree>
    <p:extLst>
      <p:ext uri="{BB962C8B-B14F-4D97-AF65-F5344CB8AC3E}">
        <p14:creationId xmlns:p14="http://schemas.microsoft.com/office/powerpoint/2010/main" val="39286743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BDD690-71B8-49C7-9C4C-AF42B7DD219D}" type="slidenum">
              <a:rPr lang="en-US" smtClean="0"/>
              <a:t>18</a:t>
            </a:fld>
            <a:endParaRPr lang="en-US"/>
          </a:p>
        </p:txBody>
      </p:sp>
    </p:spTree>
    <p:extLst>
      <p:ext uri="{BB962C8B-B14F-4D97-AF65-F5344CB8AC3E}">
        <p14:creationId xmlns:p14="http://schemas.microsoft.com/office/powerpoint/2010/main" val="14044350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BDD690-71B8-49C7-9C4C-AF42B7DD219D}" type="slidenum">
              <a:rPr lang="en-US" smtClean="0"/>
              <a:t>22</a:t>
            </a:fld>
            <a:endParaRPr lang="en-US"/>
          </a:p>
        </p:txBody>
      </p:sp>
    </p:spTree>
    <p:extLst>
      <p:ext uri="{BB962C8B-B14F-4D97-AF65-F5344CB8AC3E}">
        <p14:creationId xmlns:p14="http://schemas.microsoft.com/office/powerpoint/2010/main" val="36163558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26021CC-CE4E-4D76-BA70-6E98250A5BEE}" type="datetimeFigureOut">
              <a:rPr lang="en-US" smtClean="0"/>
              <a:t>12/5/2016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9A0861-6B70-4459-B793-0F54FEEC7018}" type="slidenum">
              <a:rPr lang="en-US" smtClean="0"/>
              <a:t>‹#›</a:t>
            </a:fld>
            <a:endParaRPr lang="en-US"/>
          </a:p>
        </p:txBody>
      </p:sp>
    </p:spTree>
    <p:extLst>
      <p:ext uri="{BB962C8B-B14F-4D97-AF65-F5344CB8AC3E}">
        <p14:creationId xmlns:p14="http://schemas.microsoft.com/office/powerpoint/2010/main" val="27137361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6021CC-CE4E-4D76-BA70-6E98250A5BEE}" type="datetimeFigureOut">
              <a:rPr lang="en-US" smtClean="0"/>
              <a:t>12/5/2016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9A0861-6B70-4459-B793-0F54FEEC7018}" type="slidenum">
              <a:rPr lang="en-US" smtClean="0"/>
              <a:t>‹#›</a:t>
            </a:fld>
            <a:endParaRPr lang="en-US"/>
          </a:p>
        </p:txBody>
      </p:sp>
    </p:spTree>
    <p:extLst>
      <p:ext uri="{BB962C8B-B14F-4D97-AF65-F5344CB8AC3E}">
        <p14:creationId xmlns:p14="http://schemas.microsoft.com/office/powerpoint/2010/main" val="25872469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26021CC-CE4E-4D76-BA70-6E98250A5BEE}" type="datetimeFigureOut">
              <a:rPr lang="en-US" smtClean="0"/>
              <a:t>12/5/2016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9A0861-6B70-4459-B793-0F54FEEC7018}" type="slidenum">
              <a:rPr lang="en-US" smtClean="0"/>
              <a:t>‹#›</a:t>
            </a:fld>
            <a:endParaRPr lang="en-US"/>
          </a:p>
        </p:txBody>
      </p:sp>
    </p:spTree>
    <p:extLst>
      <p:ext uri="{BB962C8B-B14F-4D97-AF65-F5344CB8AC3E}">
        <p14:creationId xmlns:p14="http://schemas.microsoft.com/office/powerpoint/2010/main" val="22667025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26021CC-CE4E-4D76-BA70-6E98250A5BEE}" type="datetimeFigureOut">
              <a:rPr lang="en-US" smtClean="0"/>
              <a:t>12/5/2016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B9A0861-6B70-4459-B793-0F54FEEC7018}" type="slidenum">
              <a:rPr lang="en-US" smtClean="0"/>
              <a:t>‹#›</a:t>
            </a:fld>
            <a:endParaRPr lang="en-US"/>
          </a:p>
        </p:txBody>
      </p:sp>
    </p:spTree>
    <p:extLst>
      <p:ext uri="{BB962C8B-B14F-4D97-AF65-F5344CB8AC3E}">
        <p14:creationId xmlns:p14="http://schemas.microsoft.com/office/powerpoint/2010/main" val="32588810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26021CC-CE4E-4D76-BA70-6E98250A5BEE}" type="datetimeFigureOut">
              <a:rPr lang="en-US" smtClean="0"/>
              <a:t>12/5/2016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B9A0861-6B70-4459-B793-0F54FEEC7018}" type="slidenum">
              <a:rPr lang="en-US" smtClean="0"/>
              <a:t>‹#›</a:t>
            </a:fld>
            <a:endParaRPr lang="en-US"/>
          </a:p>
        </p:txBody>
      </p:sp>
    </p:spTree>
    <p:extLst>
      <p:ext uri="{BB962C8B-B14F-4D97-AF65-F5344CB8AC3E}">
        <p14:creationId xmlns:p14="http://schemas.microsoft.com/office/powerpoint/2010/main" val="19554118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26021CC-CE4E-4D76-BA70-6E98250A5BEE}" type="datetimeFigureOut">
              <a:rPr lang="en-US" smtClean="0"/>
              <a:t>12/5/2016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B9A0861-6B70-4459-B793-0F54FEEC7018}" type="slidenum">
              <a:rPr lang="en-US" smtClean="0"/>
              <a:t>‹#›</a:t>
            </a:fld>
            <a:endParaRPr lang="en-US"/>
          </a:p>
        </p:txBody>
      </p:sp>
    </p:spTree>
    <p:extLst>
      <p:ext uri="{BB962C8B-B14F-4D97-AF65-F5344CB8AC3E}">
        <p14:creationId xmlns:p14="http://schemas.microsoft.com/office/powerpoint/2010/main" val="2440695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6021CC-CE4E-4D76-BA70-6E98250A5BEE}" type="datetimeFigureOut">
              <a:rPr lang="en-US" smtClean="0"/>
              <a:t>12/5/2016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B9A0861-6B70-4459-B793-0F54FEEC7018}" type="slidenum">
              <a:rPr lang="en-US" smtClean="0"/>
              <a:t>‹#›</a:t>
            </a:fld>
            <a:endParaRPr lang="en-US"/>
          </a:p>
        </p:txBody>
      </p:sp>
    </p:spTree>
    <p:extLst>
      <p:ext uri="{BB962C8B-B14F-4D97-AF65-F5344CB8AC3E}">
        <p14:creationId xmlns:p14="http://schemas.microsoft.com/office/powerpoint/2010/main" val="10253894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26021CC-CE4E-4D76-BA70-6E98250A5BEE}" type="datetimeFigureOut">
              <a:rPr lang="en-US" smtClean="0"/>
              <a:t>12/5/2016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B9A0861-6B70-4459-B793-0F54FEEC7018}" type="slidenum">
              <a:rPr lang="en-US" smtClean="0"/>
              <a:t>‹#›</a:t>
            </a:fld>
            <a:endParaRPr lang="en-US"/>
          </a:p>
        </p:txBody>
      </p:sp>
    </p:spTree>
    <p:extLst>
      <p:ext uri="{BB962C8B-B14F-4D97-AF65-F5344CB8AC3E}">
        <p14:creationId xmlns:p14="http://schemas.microsoft.com/office/powerpoint/2010/main" val="7514040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26021CC-CE4E-4D76-BA70-6E98250A5BEE}" type="datetimeFigureOut">
              <a:rPr lang="en-US" smtClean="0"/>
              <a:t>12/5/2016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B9A0861-6B70-4459-B793-0F54FEEC7018}" type="slidenum">
              <a:rPr lang="en-US" smtClean="0"/>
              <a:t>‹#›</a:t>
            </a:fld>
            <a:endParaRPr lang="en-US"/>
          </a:p>
        </p:txBody>
      </p:sp>
    </p:spTree>
    <p:extLst>
      <p:ext uri="{BB962C8B-B14F-4D97-AF65-F5344CB8AC3E}">
        <p14:creationId xmlns:p14="http://schemas.microsoft.com/office/powerpoint/2010/main" val="1090565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6021CC-CE4E-4D76-BA70-6E98250A5BEE}" type="datetimeFigureOut">
              <a:rPr lang="en-US" smtClean="0"/>
              <a:t>12/5/2016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9A0861-6B70-4459-B793-0F54FEEC7018}" type="slidenum">
              <a:rPr lang="en-US" smtClean="0"/>
              <a:t>‹#›</a:t>
            </a:fld>
            <a:endParaRPr lang="en-US"/>
          </a:p>
        </p:txBody>
      </p:sp>
    </p:spTree>
    <p:extLst>
      <p:ext uri="{BB962C8B-B14F-4D97-AF65-F5344CB8AC3E}">
        <p14:creationId xmlns:p14="http://schemas.microsoft.com/office/powerpoint/2010/main" val="1237801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6021CC-CE4E-4D76-BA70-6E98250A5BEE}" type="datetimeFigureOut">
              <a:rPr lang="en-US" smtClean="0"/>
              <a:t>12/5/2016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9A0861-6B70-4459-B793-0F54FEEC7018}" type="slidenum">
              <a:rPr lang="en-US" smtClean="0"/>
              <a:t>‹#›</a:t>
            </a:fld>
            <a:endParaRPr lang="en-US"/>
          </a:p>
        </p:txBody>
      </p:sp>
    </p:spTree>
    <p:extLst>
      <p:ext uri="{BB962C8B-B14F-4D97-AF65-F5344CB8AC3E}">
        <p14:creationId xmlns:p14="http://schemas.microsoft.com/office/powerpoint/2010/main" val="39273908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6021CC-CE4E-4D76-BA70-6E98250A5BEE}" type="datetimeFigureOut">
              <a:rPr lang="en-US" smtClean="0"/>
              <a:t>12/5/2016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9A0861-6B70-4459-B793-0F54FEEC7018}" type="slidenum">
              <a:rPr lang="en-US" smtClean="0"/>
              <a:t>‹#›</a:t>
            </a:fld>
            <a:endParaRPr lang="en-US"/>
          </a:p>
        </p:txBody>
      </p:sp>
    </p:spTree>
    <p:extLst>
      <p:ext uri="{BB962C8B-B14F-4D97-AF65-F5344CB8AC3E}">
        <p14:creationId xmlns:p14="http://schemas.microsoft.com/office/powerpoint/2010/main" val="32435736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49" y="1289772"/>
            <a:ext cx="7886700" cy="994172"/>
          </a:xfrm>
        </p:spPr>
        <p:txBody>
          <a:bodyPr>
            <a:normAutofit fontScale="90000"/>
          </a:bodyPr>
          <a:lstStyle/>
          <a:p>
            <a:pPr algn="ctr"/>
            <a:r>
              <a:rPr lang="en-US" dirty="0"/>
              <a:t>A Short Introduction about Principal Component Analysis</a:t>
            </a:r>
          </a:p>
        </p:txBody>
      </p:sp>
      <p:sp>
        <p:nvSpPr>
          <p:cNvPr id="3" name="Content Placeholder 2"/>
          <p:cNvSpPr>
            <a:spLocks noGrp="1"/>
          </p:cNvSpPr>
          <p:nvPr>
            <p:ph idx="1"/>
          </p:nvPr>
        </p:nvSpPr>
        <p:spPr>
          <a:xfrm>
            <a:off x="2247555" y="4946889"/>
            <a:ext cx="4969449" cy="629433"/>
          </a:xfrm>
        </p:spPr>
        <p:txBody>
          <a:bodyPr>
            <a:normAutofit fontScale="62500" lnSpcReduction="20000"/>
          </a:bodyPr>
          <a:lstStyle/>
          <a:p>
            <a:pPr marL="0" indent="0" algn="ctr">
              <a:buNone/>
            </a:pPr>
            <a:r>
              <a:rPr lang="en-US" dirty="0" err="1">
                <a:latin typeface="+mj-lt"/>
              </a:rPr>
              <a:t>Junfei</a:t>
            </a:r>
            <a:r>
              <a:rPr lang="en-US" dirty="0">
                <a:latin typeface="+mj-lt"/>
              </a:rPr>
              <a:t> Tong &amp; Zhe Zhang</a:t>
            </a:r>
          </a:p>
          <a:p>
            <a:pPr marL="0" indent="0" algn="ctr">
              <a:buNone/>
            </a:pPr>
            <a:r>
              <a:rPr lang="en-US" dirty="0">
                <a:latin typeface="+mj-lt"/>
              </a:rPr>
              <a:t>12/07/2016</a:t>
            </a:r>
          </a:p>
        </p:txBody>
      </p:sp>
    </p:spTree>
    <p:extLst>
      <p:ext uri="{BB962C8B-B14F-4D97-AF65-F5344CB8AC3E}">
        <p14:creationId xmlns:p14="http://schemas.microsoft.com/office/powerpoint/2010/main" val="16535279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3196" y="5454929"/>
            <a:ext cx="7518748" cy="856908"/>
          </a:xfrm>
        </p:spPr>
        <p:txBody>
          <a:bodyPr>
            <a:normAutofit/>
          </a:bodyPr>
          <a:lstStyle/>
          <a:p>
            <a:r>
              <a:rPr lang="en-US" sz="2400" dirty="0"/>
              <a:t>PCA is a method for compressing a lot of data into something that captures the essence of the original data.</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9744" y="1060458"/>
            <a:ext cx="7365652" cy="3958787"/>
          </a:xfrm>
          <a:prstGeom prst="rect">
            <a:avLst/>
          </a:prstGeom>
        </p:spPr>
      </p:pic>
    </p:spTree>
    <p:extLst>
      <p:ext uri="{BB962C8B-B14F-4D97-AF65-F5344CB8AC3E}">
        <p14:creationId xmlns:p14="http://schemas.microsoft.com/office/powerpoint/2010/main" val="487976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Background: Dimension</a:t>
            </a:r>
          </a:p>
        </p:txBody>
      </p:sp>
      <p:sp>
        <p:nvSpPr>
          <p:cNvPr id="3" name="Content Placeholder 2"/>
          <p:cNvSpPr>
            <a:spLocks noGrp="1"/>
          </p:cNvSpPr>
          <p:nvPr>
            <p:ph idx="1"/>
          </p:nvPr>
        </p:nvSpPr>
        <p:spPr>
          <a:xfrm>
            <a:off x="628650" y="1866053"/>
            <a:ext cx="7886700" cy="4351338"/>
          </a:xfrm>
        </p:spPr>
        <p:txBody>
          <a:bodyPr>
            <a:normAutofit fontScale="85000" lnSpcReduction="20000"/>
          </a:bodyPr>
          <a:lstStyle/>
          <a:p>
            <a:pPr marL="0" indent="0">
              <a:buNone/>
            </a:pPr>
            <a:r>
              <a:rPr lang="en-US" dirty="0">
                <a:latin typeface="+mj-lt"/>
              </a:rPr>
              <a:t>1 </a:t>
            </a:r>
            <a:r>
              <a:rPr lang="en-US" altLang="zh-CN" dirty="0">
                <a:latin typeface="+mj-lt"/>
              </a:rPr>
              <a:t>cell = </a:t>
            </a:r>
            <a:r>
              <a:rPr lang="en-US" dirty="0">
                <a:latin typeface="+mj-lt"/>
              </a:rPr>
              <a:t>1-D graph (number line)</a:t>
            </a:r>
          </a:p>
          <a:p>
            <a:pPr marL="0" indent="0">
              <a:buNone/>
            </a:pPr>
            <a:endParaRPr lang="en-US" dirty="0">
              <a:latin typeface="+mj-lt"/>
            </a:endParaRPr>
          </a:p>
          <a:p>
            <a:pPr marL="0" indent="0">
              <a:buNone/>
            </a:pPr>
            <a:r>
              <a:rPr lang="en-US" dirty="0">
                <a:latin typeface="+mj-lt"/>
              </a:rPr>
              <a:t>2 cells = 2-D graph (normal x/y graph)</a:t>
            </a:r>
          </a:p>
          <a:p>
            <a:pPr marL="0" indent="0">
              <a:buNone/>
            </a:pPr>
            <a:endParaRPr lang="en-US" dirty="0">
              <a:latin typeface="+mj-lt"/>
            </a:endParaRPr>
          </a:p>
          <a:p>
            <a:pPr marL="0" indent="0">
              <a:buNone/>
            </a:pPr>
            <a:r>
              <a:rPr lang="en-US" dirty="0">
                <a:latin typeface="+mj-lt"/>
              </a:rPr>
              <a:t>3 cells =  3-D graph (fancy graph with depth)</a:t>
            </a:r>
          </a:p>
          <a:p>
            <a:pPr marL="0" indent="0">
              <a:buNone/>
            </a:pPr>
            <a:endParaRPr lang="en-US" dirty="0">
              <a:latin typeface="+mj-lt"/>
            </a:endParaRPr>
          </a:p>
          <a:p>
            <a:pPr marL="0" indent="0">
              <a:buNone/>
            </a:pPr>
            <a:r>
              <a:rPr lang="en-US" dirty="0">
                <a:latin typeface="+mj-lt"/>
              </a:rPr>
              <a:t>4 cells = 4-D graph (you can’t draw it)</a:t>
            </a:r>
          </a:p>
          <a:p>
            <a:pPr marL="0" indent="0">
              <a:buNone/>
            </a:pPr>
            <a:endParaRPr lang="en-US" dirty="0">
              <a:latin typeface="+mj-lt"/>
            </a:endParaRPr>
          </a:p>
          <a:p>
            <a:pPr marL="0" indent="0">
              <a:buNone/>
            </a:pPr>
            <a:r>
              <a:rPr lang="en-US" dirty="0">
                <a:latin typeface="+mj-lt"/>
              </a:rPr>
              <a:t>200 cells =200-D graph (</a:t>
            </a:r>
            <a:r>
              <a:rPr lang="en-US" dirty="0" err="1">
                <a:latin typeface="+mj-lt"/>
              </a:rPr>
              <a:t>etc</a:t>
            </a:r>
            <a:r>
              <a:rPr lang="en-US" dirty="0">
                <a:latin typeface="+mj-lt"/>
              </a:rPr>
              <a:t>…)</a:t>
            </a:r>
          </a:p>
          <a:p>
            <a:pPr marL="0" indent="0">
              <a:buNone/>
            </a:pPr>
            <a:endParaRPr lang="en-US" dirty="0">
              <a:latin typeface="+mj-lt"/>
            </a:endParaRPr>
          </a:p>
          <a:p>
            <a:pPr marL="0" indent="0">
              <a:buNone/>
            </a:pPr>
            <a:r>
              <a:rPr lang="en-US" sz="2300" dirty="0">
                <a:latin typeface="+mj-lt"/>
              </a:rPr>
              <a:t>Are all those dimensions super important? Or are some more important than others?</a:t>
            </a:r>
          </a:p>
          <a:p>
            <a:pPr marL="0" indent="0">
              <a:buNone/>
            </a:pPr>
            <a:endParaRPr lang="en-US" dirty="0"/>
          </a:p>
        </p:txBody>
      </p:sp>
    </p:spTree>
    <p:extLst>
      <p:ext uri="{BB962C8B-B14F-4D97-AF65-F5344CB8AC3E}">
        <p14:creationId xmlns:p14="http://schemas.microsoft.com/office/powerpoint/2010/main" val="41442759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Case: 2 cells (and 2 dimensions)</a:t>
            </a:r>
          </a:p>
        </p:txBody>
      </p:sp>
      <p:cxnSp>
        <p:nvCxnSpPr>
          <p:cNvPr id="5" name="Straight Connector 4"/>
          <p:cNvCxnSpPr/>
          <p:nvPr/>
        </p:nvCxnSpPr>
        <p:spPr>
          <a:xfrm>
            <a:off x="2325002" y="2319701"/>
            <a:ext cx="25052" cy="290603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2337528" y="5225739"/>
            <a:ext cx="561166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lowchart: Connector 7"/>
          <p:cNvSpPr/>
          <p:nvPr/>
        </p:nvSpPr>
        <p:spPr>
          <a:xfrm>
            <a:off x="2837297" y="4017411"/>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owchart: Connector 8"/>
          <p:cNvSpPr/>
          <p:nvPr/>
        </p:nvSpPr>
        <p:spPr>
          <a:xfrm>
            <a:off x="3141869" y="3854722"/>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Connector 9"/>
          <p:cNvSpPr/>
          <p:nvPr/>
        </p:nvSpPr>
        <p:spPr>
          <a:xfrm>
            <a:off x="3461626" y="3870501"/>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owchart: Connector 10"/>
          <p:cNvSpPr/>
          <p:nvPr/>
        </p:nvSpPr>
        <p:spPr>
          <a:xfrm>
            <a:off x="3763864" y="3929891"/>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lowchart: Connector 11"/>
          <p:cNvSpPr/>
          <p:nvPr/>
        </p:nvSpPr>
        <p:spPr>
          <a:xfrm>
            <a:off x="4078287" y="3842371"/>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lowchart: Connector 12"/>
          <p:cNvSpPr/>
          <p:nvPr/>
        </p:nvSpPr>
        <p:spPr>
          <a:xfrm>
            <a:off x="4360482" y="4017410"/>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lowchart: Connector 13"/>
          <p:cNvSpPr/>
          <p:nvPr/>
        </p:nvSpPr>
        <p:spPr>
          <a:xfrm>
            <a:off x="6117715" y="4016758"/>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lowchart: Connector 14"/>
          <p:cNvSpPr/>
          <p:nvPr/>
        </p:nvSpPr>
        <p:spPr>
          <a:xfrm>
            <a:off x="5813143" y="3929402"/>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lowchart: Connector 15"/>
          <p:cNvSpPr/>
          <p:nvPr/>
        </p:nvSpPr>
        <p:spPr>
          <a:xfrm>
            <a:off x="6399157" y="3830033"/>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lowchart: Connector 16"/>
          <p:cNvSpPr/>
          <p:nvPr/>
        </p:nvSpPr>
        <p:spPr>
          <a:xfrm>
            <a:off x="4642677" y="3942242"/>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lowchart: Connector 17"/>
          <p:cNvSpPr/>
          <p:nvPr/>
        </p:nvSpPr>
        <p:spPr>
          <a:xfrm>
            <a:off x="5228691" y="3788797"/>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lowchart: Connector 18"/>
          <p:cNvSpPr/>
          <p:nvPr/>
        </p:nvSpPr>
        <p:spPr>
          <a:xfrm>
            <a:off x="6646679" y="3929238"/>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lowchart: Connector 19"/>
          <p:cNvSpPr/>
          <p:nvPr/>
        </p:nvSpPr>
        <p:spPr>
          <a:xfrm>
            <a:off x="6950858" y="3872901"/>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lowchart: Connector 20"/>
          <p:cNvSpPr/>
          <p:nvPr/>
        </p:nvSpPr>
        <p:spPr>
          <a:xfrm>
            <a:off x="5427152" y="3942242"/>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lowchart: Connector 21"/>
          <p:cNvSpPr/>
          <p:nvPr/>
        </p:nvSpPr>
        <p:spPr>
          <a:xfrm>
            <a:off x="4945602" y="3841719"/>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742482" y="3089786"/>
            <a:ext cx="1422031" cy="646331"/>
          </a:xfrm>
          <a:prstGeom prst="rect">
            <a:avLst/>
          </a:prstGeom>
          <a:noFill/>
        </p:spPr>
        <p:txBody>
          <a:bodyPr wrap="square" rtlCol="0">
            <a:spAutoFit/>
          </a:bodyPr>
          <a:lstStyle/>
          <a:p>
            <a:pPr algn="ctr"/>
            <a:r>
              <a:rPr lang="en-US" altLang="zh-CN" dirty="0"/>
              <a:t>Cell 2</a:t>
            </a:r>
          </a:p>
          <a:p>
            <a:pPr algn="ctr"/>
            <a:r>
              <a:rPr lang="en-US" altLang="zh-CN" dirty="0"/>
              <a:t>Read Counts</a:t>
            </a:r>
            <a:endParaRPr lang="en-US" dirty="0"/>
          </a:p>
        </p:txBody>
      </p:sp>
      <p:sp>
        <p:nvSpPr>
          <p:cNvPr id="25" name="TextBox 24"/>
          <p:cNvSpPr txBox="1"/>
          <p:nvPr/>
        </p:nvSpPr>
        <p:spPr>
          <a:xfrm>
            <a:off x="4402121" y="5531702"/>
            <a:ext cx="1422031" cy="646331"/>
          </a:xfrm>
          <a:prstGeom prst="rect">
            <a:avLst/>
          </a:prstGeom>
          <a:noFill/>
        </p:spPr>
        <p:txBody>
          <a:bodyPr wrap="square" rtlCol="0">
            <a:spAutoFit/>
          </a:bodyPr>
          <a:lstStyle/>
          <a:p>
            <a:pPr algn="ctr"/>
            <a:r>
              <a:rPr lang="en-US" altLang="zh-CN" dirty="0"/>
              <a:t>Cell 1</a:t>
            </a:r>
          </a:p>
          <a:p>
            <a:pPr algn="ctr"/>
            <a:r>
              <a:rPr lang="en-US" altLang="zh-CN" dirty="0"/>
              <a:t>Read Counts</a:t>
            </a:r>
            <a:endParaRPr lang="en-US" dirty="0"/>
          </a:p>
        </p:txBody>
      </p:sp>
      <p:cxnSp>
        <p:nvCxnSpPr>
          <p:cNvPr id="27" name="Straight Arrow Connector 26"/>
          <p:cNvCxnSpPr/>
          <p:nvPr/>
        </p:nvCxnSpPr>
        <p:spPr>
          <a:xfrm flipH="1">
            <a:off x="2688258" y="3699237"/>
            <a:ext cx="2050876" cy="0"/>
          </a:xfrm>
          <a:prstGeom prst="straightConnector1">
            <a:avLst/>
          </a:prstGeom>
          <a:ln w="254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4996314" y="3699237"/>
            <a:ext cx="1907545" cy="0"/>
          </a:xfrm>
          <a:prstGeom prst="straightConnector1">
            <a:avLst/>
          </a:prstGeom>
          <a:ln w="254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2785760" y="2856653"/>
            <a:ext cx="4319683" cy="707886"/>
          </a:xfrm>
          <a:prstGeom prst="rect">
            <a:avLst/>
          </a:prstGeom>
          <a:noFill/>
        </p:spPr>
        <p:txBody>
          <a:bodyPr wrap="square" rtlCol="0">
            <a:spAutoFit/>
          </a:bodyPr>
          <a:lstStyle/>
          <a:p>
            <a:r>
              <a:rPr lang="en-US" altLang="zh-CN" sz="2000" dirty="0">
                <a:latin typeface="+mj-lt"/>
              </a:rPr>
              <a:t>Almost of the variation in the data is from left to right.  </a:t>
            </a:r>
            <a:endParaRPr lang="en-US" sz="2000" dirty="0">
              <a:latin typeface="+mj-lt"/>
            </a:endParaRPr>
          </a:p>
        </p:txBody>
      </p:sp>
    </p:spTree>
    <p:extLst>
      <p:ext uri="{BB962C8B-B14F-4D97-AF65-F5344CB8AC3E}">
        <p14:creationId xmlns:p14="http://schemas.microsoft.com/office/powerpoint/2010/main" val="14548106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2303219" y="2341474"/>
            <a:ext cx="25052" cy="290603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2315745" y="5247512"/>
            <a:ext cx="561166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694058" y="3106895"/>
            <a:ext cx="1422031" cy="646331"/>
          </a:xfrm>
          <a:prstGeom prst="rect">
            <a:avLst/>
          </a:prstGeom>
          <a:noFill/>
        </p:spPr>
        <p:txBody>
          <a:bodyPr wrap="square" rtlCol="0">
            <a:spAutoFit/>
          </a:bodyPr>
          <a:lstStyle/>
          <a:p>
            <a:pPr algn="ctr"/>
            <a:r>
              <a:rPr lang="en-US" altLang="zh-CN" dirty="0"/>
              <a:t>Cell 2</a:t>
            </a:r>
          </a:p>
          <a:p>
            <a:pPr algn="ctr"/>
            <a:r>
              <a:rPr lang="en-US" altLang="zh-CN" dirty="0"/>
              <a:t>Read Counts</a:t>
            </a:r>
            <a:endParaRPr lang="en-US" dirty="0"/>
          </a:p>
        </p:txBody>
      </p:sp>
      <p:sp>
        <p:nvSpPr>
          <p:cNvPr id="25" name="TextBox 24"/>
          <p:cNvSpPr txBox="1"/>
          <p:nvPr/>
        </p:nvSpPr>
        <p:spPr>
          <a:xfrm>
            <a:off x="4592349" y="5523600"/>
            <a:ext cx="1422031" cy="646331"/>
          </a:xfrm>
          <a:prstGeom prst="rect">
            <a:avLst/>
          </a:prstGeom>
          <a:noFill/>
        </p:spPr>
        <p:txBody>
          <a:bodyPr wrap="square" rtlCol="0">
            <a:spAutoFit/>
          </a:bodyPr>
          <a:lstStyle/>
          <a:p>
            <a:pPr algn="ctr"/>
            <a:r>
              <a:rPr lang="en-US" altLang="zh-CN" dirty="0"/>
              <a:t>Cell 1</a:t>
            </a:r>
          </a:p>
          <a:p>
            <a:pPr algn="ctr"/>
            <a:r>
              <a:rPr lang="en-US" altLang="zh-CN" dirty="0"/>
              <a:t>Read Counts</a:t>
            </a:r>
            <a:endParaRPr lang="en-US" dirty="0"/>
          </a:p>
        </p:txBody>
      </p:sp>
      <p:sp>
        <p:nvSpPr>
          <p:cNvPr id="31" name="TextBox 30"/>
          <p:cNvSpPr txBox="1"/>
          <p:nvPr/>
        </p:nvSpPr>
        <p:spPr>
          <a:xfrm>
            <a:off x="2646077" y="2778830"/>
            <a:ext cx="4651939" cy="1015663"/>
          </a:xfrm>
          <a:prstGeom prst="rect">
            <a:avLst/>
          </a:prstGeom>
          <a:noFill/>
        </p:spPr>
        <p:txBody>
          <a:bodyPr wrap="square" rtlCol="0">
            <a:spAutoFit/>
          </a:bodyPr>
          <a:lstStyle/>
          <a:p>
            <a:r>
              <a:rPr lang="en-US" altLang="zh-CN" sz="2000" dirty="0">
                <a:latin typeface="+mj-lt"/>
              </a:rPr>
              <a:t>If we flattened the data (removed the up/down variation), it wouldn’t look much different.</a:t>
            </a:r>
            <a:endParaRPr lang="en-US" sz="2000" dirty="0">
              <a:latin typeface="+mj-lt"/>
            </a:endParaRPr>
          </a:p>
        </p:txBody>
      </p:sp>
      <p:sp>
        <p:nvSpPr>
          <p:cNvPr id="26" name="Flowchart: Connector 25"/>
          <p:cNvSpPr/>
          <p:nvPr/>
        </p:nvSpPr>
        <p:spPr>
          <a:xfrm>
            <a:off x="2815514" y="3877472"/>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lowchart: Connector 27"/>
          <p:cNvSpPr/>
          <p:nvPr/>
        </p:nvSpPr>
        <p:spPr>
          <a:xfrm>
            <a:off x="3120086" y="3876889"/>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lowchart: Connector 29"/>
          <p:cNvSpPr/>
          <p:nvPr/>
        </p:nvSpPr>
        <p:spPr>
          <a:xfrm>
            <a:off x="3439843" y="3874012"/>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lowchart: Connector 31"/>
          <p:cNvSpPr/>
          <p:nvPr/>
        </p:nvSpPr>
        <p:spPr>
          <a:xfrm>
            <a:off x="3742081" y="3881638"/>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lowchart: Connector 32"/>
          <p:cNvSpPr/>
          <p:nvPr/>
        </p:nvSpPr>
        <p:spPr>
          <a:xfrm>
            <a:off x="4056504" y="3875171"/>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lowchart: Connector 33"/>
          <p:cNvSpPr/>
          <p:nvPr/>
        </p:nvSpPr>
        <p:spPr>
          <a:xfrm>
            <a:off x="4338699" y="3876071"/>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lowchart: Connector 34"/>
          <p:cNvSpPr/>
          <p:nvPr/>
        </p:nvSpPr>
        <p:spPr>
          <a:xfrm>
            <a:off x="5957703" y="3879430"/>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lowchart: Connector 35"/>
          <p:cNvSpPr/>
          <p:nvPr/>
        </p:nvSpPr>
        <p:spPr>
          <a:xfrm>
            <a:off x="5653131" y="3875738"/>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lowchart: Connector 36"/>
          <p:cNvSpPr/>
          <p:nvPr/>
        </p:nvSpPr>
        <p:spPr>
          <a:xfrm>
            <a:off x="6239145" y="3877477"/>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lowchart: Connector 37"/>
          <p:cNvSpPr/>
          <p:nvPr/>
        </p:nvSpPr>
        <p:spPr>
          <a:xfrm>
            <a:off x="4620894" y="3879345"/>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lowchart: Connector 38"/>
          <p:cNvSpPr/>
          <p:nvPr/>
        </p:nvSpPr>
        <p:spPr>
          <a:xfrm>
            <a:off x="5196275" y="3878765"/>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lowchart: Connector 39"/>
          <p:cNvSpPr/>
          <p:nvPr/>
        </p:nvSpPr>
        <p:spPr>
          <a:xfrm>
            <a:off x="6486667" y="3876974"/>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lowchart: Connector 40"/>
          <p:cNvSpPr/>
          <p:nvPr/>
        </p:nvSpPr>
        <p:spPr>
          <a:xfrm>
            <a:off x="6790846" y="3873802"/>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lowchart: Connector 41"/>
          <p:cNvSpPr/>
          <p:nvPr/>
        </p:nvSpPr>
        <p:spPr>
          <a:xfrm>
            <a:off x="5405369" y="3879345"/>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lowchart: Connector 42"/>
          <p:cNvSpPr/>
          <p:nvPr/>
        </p:nvSpPr>
        <p:spPr>
          <a:xfrm>
            <a:off x="4923819" y="3874519"/>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p:cNvSpPr>
            <a:spLocks noGrp="1"/>
          </p:cNvSpPr>
          <p:nvPr>
            <p:ph type="title"/>
          </p:nvPr>
        </p:nvSpPr>
        <p:spPr/>
        <p:txBody>
          <a:bodyPr/>
          <a:lstStyle/>
          <a:p>
            <a:endParaRPr lang="en-US" dirty="0"/>
          </a:p>
        </p:txBody>
      </p:sp>
    </p:spTree>
    <p:extLst>
      <p:ext uri="{BB962C8B-B14F-4D97-AF65-F5344CB8AC3E}">
        <p14:creationId xmlns:p14="http://schemas.microsoft.com/office/powerpoint/2010/main" val="433589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cxnSp>
        <p:nvCxnSpPr>
          <p:cNvPr id="5" name="Straight Connector 4"/>
          <p:cNvCxnSpPr/>
          <p:nvPr/>
        </p:nvCxnSpPr>
        <p:spPr>
          <a:xfrm>
            <a:off x="2191869" y="3774621"/>
            <a:ext cx="457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V="1">
            <a:off x="2191869" y="3574596"/>
            <a:ext cx="0" cy="20002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4015906" y="3574596"/>
            <a:ext cx="0" cy="20002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3111032" y="3574596"/>
            <a:ext cx="0" cy="20002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4935069" y="3574596"/>
            <a:ext cx="0" cy="20002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5858994" y="3574596"/>
            <a:ext cx="0" cy="20002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2055473" y="3850582"/>
            <a:ext cx="442912" cy="369332"/>
          </a:xfrm>
          <a:prstGeom prst="rect">
            <a:avLst/>
          </a:prstGeom>
          <a:noFill/>
        </p:spPr>
        <p:txBody>
          <a:bodyPr wrap="square" rtlCol="0">
            <a:spAutoFit/>
          </a:bodyPr>
          <a:lstStyle/>
          <a:p>
            <a:r>
              <a:rPr lang="en-US" dirty="0"/>
              <a:t>0</a:t>
            </a:r>
          </a:p>
        </p:txBody>
      </p:sp>
      <p:sp>
        <p:nvSpPr>
          <p:cNvPr id="13" name="TextBox 12"/>
          <p:cNvSpPr txBox="1"/>
          <p:nvPr/>
        </p:nvSpPr>
        <p:spPr>
          <a:xfrm>
            <a:off x="6413826" y="3845671"/>
            <a:ext cx="788385" cy="369332"/>
          </a:xfrm>
          <a:prstGeom prst="rect">
            <a:avLst/>
          </a:prstGeom>
          <a:noFill/>
        </p:spPr>
        <p:txBody>
          <a:bodyPr wrap="square" rtlCol="0">
            <a:spAutoFit/>
          </a:bodyPr>
          <a:lstStyle/>
          <a:p>
            <a:r>
              <a:rPr lang="en-US" dirty="0" err="1"/>
              <a:t>etc</a:t>
            </a:r>
            <a:endParaRPr lang="en-US" dirty="0"/>
          </a:p>
        </p:txBody>
      </p:sp>
      <p:sp>
        <p:nvSpPr>
          <p:cNvPr id="14" name="TextBox 13"/>
          <p:cNvSpPr txBox="1"/>
          <p:nvPr/>
        </p:nvSpPr>
        <p:spPr>
          <a:xfrm>
            <a:off x="3855697" y="3856535"/>
            <a:ext cx="442912" cy="369332"/>
          </a:xfrm>
          <a:prstGeom prst="rect">
            <a:avLst/>
          </a:prstGeom>
          <a:noFill/>
        </p:spPr>
        <p:txBody>
          <a:bodyPr wrap="square" rtlCol="0">
            <a:spAutoFit/>
          </a:bodyPr>
          <a:lstStyle/>
          <a:p>
            <a:r>
              <a:rPr lang="en-US" dirty="0"/>
              <a:t>10</a:t>
            </a:r>
          </a:p>
        </p:txBody>
      </p:sp>
      <p:sp>
        <p:nvSpPr>
          <p:cNvPr id="15" name="TextBox 14"/>
          <p:cNvSpPr txBox="1"/>
          <p:nvPr/>
        </p:nvSpPr>
        <p:spPr>
          <a:xfrm>
            <a:off x="5697901" y="3845671"/>
            <a:ext cx="442912" cy="369332"/>
          </a:xfrm>
          <a:prstGeom prst="rect">
            <a:avLst/>
          </a:prstGeom>
          <a:noFill/>
        </p:spPr>
        <p:txBody>
          <a:bodyPr wrap="square" rtlCol="0">
            <a:spAutoFit/>
          </a:bodyPr>
          <a:lstStyle/>
          <a:p>
            <a:r>
              <a:rPr lang="en-US" dirty="0"/>
              <a:t>20</a:t>
            </a:r>
          </a:p>
        </p:txBody>
      </p:sp>
      <p:sp>
        <p:nvSpPr>
          <p:cNvPr id="16" name="TextBox 15"/>
          <p:cNvSpPr txBox="1"/>
          <p:nvPr/>
        </p:nvSpPr>
        <p:spPr>
          <a:xfrm>
            <a:off x="4795434" y="3845671"/>
            <a:ext cx="442912" cy="369332"/>
          </a:xfrm>
          <a:prstGeom prst="rect">
            <a:avLst/>
          </a:prstGeom>
          <a:noFill/>
        </p:spPr>
        <p:txBody>
          <a:bodyPr wrap="square" rtlCol="0">
            <a:spAutoFit/>
          </a:bodyPr>
          <a:lstStyle/>
          <a:p>
            <a:r>
              <a:rPr lang="en-US" dirty="0"/>
              <a:t>15</a:t>
            </a:r>
          </a:p>
        </p:txBody>
      </p:sp>
      <p:sp>
        <p:nvSpPr>
          <p:cNvPr id="17" name="TextBox 16"/>
          <p:cNvSpPr txBox="1"/>
          <p:nvPr/>
        </p:nvSpPr>
        <p:spPr>
          <a:xfrm>
            <a:off x="2955585" y="3850029"/>
            <a:ext cx="442912" cy="369332"/>
          </a:xfrm>
          <a:prstGeom prst="rect">
            <a:avLst/>
          </a:prstGeom>
          <a:noFill/>
        </p:spPr>
        <p:txBody>
          <a:bodyPr wrap="square" rtlCol="0">
            <a:spAutoFit/>
          </a:bodyPr>
          <a:lstStyle/>
          <a:p>
            <a:r>
              <a:rPr lang="en-US" dirty="0"/>
              <a:t>5</a:t>
            </a:r>
          </a:p>
        </p:txBody>
      </p:sp>
      <p:sp>
        <p:nvSpPr>
          <p:cNvPr id="18" name="Flowchart: Connector 17"/>
          <p:cNvSpPr/>
          <p:nvPr/>
        </p:nvSpPr>
        <p:spPr>
          <a:xfrm>
            <a:off x="2576032" y="3685487"/>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lowchart: Connector 18"/>
          <p:cNvSpPr/>
          <p:nvPr/>
        </p:nvSpPr>
        <p:spPr>
          <a:xfrm>
            <a:off x="2880604" y="3684904"/>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lowchart: Connector 19"/>
          <p:cNvSpPr/>
          <p:nvPr/>
        </p:nvSpPr>
        <p:spPr>
          <a:xfrm>
            <a:off x="3200361" y="3682027"/>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lowchart: Connector 20"/>
          <p:cNvSpPr/>
          <p:nvPr/>
        </p:nvSpPr>
        <p:spPr>
          <a:xfrm>
            <a:off x="3502599" y="3689653"/>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lowchart: Connector 21"/>
          <p:cNvSpPr/>
          <p:nvPr/>
        </p:nvSpPr>
        <p:spPr>
          <a:xfrm>
            <a:off x="3817022" y="3683186"/>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lowchart: Connector 22"/>
          <p:cNvSpPr/>
          <p:nvPr/>
        </p:nvSpPr>
        <p:spPr>
          <a:xfrm>
            <a:off x="4099217" y="3684086"/>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lowchart: Connector 23"/>
          <p:cNvSpPr/>
          <p:nvPr/>
        </p:nvSpPr>
        <p:spPr>
          <a:xfrm>
            <a:off x="5718221" y="3687445"/>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lowchart: Connector 24"/>
          <p:cNvSpPr/>
          <p:nvPr/>
        </p:nvSpPr>
        <p:spPr>
          <a:xfrm>
            <a:off x="5413649" y="3683753"/>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lowchart: Connector 25"/>
          <p:cNvSpPr/>
          <p:nvPr/>
        </p:nvSpPr>
        <p:spPr>
          <a:xfrm>
            <a:off x="5999663" y="3685492"/>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lowchart: Connector 26"/>
          <p:cNvSpPr/>
          <p:nvPr/>
        </p:nvSpPr>
        <p:spPr>
          <a:xfrm>
            <a:off x="4381412" y="3687360"/>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lowchart: Connector 27"/>
          <p:cNvSpPr/>
          <p:nvPr/>
        </p:nvSpPr>
        <p:spPr>
          <a:xfrm>
            <a:off x="4956793" y="3686780"/>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lowchart: Connector 28"/>
          <p:cNvSpPr/>
          <p:nvPr/>
        </p:nvSpPr>
        <p:spPr>
          <a:xfrm>
            <a:off x="6247185" y="3684989"/>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lowchart: Connector 29"/>
          <p:cNvSpPr/>
          <p:nvPr/>
        </p:nvSpPr>
        <p:spPr>
          <a:xfrm>
            <a:off x="6551364" y="3681817"/>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lowchart: Connector 30"/>
          <p:cNvSpPr/>
          <p:nvPr/>
        </p:nvSpPr>
        <p:spPr>
          <a:xfrm>
            <a:off x="5165887" y="3687360"/>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lowchart: Connector 31"/>
          <p:cNvSpPr/>
          <p:nvPr/>
        </p:nvSpPr>
        <p:spPr>
          <a:xfrm>
            <a:off x="4684337" y="3682534"/>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p:cNvSpPr txBox="1"/>
          <p:nvPr/>
        </p:nvSpPr>
        <p:spPr>
          <a:xfrm>
            <a:off x="2223290" y="2500256"/>
            <a:ext cx="4651939" cy="707886"/>
          </a:xfrm>
          <a:prstGeom prst="rect">
            <a:avLst/>
          </a:prstGeom>
          <a:noFill/>
        </p:spPr>
        <p:txBody>
          <a:bodyPr wrap="square" rtlCol="0">
            <a:spAutoFit/>
          </a:bodyPr>
          <a:lstStyle/>
          <a:p>
            <a:r>
              <a:rPr lang="en-US" altLang="zh-CN" sz="2000" dirty="0">
                <a:latin typeface="+mj-lt"/>
              </a:rPr>
              <a:t>And if we flattened the data, we could graph it with a number line.</a:t>
            </a:r>
            <a:endParaRPr lang="en-US" sz="2000" dirty="0">
              <a:latin typeface="+mj-lt"/>
            </a:endParaRPr>
          </a:p>
        </p:txBody>
      </p:sp>
    </p:spTree>
    <p:extLst>
      <p:ext uri="{BB962C8B-B14F-4D97-AF65-F5344CB8AC3E}">
        <p14:creationId xmlns:p14="http://schemas.microsoft.com/office/powerpoint/2010/main" val="1339723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2" name="Straight Connector 41"/>
          <p:cNvCxnSpPr/>
          <p:nvPr/>
        </p:nvCxnSpPr>
        <p:spPr>
          <a:xfrm>
            <a:off x="987690" y="1874520"/>
            <a:ext cx="12526" cy="196220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987690" y="3836722"/>
            <a:ext cx="423556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133113" y="2393956"/>
            <a:ext cx="1422031" cy="923330"/>
          </a:xfrm>
          <a:prstGeom prst="rect">
            <a:avLst/>
          </a:prstGeom>
          <a:noFill/>
        </p:spPr>
        <p:txBody>
          <a:bodyPr wrap="square" rtlCol="0">
            <a:spAutoFit/>
          </a:bodyPr>
          <a:lstStyle/>
          <a:p>
            <a:pPr algn="ctr"/>
            <a:r>
              <a:rPr lang="en-US" altLang="zh-CN" dirty="0"/>
              <a:t>Cell 2</a:t>
            </a:r>
          </a:p>
          <a:p>
            <a:pPr algn="ctr"/>
            <a:r>
              <a:rPr lang="en-US" altLang="zh-CN" dirty="0"/>
              <a:t>Read </a:t>
            </a:r>
          </a:p>
          <a:p>
            <a:pPr algn="ctr"/>
            <a:r>
              <a:rPr lang="en-US" altLang="zh-CN" dirty="0"/>
              <a:t>Counts</a:t>
            </a:r>
            <a:endParaRPr lang="en-US" dirty="0"/>
          </a:p>
        </p:txBody>
      </p:sp>
      <p:sp>
        <p:nvSpPr>
          <p:cNvPr id="45" name="TextBox 44"/>
          <p:cNvSpPr txBox="1"/>
          <p:nvPr/>
        </p:nvSpPr>
        <p:spPr>
          <a:xfrm>
            <a:off x="2526435" y="3888435"/>
            <a:ext cx="1422031" cy="646331"/>
          </a:xfrm>
          <a:prstGeom prst="rect">
            <a:avLst/>
          </a:prstGeom>
          <a:noFill/>
        </p:spPr>
        <p:txBody>
          <a:bodyPr wrap="square" rtlCol="0">
            <a:spAutoFit/>
          </a:bodyPr>
          <a:lstStyle/>
          <a:p>
            <a:pPr algn="ctr"/>
            <a:r>
              <a:rPr lang="en-US" altLang="zh-CN" dirty="0"/>
              <a:t>Cell 1</a:t>
            </a:r>
          </a:p>
          <a:p>
            <a:pPr algn="ctr"/>
            <a:r>
              <a:rPr lang="en-US" altLang="zh-CN" dirty="0"/>
              <a:t>Read Counts</a:t>
            </a:r>
            <a:endParaRPr lang="en-US" dirty="0"/>
          </a:p>
        </p:txBody>
      </p:sp>
      <p:cxnSp>
        <p:nvCxnSpPr>
          <p:cNvPr id="67" name="Straight Connector 66"/>
          <p:cNvCxnSpPr/>
          <p:nvPr/>
        </p:nvCxnSpPr>
        <p:spPr>
          <a:xfrm>
            <a:off x="4166536" y="6236970"/>
            <a:ext cx="457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flipV="1">
            <a:off x="4166536" y="6036945"/>
            <a:ext cx="0" cy="20002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flipV="1">
            <a:off x="5990573" y="6036945"/>
            <a:ext cx="0" cy="20002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flipV="1">
            <a:off x="5085699" y="6036945"/>
            <a:ext cx="0" cy="20002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flipV="1">
            <a:off x="6909736" y="6036945"/>
            <a:ext cx="0" cy="20002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flipV="1">
            <a:off x="7833661" y="6036945"/>
            <a:ext cx="0" cy="20002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a:xfrm>
            <a:off x="4030140" y="6312931"/>
            <a:ext cx="442912" cy="369332"/>
          </a:xfrm>
          <a:prstGeom prst="rect">
            <a:avLst/>
          </a:prstGeom>
          <a:noFill/>
        </p:spPr>
        <p:txBody>
          <a:bodyPr wrap="square" rtlCol="0">
            <a:spAutoFit/>
          </a:bodyPr>
          <a:lstStyle/>
          <a:p>
            <a:r>
              <a:rPr lang="en-US" dirty="0"/>
              <a:t>0</a:t>
            </a:r>
          </a:p>
        </p:txBody>
      </p:sp>
      <p:sp>
        <p:nvSpPr>
          <p:cNvPr id="74" name="TextBox 73"/>
          <p:cNvSpPr txBox="1"/>
          <p:nvPr/>
        </p:nvSpPr>
        <p:spPr>
          <a:xfrm>
            <a:off x="8388493" y="6308020"/>
            <a:ext cx="788385" cy="369332"/>
          </a:xfrm>
          <a:prstGeom prst="rect">
            <a:avLst/>
          </a:prstGeom>
          <a:noFill/>
        </p:spPr>
        <p:txBody>
          <a:bodyPr wrap="square" rtlCol="0">
            <a:spAutoFit/>
          </a:bodyPr>
          <a:lstStyle/>
          <a:p>
            <a:r>
              <a:rPr lang="en-US" dirty="0" err="1"/>
              <a:t>etc</a:t>
            </a:r>
            <a:endParaRPr lang="en-US" dirty="0"/>
          </a:p>
        </p:txBody>
      </p:sp>
      <p:sp>
        <p:nvSpPr>
          <p:cNvPr id="75" name="TextBox 74"/>
          <p:cNvSpPr txBox="1"/>
          <p:nvPr/>
        </p:nvSpPr>
        <p:spPr>
          <a:xfrm>
            <a:off x="5830364" y="6318884"/>
            <a:ext cx="442912" cy="369332"/>
          </a:xfrm>
          <a:prstGeom prst="rect">
            <a:avLst/>
          </a:prstGeom>
          <a:noFill/>
        </p:spPr>
        <p:txBody>
          <a:bodyPr wrap="square" rtlCol="0">
            <a:spAutoFit/>
          </a:bodyPr>
          <a:lstStyle/>
          <a:p>
            <a:r>
              <a:rPr lang="en-US" dirty="0"/>
              <a:t>10</a:t>
            </a:r>
          </a:p>
        </p:txBody>
      </p:sp>
      <p:sp>
        <p:nvSpPr>
          <p:cNvPr id="76" name="TextBox 75"/>
          <p:cNvSpPr txBox="1"/>
          <p:nvPr/>
        </p:nvSpPr>
        <p:spPr>
          <a:xfrm>
            <a:off x="7672568" y="6308020"/>
            <a:ext cx="442912" cy="369332"/>
          </a:xfrm>
          <a:prstGeom prst="rect">
            <a:avLst/>
          </a:prstGeom>
          <a:noFill/>
        </p:spPr>
        <p:txBody>
          <a:bodyPr wrap="square" rtlCol="0">
            <a:spAutoFit/>
          </a:bodyPr>
          <a:lstStyle/>
          <a:p>
            <a:r>
              <a:rPr lang="en-US" dirty="0"/>
              <a:t>20</a:t>
            </a:r>
          </a:p>
        </p:txBody>
      </p:sp>
      <p:sp>
        <p:nvSpPr>
          <p:cNvPr id="77" name="TextBox 76"/>
          <p:cNvSpPr txBox="1"/>
          <p:nvPr/>
        </p:nvSpPr>
        <p:spPr>
          <a:xfrm>
            <a:off x="6770101" y="6308020"/>
            <a:ext cx="442912" cy="369332"/>
          </a:xfrm>
          <a:prstGeom prst="rect">
            <a:avLst/>
          </a:prstGeom>
          <a:noFill/>
        </p:spPr>
        <p:txBody>
          <a:bodyPr wrap="square" rtlCol="0">
            <a:spAutoFit/>
          </a:bodyPr>
          <a:lstStyle/>
          <a:p>
            <a:r>
              <a:rPr lang="en-US" dirty="0"/>
              <a:t>15</a:t>
            </a:r>
          </a:p>
        </p:txBody>
      </p:sp>
      <p:sp>
        <p:nvSpPr>
          <p:cNvPr id="78" name="TextBox 77"/>
          <p:cNvSpPr txBox="1"/>
          <p:nvPr/>
        </p:nvSpPr>
        <p:spPr>
          <a:xfrm>
            <a:off x="4930252" y="6312378"/>
            <a:ext cx="442912" cy="369332"/>
          </a:xfrm>
          <a:prstGeom prst="rect">
            <a:avLst/>
          </a:prstGeom>
          <a:noFill/>
        </p:spPr>
        <p:txBody>
          <a:bodyPr wrap="square" rtlCol="0">
            <a:spAutoFit/>
          </a:bodyPr>
          <a:lstStyle/>
          <a:p>
            <a:r>
              <a:rPr lang="en-US" dirty="0"/>
              <a:t>5</a:t>
            </a:r>
          </a:p>
        </p:txBody>
      </p:sp>
      <p:sp>
        <p:nvSpPr>
          <p:cNvPr id="79" name="Flowchart: Connector 78"/>
          <p:cNvSpPr/>
          <p:nvPr/>
        </p:nvSpPr>
        <p:spPr>
          <a:xfrm>
            <a:off x="4550699" y="6147836"/>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Flowchart: Connector 79"/>
          <p:cNvSpPr/>
          <p:nvPr/>
        </p:nvSpPr>
        <p:spPr>
          <a:xfrm>
            <a:off x="4855271" y="6147253"/>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Flowchart: Connector 80"/>
          <p:cNvSpPr/>
          <p:nvPr/>
        </p:nvSpPr>
        <p:spPr>
          <a:xfrm>
            <a:off x="5175028" y="6144376"/>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Flowchart: Connector 81"/>
          <p:cNvSpPr/>
          <p:nvPr/>
        </p:nvSpPr>
        <p:spPr>
          <a:xfrm>
            <a:off x="5477266" y="6152002"/>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Flowchart: Connector 82"/>
          <p:cNvSpPr/>
          <p:nvPr/>
        </p:nvSpPr>
        <p:spPr>
          <a:xfrm>
            <a:off x="5791689" y="6145535"/>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Flowchart: Connector 83"/>
          <p:cNvSpPr/>
          <p:nvPr/>
        </p:nvSpPr>
        <p:spPr>
          <a:xfrm>
            <a:off x="6073884" y="6146435"/>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Flowchart: Connector 84"/>
          <p:cNvSpPr/>
          <p:nvPr/>
        </p:nvSpPr>
        <p:spPr>
          <a:xfrm>
            <a:off x="7692888" y="6149794"/>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Flowchart: Connector 85"/>
          <p:cNvSpPr/>
          <p:nvPr/>
        </p:nvSpPr>
        <p:spPr>
          <a:xfrm>
            <a:off x="7388316" y="6146102"/>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Flowchart: Connector 86"/>
          <p:cNvSpPr/>
          <p:nvPr/>
        </p:nvSpPr>
        <p:spPr>
          <a:xfrm>
            <a:off x="7974330" y="6147841"/>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Flowchart: Connector 87"/>
          <p:cNvSpPr/>
          <p:nvPr/>
        </p:nvSpPr>
        <p:spPr>
          <a:xfrm>
            <a:off x="6356079" y="6149709"/>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Flowchart: Connector 88"/>
          <p:cNvSpPr/>
          <p:nvPr/>
        </p:nvSpPr>
        <p:spPr>
          <a:xfrm>
            <a:off x="6931460" y="6149129"/>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Flowchart: Connector 89"/>
          <p:cNvSpPr/>
          <p:nvPr/>
        </p:nvSpPr>
        <p:spPr>
          <a:xfrm>
            <a:off x="8221852" y="6147338"/>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Flowchart: Connector 90"/>
          <p:cNvSpPr/>
          <p:nvPr/>
        </p:nvSpPr>
        <p:spPr>
          <a:xfrm>
            <a:off x="8526031" y="6144166"/>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Flowchart: Connector 91"/>
          <p:cNvSpPr/>
          <p:nvPr/>
        </p:nvSpPr>
        <p:spPr>
          <a:xfrm>
            <a:off x="7140554" y="6149709"/>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Flowchart: Connector 92"/>
          <p:cNvSpPr/>
          <p:nvPr/>
        </p:nvSpPr>
        <p:spPr>
          <a:xfrm>
            <a:off x="6659004" y="6144883"/>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TextBox 94"/>
          <p:cNvSpPr txBox="1"/>
          <p:nvPr/>
        </p:nvSpPr>
        <p:spPr>
          <a:xfrm>
            <a:off x="2208245" y="1874520"/>
            <a:ext cx="2116831" cy="369332"/>
          </a:xfrm>
          <a:prstGeom prst="rect">
            <a:avLst/>
          </a:prstGeom>
          <a:noFill/>
        </p:spPr>
        <p:txBody>
          <a:bodyPr wrap="square" rtlCol="0">
            <a:spAutoFit/>
          </a:bodyPr>
          <a:lstStyle/>
          <a:p>
            <a:r>
              <a:rPr lang="en-US" dirty="0"/>
              <a:t>2</a:t>
            </a:r>
            <a:r>
              <a:rPr lang="en-US" altLang="zh-CN" dirty="0"/>
              <a:t>-D</a:t>
            </a:r>
            <a:endParaRPr lang="en-US" dirty="0"/>
          </a:p>
        </p:txBody>
      </p:sp>
      <p:sp>
        <p:nvSpPr>
          <p:cNvPr id="96" name="TextBox 95"/>
          <p:cNvSpPr txBox="1"/>
          <p:nvPr/>
        </p:nvSpPr>
        <p:spPr>
          <a:xfrm>
            <a:off x="6308370" y="5514211"/>
            <a:ext cx="2116831" cy="369332"/>
          </a:xfrm>
          <a:prstGeom prst="rect">
            <a:avLst/>
          </a:prstGeom>
          <a:noFill/>
        </p:spPr>
        <p:txBody>
          <a:bodyPr wrap="square" rtlCol="0">
            <a:spAutoFit/>
          </a:bodyPr>
          <a:lstStyle/>
          <a:p>
            <a:r>
              <a:rPr lang="en-US" altLang="zh-CN" dirty="0"/>
              <a:t>1-D</a:t>
            </a:r>
            <a:endParaRPr lang="en-US" dirty="0"/>
          </a:p>
        </p:txBody>
      </p:sp>
      <p:sp>
        <p:nvSpPr>
          <p:cNvPr id="97" name="TextBox 96"/>
          <p:cNvSpPr txBox="1"/>
          <p:nvPr/>
        </p:nvSpPr>
        <p:spPr>
          <a:xfrm>
            <a:off x="5573723" y="2812188"/>
            <a:ext cx="3314766" cy="2554545"/>
          </a:xfrm>
          <a:prstGeom prst="rect">
            <a:avLst/>
          </a:prstGeom>
          <a:noFill/>
        </p:spPr>
        <p:txBody>
          <a:bodyPr wrap="square" rtlCol="0">
            <a:spAutoFit/>
          </a:bodyPr>
          <a:lstStyle/>
          <a:p>
            <a:r>
              <a:rPr lang="en-US" sz="2000" dirty="0">
                <a:latin typeface="+mj-lt"/>
              </a:rPr>
              <a:t>In this case, we can take 2-D data and display it on a 1-D graph without too much information loss.</a:t>
            </a:r>
          </a:p>
          <a:p>
            <a:endParaRPr lang="en-US" sz="2000" dirty="0">
              <a:latin typeface="+mj-lt"/>
            </a:endParaRPr>
          </a:p>
          <a:p>
            <a:r>
              <a:rPr lang="en-US" sz="2000" dirty="0">
                <a:latin typeface="+mj-lt"/>
              </a:rPr>
              <a:t>Both graphs say, “the important variation is left to right”.</a:t>
            </a:r>
          </a:p>
        </p:txBody>
      </p:sp>
      <p:sp>
        <p:nvSpPr>
          <p:cNvPr id="99" name="TextBox 98"/>
          <p:cNvSpPr txBox="1"/>
          <p:nvPr/>
        </p:nvSpPr>
        <p:spPr>
          <a:xfrm>
            <a:off x="640080" y="457200"/>
            <a:ext cx="7885951" cy="954107"/>
          </a:xfrm>
          <a:prstGeom prst="rect">
            <a:avLst/>
          </a:prstGeom>
          <a:noFill/>
        </p:spPr>
        <p:txBody>
          <a:bodyPr wrap="square" rtlCol="0">
            <a:spAutoFit/>
          </a:bodyPr>
          <a:lstStyle/>
          <a:p>
            <a:r>
              <a:rPr lang="en-US" sz="2800" dirty="0">
                <a:latin typeface="+mj-lt"/>
              </a:rPr>
              <a:t>Hypothetically  Speaking… what if we had 2-cell data that looked like this:</a:t>
            </a:r>
          </a:p>
        </p:txBody>
      </p:sp>
      <p:sp>
        <p:nvSpPr>
          <p:cNvPr id="114" name="Flowchart: Connector 113"/>
          <p:cNvSpPr/>
          <p:nvPr/>
        </p:nvSpPr>
        <p:spPr>
          <a:xfrm>
            <a:off x="1129146" y="3032254"/>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Flowchart: Connector 114"/>
          <p:cNvSpPr/>
          <p:nvPr/>
        </p:nvSpPr>
        <p:spPr>
          <a:xfrm>
            <a:off x="1433718" y="2869565"/>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Flowchart: Connector 115"/>
          <p:cNvSpPr/>
          <p:nvPr/>
        </p:nvSpPr>
        <p:spPr>
          <a:xfrm>
            <a:off x="1753475" y="2885344"/>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Flowchart: Connector 116"/>
          <p:cNvSpPr/>
          <p:nvPr/>
        </p:nvSpPr>
        <p:spPr>
          <a:xfrm>
            <a:off x="2055713" y="2944734"/>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Flowchart: Connector 117"/>
          <p:cNvSpPr/>
          <p:nvPr/>
        </p:nvSpPr>
        <p:spPr>
          <a:xfrm>
            <a:off x="2370136" y="2857214"/>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Flowchart: Connector 118"/>
          <p:cNvSpPr/>
          <p:nvPr/>
        </p:nvSpPr>
        <p:spPr>
          <a:xfrm>
            <a:off x="2652331" y="3032253"/>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Flowchart: Connector 119"/>
          <p:cNvSpPr/>
          <p:nvPr/>
        </p:nvSpPr>
        <p:spPr>
          <a:xfrm>
            <a:off x="4409564" y="3031601"/>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Flowchart: Connector 120"/>
          <p:cNvSpPr/>
          <p:nvPr/>
        </p:nvSpPr>
        <p:spPr>
          <a:xfrm>
            <a:off x="4104992" y="2944245"/>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Flowchart: Connector 121"/>
          <p:cNvSpPr/>
          <p:nvPr/>
        </p:nvSpPr>
        <p:spPr>
          <a:xfrm>
            <a:off x="4691006" y="2844876"/>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Flowchart: Connector 122"/>
          <p:cNvSpPr/>
          <p:nvPr/>
        </p:nvSpPr>
        <p:spPr>
          <a:xfrm>
            <a:off x="2934526" y="2957085"/>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Flowchart: Connector 123"/>
          <p:cNvSpPr/>
          <p:nvPr/>
        </p:nvSpPr>
        <p:spPr>
          <a:xfrm>
            <a:off x="3520540" y="2803640"/>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lowchart: Connector 124"/>
          <p:cNvSpPr/>
          <p:nvPr/>
        </p:nvSpPr>
        <p:spPr>
          <a:xfrm>
            <a:off x="4938528" y="2944081"/>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Flowchart: Connector 126"/>
          <p:cNvSpPr/>
          <p:nvPr/>
        </p:nvSpPr>
        <p:spPr>
          <a:xfrm>
            <a:off x="3719001" y="2957085"/>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Flowchart: Connector 127"/>
          <p:cNvSpPr/>
          <p:nvPr/>
        </p:nvSpPr>
        <p:spPr>
          <a:xfrm>
            <a:off x="3237451" y="2856562"/>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19931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What does all of this have to do wit</a:t>
            </a:r>
            <a:r>
              <a:rPr lang="en-US" altLang="zh-CN" sz="4000" dirty="0"/>
              <a:t>h PCA?</a:t>
            </a:r>
            <a:endParaRPr lang="en-US" sz="4000" dirty="0"/>
          </a:p>
        </p:txBody>
      </p:sp>
      <p:sp>
        <p:nvSpPr>
          <p:cNvPr id="3" name="Content Placeholder 2"/>
          <p:cNvSpPr>
            <a:spLocks noGrp="1"/>
          </p:cNvSpPr>
          <p:nvPr>
            <p:ph idx="1"/>
          </p:nvPr>
        </p:nvSpPr>
        <p:spPr>
          <a:xfrm>
            <a:off x="628650" y="3066597"/>
            <a:ext cx="7886700" cy="2256518"/>
          </a:xfrm>
        </p:spPr>
        <p:txBody>
          <a:bodyPr/>
          <a:lstStyle/>
          <a:p>
            <a:r>
              <a:rPr lang="en-US" dirty="0">
                <a:latin typeface="+mj-lt"/>
              </a:rPr>
              <a:t>PCA takes a dataset with a lot of dimensions (i.e. lots of cells) and flattens it to 2 or 3 dimensions so we can look at it.</a:t>
            </a:r>
          </a:p>
          <a:p>
            <a:pPr marL="0" indent="0">
              <a:buNone/>
            </a:pPr>
            <a:r>
              <a:rPr lang="en-US" sz="2400" dirty="0">
                <a:latin typeface="+mj-lt"/>
              </a:rPr>
              <a:t>   </a:t>
            </a:r>
            <a:r>
              <a:rPr lang="en-US" altLang="zh-CN" sz="2400" dirty="0">
                <a:latin typeface="+mj-lt"/>
              </a:rPr>
              <a:t>——It tries to find a meaningful way to flatten data by focusing on the things that are different between cells.</a:t>
            </a:r>
            <a:endParaRPr lang="en-US" sz="2400" dirty="0">
              <a:latin typeface="+mj-lt"/>
            </a:endParaRPr>
          </a:p>
        </p:txBody>
      </p:sp>
    </p:spTree>
    <p:extLst>
      <p:ext uri="{BB962C8B-B14F-4D97-AF65-F5344CB8AC3E}">
        <p14:creationId xmlns:p14="http://schemas.microsoft.com/office/powerpoint/2010/main" val="9414117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dirty="0"/>
              <a:t>A PCA Example</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440700291"/>
              </p:ext>
            </p:extLst>
          </p:nvPr>
        </p:nvGraphicFramePr>
        <p:xfrm>
          <a:off x="628650" y="1825625"/>
          <a:ext cx="7886700" cy="4079240"/>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1081879641"/>
                    </a:ext>
                  </a:extLst>
                </a:gridCol>
                <a:gridCol w="2628900">
                  <a:extLst>
                    <a:ext uri="{9D8B030D-6E8A-4147-A177-3AD203B41FA5}">
                      <a16:colId xmlns:a16="http://schemas.microsoft.com/office/drawing/2014/main" val="1083112812"/>
                    </a:ext>
                  </a:extLst>
                </a:gridCol>
                <a:gridCol w="2628900">
                  <a:extLst>
                    <a:ext uri="{9D8B030D-6E8A-4147-A177-3AD203B41FA5}">
                      <a16:colId xmlns:a16="http://schemas.microsoft.com/office/drawing/2014/main" val="51246145"/>
                    </a:ext>
                  </a:extLst>
                </a:gridCol>
              </a:tblGrid>
              <a:tr h="370840">
                <a:tc>
                  <a:txBody>
                    <a:bodyPr/>
                    <a:lstStyle/>
                    <a:p>
                      <a:pPr algn="ctr"/>
                      <a:r>
                        <a:rPr lang="en-US" dirty="0"/>
                        <a:t>Gene</a:t>
                      </a:r>
                    </a:p>
                  </a:txBody>
                  <a:tcPr/>
                </a:tc>
                <a:tc>
                  <a:txBody>
                    <a:bodyPr/>
                    <a:lstStyle/>
                    <a:p>
                      <a:pPr algn="ctr"/>
                      <a:r>
                        <a:rPr lang="en-US" dirty="0"/>
                        <a:t>Cell 1 reads</a:t>
                      </a:r>
                    </a:p>
                  </a:txBody>
                  <a:tcPr/>
                </a:tc>
                <a:tc>
                  <a:txBody>
                    <a:bodyPr/>
                    <a:lstStyle/>
                    <a:p>
                      <a:pPr algn="ctr"/>
                      <a:r>
                        <a:rPr lang="en-US" dirty="0"/>
                        <a:t>Cell 2 reads</a:t>
                      </a:r>
                    </a:p>
                  </a:txBody>
                  <a:tcPr/>
                </a:tc>
                <a:extLst>
                  <a:ext uri="{0D108BD9-81ED-4DB2-BD59-A6C34878D82A}">
                    <a16:rowId xmlns:a16="http://schemas.microsoft.com/office/drawing/2014/main" val="3411102718"/>
                  </a:ext>
                </a:extLst>
              </a:tr>
              <a:tr h="370840">
                <a:tc>
                  <a:txBody>
                    <a:bodyPr/>
                    <a:lstStyle/>
                    <a:p>
                      <a:pPr algn="ctr"/>
                      <a:r>
                        <a:rPr lang="en-US" dirty="0"/>
                        <a:t>a</a:t>
                      </a:r>
                    </a:p>
                  </a:txBody>
                  <a:tcPr/>
                </a:tc>
                <a:tc>
                  <a:txBody>
                    <a:bodyPr/>
                    <a:lstStyle/>
                    <a:p>
                      <a:pPr algn="ctr"/>
                      <a:r>
                        <a:rPr lang="en-US" dirty="0"/>
                        <a:t>10</a:t>
                      </a:r>
                    </a:p>
                  </a:txBody>
                  <a:tcPr/>
                </a:tc>
                <a:tc>
                  <a:txBody>
                    <a:bodyPr/>
                    <a:lstStyle/>
                    <a:p>
                      <a:pPr algn="ctr"/>
                      <a:r>
                        <a:rPr lang="en-US" dirty="0"/>
                        <a:t>8</a:t>
                      </a:r>
                    </a:p>
                  </a:txBody>
                  <a:tcPr/>
                </a:tc>
                <a:extLst>
                  <a:ext uri="{0D108BD9-81ED-4DB2-BD59-A6C34878D82A}">
                    <a16:rowId xmlns:a16="http://schemas.microsoft.com/office/drawing/2014/main" val="3665700275"/>
                  </a:ext>
                </a:extLst>
              </a:tr>
              <a:tr h="370840">
                <a:tc>
                  <a:txBody>
                    <a:bodyPr/>
                    <a:lstStyle/>
                    <a:p>
                      <a:pPr algn="ctr"/>
                      <a:r>
                        <a:rPr lang="en-US" dirty="0"/>
                        <a:t>b</a:t>
                      </a:r>
                    </a:p>
                  </a:txBody>
                  <a:tcPr/>
                </a:tc>
                <a:tc>
                  <a:txBody>
                    <a:bodyPr/>
                    <a:lstStyle/>
                    <a:p>
                      <a:pPr algn="ctr"/>
                      <a:r>
                        <a:rPr lang="en-US" dirty="0"/>
                        <a:t>0</a:t>
                      </a:r>
                    </a:p>
                  </a:txBody>
                  <a:tcPr/>
                </a:tc>
                <a:tc>
                  <a:txBody>
                    <a:bodyPr/>
                    <a:lstStyle/>
                    <a:p>
                      <a:pPr algn="ctr"/>
                      <a:r>
                        <a:rPr lang="en-US" dirty="0"/>
                        <a:t>2</a:t>
                      </a:r>
                    </a:p>
                  </a:txBody>
                  <a:tcPr/>
                </a:tc>
                <a:extLst>
                  <a:ext uri="{0D108BD9-81ED-4DB2-BD59-A6C34878D82A}">
                    <a16:rowId xmlns:a16="http://schemas.microsoft.com/office/drawing/2014/main" val="3963056260"/>
                  </a:ext>
                </a:extLst>
              </a:tr>
              <a:tr h="370840">
                <a:tc>
                  <a:txBody>
                    <a:bodyPr/>
                    <a:lstStyle/>
                    <a:p>
                      <a:pPr algn="ctr"/>
                      <a:r>
                        <a:rPr lang="en-US" dirty="0"/>
                        <a:t>c</a:t>
                      </a:r>
                    </a:p>
                  </a:txBody>
                  <a:tcPr/>
                </a:tc>
                <a:tc>
                  <a:txBody>
                    <a:bodyPr/>
                    <a:lstStyle/>
                    <a:p>
                      <a:pPr algn="ctr"/>
                      <a:r>
                        <a:rPr lang="en-US" dirty="0"/>
                        <a:t>14</a:t>
                      </a:r>
                    </a:p>
                  </a:txBody>
                  <a:tcPr/>
                </a:tc>
                <a:tc>
                  <a:txBody>
                    <a:bodyPr/>
                    <a:lstStyle/>
                    <a:p>
                      <a:pPr algn="ctr"/>
                      <a:r>
                        <a:rPr lang="en-US" dirty="0"/>
                        <a:t>10</a:t>
                      </a:r>
                    </a:p>
                  </a:txBody>
                  <a:tcPr/>
                </a:tc>
                <a:extLst>
                  <a:ext uri="{0D108BD9-81ED-4DB2-BD59-A6C34878D82A}">
                    <a16:rowId xmlns:a16="http://schemas.microsoft.com/office/drawing/2014/main" val="964778164"/>
                  </a:ext>
                </a:extLst>
              </a:tr>
              <a:tr h="370840">
                <a:tc>
                  <a:txBody>
                    <a:bodyPr/>
                    <a:lstStyle/>
                    <a:p>
                      <a:pPr algn="ctr"/>
                      <a:r>
                        <a:rPr lang="en-US" dirty="0"/>
                        <a:t>d</a:t>
                      </a:r>
                    </a:p>
                  </a:txBody>
                  <a:tcPr/>
                </a:tc>
                <a:tc>
                  <a:txBody>
                    <a:bodyPr/>
                    <a:lstStyle/>
                    <a:p>
                      <a:pPr algn="ctr"/>
                      <a:r>
                        <a:rPr lang="en-US" dirty="0"/>
                        <a:t>33</a:t>
                      </a:r>
                    </a:p>
                  </a:txBody>
                  <a:tcPr/>
                </a:tc>
                <a:tc>
                  <a:txBody>
                    <a:bodyPr/>
                    <a:lstStyle/>
                    <a:p>
                      <a:pPr algn="ctr"/>
                      <a:r>
                        <a:rPr lang="en-US" dirty="0"/>
                        <a:t>45</a:t>
                      </a:r>
                    </a:p>
                  </a:txBody>
                  <a:tcPr/>
                </a:tc>
                <a:extLst>
                  <a:ext uri="{0D108BD9-81ED-4DB2-BD59-A6C34878D82A}">
                    <a16:rowId xmlns:a16="http://schemas.microsoft.com/office/drawing/2014/main" val="1793911886"/>
                  </a:ext>
                </a:extLst>
              </a:tr>
              <a:tr h="370840">
                <a:tc>
                  <a:txBody>
                    <a:bodyPr/>
                    <a:lstStyle/>
                    <a:p>
                      <a:pPr algn="ctr"/>
                      <a:r>
                        <a:rPr lang="en-US" dirty="0"/>
                        <a:t>e</a:t>
                      </a:r>
                    </a:p>
                  </a:txBody>
                  <a:tcPr/>
                </a:tc>
                <a:tc>
                  <a:txBody>
                    <a:bodyPr/>
                    <a:lstStyle/>
                    <a:p>
                      <a:pPr algn="ctr"/>
                      <a:r>
                        <a:rPr lang="en-US" dirty="0"/>
                        <a:t>50</a:t>
                      </a:r>
                    </a:p>
                  </a:txBody>
                  <a:tcPr/>
                </a:tc>
                <a:tc>
                  <a:txBody>
                    <a:bodyPr/>
                    <a:lstStyle/>
                    <a:p>
                      <a:pPr algn="ctr"/>
                      <a:r>
                        <a:rPr lang="en-US" dirty="0"/>
                        <a:t>42</a:t>
                      </a:r>
                    </a:p>
                  </a:txBody>
                  <a:tcPr/>
                </a:tc>
                <a:extLst>
                  <a:ext uri="{0D108BD9-81ED-4DB2-BD59-A6C34878D82A}">
                    <a16:rowId xmlns:a16="http://schemas.microsoft.com/office/drawing/2014/main" val="2295122030"/>
                  </a:ext>
                </a:extLst>
              </a:tr>
              <a:tr h="370840">
                <a:tc>
                  <a:txBody>
                    <a:bodyPr/>
                    <a:lstStyle/>
                    <a:p>
                      <a:pPr algn="ctr"/>
                      <a:r>
                        <a:rPr lang="en-US" dirty="0"/>
                        <a:t>f</a:t>
                      </a:r>
                    </a:p>
                  </a:txBody>
                  <a:tcPr/>
                </a:tc>
                <a:tc>
                  <a:txBody>
                    <a:bodyPr/>
                    <a:lstStyle/>
                    <a:p>
                      <a:pPr algn="ctr"/>
                      <a:r>
                        <a:rPr lang="en-US" dirty="0"/>
                        <a:t>80</a:t>
                      </a:r>
                    </a:p>
                  </a:txBody>
                  <a:tcPr/>
                </a:tc>
                <a:tc>
                  <a:txBody>
                    <a:bodyPr/>
                    <a:lstStyle/>
                    <a:p>
                      <a:pPr algn="ctr"/>
                      <a:r>
                        <a:rPr lang="en-US" dirty="0"/>
                        <a:t>72</a:t>
                      </a:r>
                    </a:p>
                  </a:txBody>
                  <a:tcPr/>
                </a:tc>
                <a:extLst>
                  <a:ext uri="{0D108BD9-81ED-4DB2-BD59-A6C34878D82A}">
                    <a16:rowId xmlns:a16="http://schemas.microsoft.com/office/drawing/2014/main" val="178116736"/>
                  </a:ext>
                </a:extLst>
              </a:tr>
              <a:tr h="370840">
                <a:tc>
                  <a:txBody>
                    <a:bodyPr/>
                    <a:lstStyle/>
                    <a:p>
                      <a:pPr algn="ctr"/>
                      <a:r>
                        <a:rPr lang="en-US" dirty="0"/>
                        <a:t>g</a:t>
                      </a:r>
                    </a:p>
                  </a:txBody>
                  <a:tcPr/>
                </a:tc>
                <a:tc>
                  <a:txBody>
                    <a:bodyPr/>
                    <a:lstStyle/>
                    <a:p>
                      <a:pPr algn="ctr"/>
                      <a:r>
                        <a:rPr lang="en-US" dirty="0"/>
                        <a:t>95</a:t>
                      </a:r>
                    </a:p>
                  </a:txBody>
                  <a:tcPr/>
                </a:tc>
                <a:tc>
                  <a:txBody>
                    <a:bodyPr/>
                    <a:lstStyle/>
                    <a:p>
                      <a:pPr algn="ctr"/>
                      <a:r>
                        <a:rPr lang="en-US" dirty="0"/>
                        <a:t>90</a:t>
                      </a:r>
                    </a:p>
                  </a:txBody>
                  <a:tcPr/>
                </a:tc>
                <a:extLst>
                  <a:ext uri="{0D108BD9-81ED-4DB2-BD59-A6C34878D82A}">
                    <a16:rowId xmlns:a16="http://schemas.microsoft.com/office/drawing/2014/main" val="576024825"/>
                  </a:ext>
                </a:extLst>
              </a:tr>
              <a:tr h="370840">
                <a:tc>
                  <a:txBody>
                    <a:bodyPr/>
                    <a:lstStyle/>
                    <a:p>
                      <a:pPr algn="ctr"/>
                      <a:r>
                        <a:rPr lang="en-US" dirty="0"/>
                        <a:t>h</a:t>
                      </a:r>
                    </a:p>
                  </a:txBody>
                  <a:tcPr/>
                </a:tc>
                <a:tc>
                  <a:txBody>
                    <a:bodyPr/>
                    <a:lstStyle/>
                    <a:p>
                      <a:pPr algn="ctr"/>
                      <a:r>
                        <a:rPr lang="en-US" dirty="0"/>
                        <a:t>44</a:t>
                      </a:r>
                    </a:p>
                  </a:txBody>
                  <a:tcPr/>
                </a:tc>
                <a:tc>
                  <a:txBody>
                    <a:bodyPr/>
                    <a:lstStyle/>
                    <a:p>
                      <a:pPr algn="ctr"/>
                      <a:r>
                        <a:rPr lang="en-US" dirty="0"/>
                        <a:t>50</a:t>
                      </a:r>
                    </a:p>
                  </a:txBody>
                  <a:tcPr/>
                </a:tc>
                <a:extLst>
                  <a:ext uri="{0D108BD9-81ED-4DB2-BD59-A6C34878D82A}">
                    <a16:rowId xmlns:a16="http://schemas.microsoft.com/office/drawing/2014/main" val="716760292"/>
                  </a:ext>
                </a:extLst>
              </a:tr>
              <a:tr h="370840">
                <a:tc>
                  <a:txBody>
                    <a:bodyPr/>
                    <a:lstStyle/>
                    <a:p>
                      <a:pPr algn="ctr"/>
                      <a:r>
                        <a:rPr lang="en-US" dirty="0" err="1"/>
                        <a:t>i</a:t>
                      </a:r>
                      <a:endParaRPr lang="en-US" dirty="0"/>
                    </a:p>
                  </a:txBody>
                  <a:tcPr/>
                </a:tc>
                <a:tc>
                  <a:txBody>
                    <a:bodyPr/>
                    <a:lstStyle/>
                    <a:p>
                      <a:pPr algn="ctr"/>
                      <a:r>
                        <a:rPr lang="en-US" dirty="0"/>
                        <a:t>60</a:t>
                      </a:r>
                    </a:p>
                  </a:txBody>
                  <a:tcPr/>
                </a:tc>
                <a:tc>
                  <a:txBody>
                    <a:bodyPr/>
                    <a:lstStyle/>
                    <a:p>
                      <a:pPr algn="ctr"/>
                      <a:r>
                        <a:rPr lang="en-US" dirty="0"/>
                        <a:t>50</a:t>
                      </a:r>
                    </a:p>
                  </a:txBody>
                  <a:tcPr/>
                </a:tc>
                <a:extLst>
                  <a:ext uri="{0D108BD9-81ED-4DB2-BD59-A6C34878D82A}">
                    <a16:rowId xmlns:a16="http://schemas.microsoft.com/office/drawing/2014/main" val="2337318443"/>
                  </a:ext>
                </a:extLst>
              </a:tr>
              <a:tr h="370840">
                <a:tc>
                  <a:txBody>
                    <a:bodyPr/>
                    <a:lstStyle/>
                    <a:p>
                      <a:pPr algn="ctr"/>
                      <a:r>
                        <a:rPr lang="en-US" dirty="0"/>
                        <a:t>…(</a:t>
                      </a:r>
                      <a:r>
                        <a:rPr lang="en-US" dirty="0" err="1"/>
                        <a:t>etc</a:t>
                      </a:r>
                      <a:r>
                        <a:rPr lang="en-US" dirty="0"/>
                        <a:t>)</a:t>
                      </a:r>
                    </a:p>
                  </a:txBody>
                  <a:tcPr/>
                </a:tc>
                <a:tc>
                  <a:txBody>
                    <a:bodyPr/>
                    <a:lstStyle/>
                    <a:p>
                      <a:pPr algn="ctr"/>
                      <a:r>
                        <a:rPr lang="en-US" dirty="0"/>
                        <a:t>…(</a:t>
                      </a:r>
                      <a:r>
                        <a:rPr lang="en-US" dirty="0" err="1"/>
                        <a:t>etc</a:t>
                      </a:r>
                      <a:r>
                        <a:rPr lang="en-US" dirty="0"/>
                        <a:t>)</a:t>
                      </a:r>
                    </a:p>
                  </a:txBody>
                  <a:tcPr/>
                </a:tc>
                <a:tc>
                  <a:txBody>
                    <a:bodyPr/>
                    <a:lstStyle/>
                    <a:p>
                      <a:pPr algn="ctr"/>
                      <a:r>
                        <a:rPr lang="en-US" dirty="0"/>
                        <a:t>…(</a:t>
                      </a:r>
                      <a:r>
                        <a:rPr lang="en-US" dirty="0" err="1"/>
                        <a:t>etc</a:t>
                      </a:r>
                      <a:r>
                        <a:rPr lang="en-US" dirty="0"/>
                        <a:t>)</a:t>
                      </a:r>
                    </a:p>
                  </a:txBody>
                  <a:tcPr/>
                </a:tc>
                <a:extLst>
                  <a:ext uri="{0D108BD9-81ED-4DB2-BD59-A6C34878D82A}">
                    <a16:rowId xmlns:a16="http://schemas.microsoft.com/office/drawing/2014/main" val="3273452996"/>
                  </a:ext>
                </a:extLst>
              </a:tr>
            </a:tbl>
          </a:graphicData>
        </a:graphic>
      </p:graphicFrame>
    </p:spTree>
    <p:extLst>
      <p:ext uri="{BB962C8B-B14F-4D97-AF65-F5344CB8AC3E}">
        <p14:creationId xmlns:p14="http://schemas.microsoft.com/office/powerpoint/2010/main" val="16772877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2303219" y="2737714"/>
            <a:ext cx="25052" cy="290603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2315745" y="5643752"/>
            <a:ext cx="561166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694058" y="3503135"/>
            <a:ext cx="1422031" cy="646331"/>
          </a:xfrm>
          <a:prstGeom prst="rect">
            <a:avLst/>
          </a:prstGeom>
          <a:noFill/>
        </p:spPr>
        <p:txBody>
          <a:bodyPr wrap="square" rtlCol="0">
            <a:spAutoFit/>
          </a:bodyPr>
          <a:lstStyle/>
          <a:p>
            <a:pPr algn="ctr"/>
            <a:r>
              <a:rPr lang="en-US" altLang="zh-CN" dirty="0"/>
              <a:t>Cell 2</a:t>
            </a:r>
          </a:p>
          <a:p>
            <a:pPr algn="ctr"/>
            <a:r>
              <a:rPr lang="en-US" altLang="zh-CN" dirty="0"/>
              <a:t>Read Counts</a:t>
            </a:r>
            <a:endParaRPr lang="en-US" dirty="0"/>
          </a:p>
        </p:txBody>
      </p:sp>
      <p:sp>
        <p:nvSpPr>
          <p:cNvPr id="7" name="TextBox 6"/>
          <p:cNvSpPr txBox="1"/>
          <p:nvPr/>
        </p:nvSpPr>
        <p:spPr>
          <a:xfrm>
            <a:off x="4592349" y="5919840"/>
            <a:ext cx="1422031" cy="646331"/>
          </a:xfrm>
          <a:prstGeom prst="rect">
            <a:avLst/>
          </a:prstGeom>
          <a:noFill/>
        </p:spPr>
        <p:txBody>
          <a:bodyPr wrap="square" rtlCol="0">
            <a:spAutoFit/>
          </a:bodyPr>
          <a:lstStyle/>
          <a:p>
            <a:pPr algn="ctr"/>
            <a:r>
              <a:rPr lang="en-US" altLang="zh-CN" dirty="0"/>
              <a:t>Cell 1</a:t>
            </a:r>
          </a:p>
          <a:p>
            <a:pPr algn="ctr"/>
            <a:r>
              <a:rPr lang="en-US" altLang="zh-CN" dirty="0"/>
              <a:t>Read Counts</a:t>
            </a:r>
            <a:endParaRPr lang="en-US" dirty="0"/>
          </a:p>
        </p:txBody>
      </p:sp>
      <p:pic>
        <p:nvPicPr>
          <p:cNvPr id="24" name="Picture 2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6925" y="2399822"/>
            <a:ext cx="5829300" cy="3486150"/>
          </a:xfrm>
          <a:prstGeom prst="rect">
            <a:avLst/>
          </a:prstGeom>
        </p:spPr>
      </p:pic>
      <p:cxnSp>
        <p:nvCxnSpPr>
          <p:cNvPr id="26" name="Straight Connector 25"/>
          <p:cNvCxnSpPr/>
          <p:nvPr/>
        </p:nvCxnSpPr>
        <p:spPr>
          <a:xfrm>
            <a:off x="2300505" y="5770621"/>
            <a:ext cx="561166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V="1">
            <a:off x="2300505" y="2514600"/>
            <a:ext cx="27766" cy="325602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lowchart: Connector 28"/>
          <p:cNvSpPr/>
          <p:nvPr/>
        </p:nvSpPr>
        <p:spPr>
          <a:xfrm>
            <a:off x="2250899" y="5675541"/>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lowchart: Connector 29"/>
          <p:cNvSpPr/>
          <p:nvPr/>
        </p:nvSpPr>
        <p:spPr>
          <a:xfrm>
            <a:off x="2809699" y="5481138"/>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lowchart: Connector 30"/>
          <p:cNvSpPr/>
          <p:nvPr/>
        </p:nvSpPr>
        <p:spPr>
          <a:xfrm>
            <a:off x="3029832" y="5420365"/>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lowchart: Connector 31"/>
          <p:cNvSpPr/>
          <p:nvPr/>
        </p:nvSpPr>
        <p:spPr>
          <a:xfrm>
            <a:off x="4079699" y="4285831"/>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lowchart: Connector 32"/>
          <p:cNvSpPr/>
          <p:nvPr/>
        </p:nvSpPr>
        <p:spPr>
          <a:xfrm>
            <a:off x="4680832" y="4107108"/>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lowchart: Connector 33"/>
          <p:cNvSpPr/>
          <p:nvPr/>
        </p:nvSpPr>
        <p:spPr>
          <a:xfrm>
            <a:off x="6630770" y="3406773"/>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lowchart: Connector 34"/>
          <p:cNvSpPr/>
          <p:nvPr/>
        </p:nvSpPr>
        <p:spPr>
          <a:xfrm>
            <a:off x="5544431" y="4122952"/>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lowchart: Connector 35"/>
          <p:cNvSpPr/>
          <p:nvPr/>
        </p:nvSpPr>
        <p:spPr>
          <a:xfrm>
            <a:off x="5006071" y="4379013"/>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lowchart: Connector 36"/>
          <p:cNvSpPr/>
          <p:nvPr/>
        </p:nvSpPr>
        <p:spPr>
          <a:xfrm>
            <a:off x="7445524" y="2832342"/>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Arrow Connector 38"/>
          <p:cNvCxnSpPr/>
          <p:nvPr/>
        </p:nvCxnSpPr>
        <p:spPr>
          <a:xfrm flipV="1">
            <a:off x="2552700" y="2900123"/>
            <a:ext cx="5114925" cy="2648796"/>
          </a:xfrm>
          <a:prstGeom prst="straightConnector1">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2697480" y="798722"/>
            <a:ext cx="4844501" cy="1938992"/>
          </a:xfrm>
          <a:prstGeom prst="rect">
            <a:avLst/>
          </a:prstGeom>
          <a:noFill/>
        </p:spPr>
        <p:txBody>
          <a:bodyPr wrap="square" rtlCol="0">
            <a:spAutoFit/>
          </a:bodyPr>
          <a:lstStyle/>
          <a:p>
            <a:pPr algn="ctr"/>
            <a:r>
              <a:rPr lang="en-US" sz="2000" dirty="0">
                <a:latin typeface="+mj-lt"/>
              </a:rPr>
              <a:t>Generally speaking, the dots are spread out along a diagonal line.</a:t>
            </a:r>
          </a:p>
          <a:p>
            <a:pPr algn="ctr"/>
            <a:endParaRPr lang="en-US" sz="2000" dirty="0">
              <a:latin typeface="+mj-lt"/>
            </a:endParaRPr>
          </a:p>
          <a:p>
            <a:pPr algn="ctr"/>
            <a:r>
              <a:rPr lang="en-US" sz="2000" dirty="0">
                <a:latin typeface="+mj-lt"/>
              </a:rPr>
              <a:t>Another way to think about this is that the maximum variation in the data is between the two endpoints of this line</a:t>
            </a:r>
          </a:p>
        </p:txBody>
      </p:sp>
    </p:spTree>
    <p:extLst>
      <p:ext uri="{BB962C8B-B14F-4D97-AF65-F5344CB8AC3E}">
        <p14:creationId xmlns:p14="http://schemas.microsoft.com/office/powerpoint/2010/main" val="2775778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2303219" y="2737714"/>
            <a:ext cx="25052" cy="290603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2315745" y="5643752"/>
            <a:ext cx="561166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694058" y="3503135"/>
            <a:ext cx="1422031" cy="646331"/>
          </a:xfrm>
          <a:prstGeom prst="rect">
            <a:avLst/>
          </a:prstGeom>
          <a:noFill/>
        </p:spPr>
        <p:txBody>
          <a:bodyPr wrap="square" rtlCol="0">
            <a:spAutoFit/>
          </a:bodyPr>
          <a:lstStyle/>
          <a:p>
            <a:pPr algn="ctr"/>
            <a:r>
              <a:rPr lang="en-US" altLang="zh-CN" dirty="0"/>
              <a:t>Cell 2</a:t>
            </a:r>
          </a:p>
          <a:p>
            <a:pPr algn="ctr"/>
            <a:r>
              <a:rPr lang="en-US" altLang="zh-CN" dirty="0"/>
              <a:t>Read Counts</a:t>
            </a:r>
            <a:endParaRPr lang="en-US" dirty="0"/>
          </a:p>
        </p:txBody>
      </p:sp>
      <p:sp>
        <p:nvSpPr>
          <p:cNvPr id="7" name="TextBox 6"/>
          <p:cNvSpPr txBox="1"/>
          <p:nvPr/>
        </p:nvSpPr>
        <p:spPr>
          <a:xfrm>
            <a:off x="4592349" y="5919840"/>
            <a:ext cx="1422031" cy="646331"/>
          </a:xfrm>
          <a:prstGeom prst="rect">
            <a:avLst/>
          </a:prstGeom>
          <a:noFill/>
        </p:spPr>
        <p:txBody>
          <a:bodyPr wrap="square" rtlCol="0">
            <a:spAutoFit/>
          </a:bodyPr>
          <a:lstStyle/>
          <a:p>
            <a:pPr algn="ctr"/>
            <a:r>
              <a:rPr lang="en-US" altLang="zh-CN" dirty="0"/>
              <a:t>Cell 1</a:t>
            </a:r>
          </a:p>
          <a:p>
            <a:pPr algn="ctr"/>
            <a:r>
              <a:rPr lang="en-US" altLang="zh-CN" dirty="0"/>
              <a:t>Read Counts</a:t>
            </a:r>
            <a:endParaRPr lang="en-US" dirty="0"/>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6925" y="2399822"/>
            <a:ext cx="5829300" cy="3486150"/>
          </a:xfrm>
          <a:prstGeom prst="rect">
            <a:avLst/>
          </a:prstGeom>
        </p:spPr>
      </p:pic>
      <p:cxnSp>
        <p:nvCxnSpPr>
          <p:cNvPr id="26" name="Straight Connector 25"/>
          <p:cNvCxnSpPr/>
          <p:nvPr/>
        </p:nvCxnSpPr>
        <p:spPr>
          <a:xfrm>
            <a:off x="2300505" y="5770621"/>
            <a:ext cx="561166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V="1">
            <a:off x="2300505" y="2514600"/>
            <a:ext cx="27766" cy="325602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lowchart: Connector 28"/>
          <p:cNvSpPr/>
          <p:nvPr/>
        </p:nvSpPr>
        <p:spPr>
          <a:xfrm>
            <a:off x="2250899" y="5675541"/>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lowchart: Connector 29"/>
          <p:cNvSpPr/>
          <p:nvPr/>
        </p:nvSpPr>
        <p:spPr>
          <a:xfrm>
            <a:off x="2809699" y="5481138"/>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lowchart: Connector 30"/>
          <p:cNvSpPr/>
          <p:nvPr/>
        </p:nvSpPr>
        <p:spPr>
          <a:xfrm>
            <a:off x="3029832" y="5420365"/>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lowchart: Connector 31"/>
          <p:cNvSpPr/>
          <p:nvPr/>
        </p:nvSpPr>
        <p:spPr>
          <a:xfrm>
            <a:off x="4079699" y="4285831"/>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lowchart: Connector 32"/>
          <p:cNvSpPr/>
          <p:nvPr/>
        </p:nvSpPr>
        <p:spPr>
          <a:xfrm>
            <a:off x="4680832" y="4107108"/>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lowchart: Connector 33"/>
          <p:cNvSpPr/>
          <p:nvPr/>
        </p:nvSpPr>
        <p:spPr>
          <a:xfrm>
            <a:off x="6630770" y="3406773"/>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lowchart: Connector 34"/>
          <p:cNvSpPr/>
          <p:nvPr/>
        </p:nvSpPr>
        <p:spPr>
          <a:xfrm>
            <a:off x="5544431" y="4122952"/>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lowchart: Connector 35"/>
          <p:cNvSpPr/>
          <p:nvPr/>
        </p:nvSpPr>
        <p:spPr>
          <a:xfrm>
            <a:off x="5006071" y="4379013"/>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lowchart: Connector 36"/>
          <p:cNvSpPr/>
          <p:nvPr/>
        </p:nvSpPr>
        <p:spPr>
          <a:xfrm>
            <a:off x="7445524" y="2832342"/>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Arrow Connector 38"/>
          <p:cNvCxnSpPr/>
          <p:nvPr/>
        </p:nvCxnSpPr>
        <p:spPr>
          <a:xfrm flipV="1">
            <a:off x="2552700" y="2900123"/>
            <a:ext cx="5114925" cy="2648796"/>
          </a:xfrm>
          <a:prstGeom prst="straightConnector1">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2705588" y="1073489"/>
            <a:ext cx="4844501" cy="707886"/>
          </a:xfrm>
          <a:prstGeom prst="rect">
            <a:avLst/>
          </a:prstGeom>
          <a:noFill/>
        </p:spPr>
        <p:txBody>
          <a:bodyPr wrap="square" rtlCol="0">
            <a:spAutoFit/>
          </a:bodyPr>
          <a:lstStyle/>
          <a:p>
            <a:pPr algn="ctr"/>
            <a:r>
              <a:rPr lang="en-US" sz="2000" dirty="0">
                <a:latin typeface="+mj-lt"/>
              </a:rPr>
              <a:t>Generally speaking, the dots are also spread out along a diagonal line.</a:t>
            </a:r>
          </a:p>
        </p:txBody>
      </p:sp>
      <p:cxnSp>
        <p:nvCxnSpPr>
          <p:cNvPr id="3" name="Straight Arrow Connector 2"/>
          <p:cNvCxnSpPr/>
          <p:nvPr/>
        </p:nvCxnSpPr>
        <p:spPr>
          <a:xfrm rot="5400000" flipV="1">
            <a:off x="4205694" y="3757135"/>
            <a:ext cx="1674406" cy="869589"/>
          </a:xfrm>
          <a:prstGeom prst="straightConnector1">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2809699" y="1905000"/>
            <a:ext cx="4857926" cy="1292662"/>
          </a:xfrm>
          <a:prstGeom prst="rect">
            <a:avLst/>
          </a:prstGeom>
          <a:noFill/>
        </p:spPr>
        <p:txBody>
          <a:bodyPr wrap="square" rtlCol="0">
            <a:spAutoFit/>
          </a:bodyPr>
          <a:lstStyle/>
          <a:p>
            <a:r>
              <a:rPr lang="en-US" sz="2000" dirty="0">
                <a:latin typeface="+mj-lt"/>
              </a:rPr>
              <a:t>Another way to think about this is that the 2 </a:t>
            </a:r>
            <a:r>
              <a:rPr lang="en-US" sz="2000" dirty="0" err="1">
                <a:latin typeface="+mj-lt"/>
              </a:rPr>
              <a:t>nd</a:t>
            </a:r>
            <a:r>
              <a:rPr lang="en-US" sz="2000" dirty="0">
                <a:latin typeface="+mj-lt"/>
              </a:rPr>
              <a:t> largest amount of variation is at the endpoints of the new line</a:t>
            </a:r>
            <a:r>
              <a:rPr lang="en-US" dirty="0">
                <a:latin typeface="+mj-lt"/>
              </a:rPr>
              <a:t>.</a:t>
            </a:r>
          </a:p>
          <a:p>
            <a:endParaRPr lang="en-US" dirty="0"/>
          </a:p>
        </p:txBody>
      </p:sp>
    </p:spTree>
    <p:extLst>
      <p:ext uri="{BB962C8B-B14F-4D97-AF65-F5344CB8AC3E}">
        <p14:creationId xmlns:p14="http://schemas.microsoft.com/office/powerpoint/2010/main" val="1843649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396688" y="834882"/>
            <a:ext cx="4844501" cy="707886"/>
          </a:xfrm>
          <a:prstGeom prst="rect">
            <a:avLst/>
          </a:prstGeom>
          <a:noFill/>
        </p:spPr>
        <p:txBody>
          <a:bodyPr wrap="square" rtlCol="0">
            <a:spAutoFit/>
          </a:bodyPr>
          <a:lstStyle/>
          <a:p>
            <a:pPr algn="ctr"/>
            <a:r>
              <a:rPr lang="en-US" sz="2000" dirty="0">
                <a:latin typeface="+mj-lt"/>
              </a:rPr>
              <a:t>If we rotate the whole graph, the two lines that we drew make new X and Y axes.</a:t>
            </a:r>
          </a:p>
        </p:txBody>
      </p:sp>
      <p:pic>
        <p:nvPicPr>
          <p:cNvPr id="9" name="Content Placeholder 8"/>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rot="1637664">
            <a:off x="1124523" y="2430999"/>
            <a:ext cx="6311261" cy="3680337"/>
          </a:xfrm>
        </p:spPr>
      </p:pic>
    </p:spTree>
    <p:extLst>
      <p:ext uri="{BB962C8B-B14F-4D97-AF65-F5344CB8AC3E}">
        <p14:creationId xmlns:p14="http://schemas.microsoft.com/office/powerpoint/2010/main" val="1954867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rot="1646000">
            <a:off x="470449" y="2066926"/>
            <a:ext cx="7462101" cy="4351338"/>
          </a:xfrm>
        </p:spPr>
      </p:pic>
      <p:sp>
        <p:nvSpPr>
          <p:cNvPr id="5" name="Title 4"/>
          <p:cNvSpPr txBox="1">
            <a:spLocks noGrp="1"/>
          </p:cNvSpPr>
          <p:nvPr>
            <p:ph type="title"/>
          </p:nvPr>
        </p:nvSpPr>
        <p:spPr>
          <a:xfrm>
            <a:off x="628651" y="655246"/>
            <a:ext cx="7886700" cy="1200329"/>
          </a:xfrm>
          <a:prstGeom prst="rect">
            <a:avLst/>
          </a:prstGeom>
          <a:noFill/>
        </p:spPr>
        <p:txBody>
          <a:bodyPr wrap="square" rtlCol="0">
            <a:spAutoFit/>
          </a:bodyPr>
          <a:lstStyle/>
          <a:p>
            <a:pPr algn="ctr"/>
            <a:r>
              <a:rPr lang="en-US" sz="2000" dirty="0"/>
              <a:t>If we rotate the whole graph, the two lines that we drew make new X and Y axes.</a:t>
            </a:r>
            <a:br>
              <a:rPr lang="en-US" sz="2000" dirty="0"/>
            </a:br>
            <a:br>
              <a:rPr lang="en-US" sz="2000" dirty="0"/>
            </a:br>
            <a:r>
              <a:rPr lang="en-US" sz="2000" dirty="0"/>
              <a:t>This makes the left/right, above/below variation easier to see.</a:t>
            </a:r>
          </a:p>
        </p:txBody>
      </p:sp>
      <p:cxnSp>
        <p:nvCxnSpPr>
          <p:cNvPr id="7" name="Straight Arrow Connector 6"/>
          <p:cNvCxnSpPr/>
          <p:nvPr/>
        </p:nvCxnSpPr>
        <p:spPr>
          <a:xfrm flipH="1" flipV="1">
            <a:off x="2349500" y="2844800"/>
            <a:ext cx="2120900" cy="12700"/>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4597400" y="2857500"/>
            <a:ext cx="2146300" cy="0"/>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832100" y="2277227"/>
            <a:ext cx="4127500" cy="400110"/>
          </a:xfrm>
          <a:prstGeom prst="rect">
            <a:avLst/>
          </a:prstGeom>
          <a:noFill/>
        </p:spPr>
        <p:txBody>
          <a:bodyPr wrap="square" rtlCol="0">
            <a:spAutoFit/>
          </a:bodyPr>
          <a:lstStyle/>
          <a:p>
            <a:r>
              <a:rPr lang="en-US" sz="2000" dirty="0">
                <a:latin typeface="+mj-lt"/>
              </a:rPr>
              <a:t>1) </a:t>
            </a:r>
            <a:r>
              <a:rPr lang="en-US" sz="2000" dirty="0" err="1">
                <a:latin typeface="+mj-lt"/>
              </a:rPr>
              <a:t>Tha</a:t>
            </a:r>
            <a:r>
              <a:rPr lang="en-US" sz="2000" dirty="0">
                <a:latin typeface="+mj-lt"/>
              </a:rPr>
              <a:t> data varies a lot left to right</a:t>
            </a:r>
          </a:p>
        </p:txBody>
      </p:sp>
      <p:sp>
        <p:nvSpPr>
          <p:cNvPr id="12" name="TextBox 11"/>
          <p:cNvSpPr txBox="1"/>
          <p:nvPr/>
        </p:nvSpPr>
        <p:spPr>
          <a:xfrm>
            <a:off x="2832100" y="3037207"/>
            <a:ext cx="4127500" cy="400110"/>
          </a:xfrm>
          <a:prstGeom prst="rect">
            <a:avLst/>
          </a:prstGeom>
          <a:noFill/>
        </p:spPr>
        <p:txBody>
          <a:bodyPr wrap="square" rtlCol="0">
            <a:spAutoFit/>
          </a:bodyPr>
          <a:lstStyle/>
          <a:p>
            <a:r>
              <a:rPr lang="en-US" sz="2000" dirty="0">
                <a:latin typeface="+mj-lt"/>
              </a:rPr>
              <a:t>2) </a:t>
            </a:r>
            <a:r>
              <a:rPr lang="en-US" sz="2000" dirty="0" err="1">
                <a:latin typeface="+mj-lt"/>
              </a:rPr>
              <a:t>Tha</a:t>
            </a:r>
            <a:r>
              <a:rPr lang="en-US" sz="2000" dirty="0">
                <a:latin typeface="+mj-lt"/>
              </a:rPr>
              <a:t> data varies a little up and down</a:t>
            </a:r>
          </a:p>
        </p:txBody>
      </p:sp>
      <p:cxnSp>
        <p:nvCxnSpPr>
          <p:cNvPr id="14" name="Straight Arrow Connector 13"/>
          <p:cNvCxnSpPr/>
          <p:nvPr/>
        </p:nvCxnSpPr>
        <p:spPr>
          <a:xfrm flipV="1">
            <a:off x="6959600" y="2870201"/>
            <a:ext cx="0" cy="377072"/>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6959600" y="3368439"/>
            <a:ext cx="0" cy="378061"/>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628652" y="5164008"/>
            <a:ext cx="8210548" cy="1631216"/>
          </a:xfrm>
          <a:prstGeom prst="rect">
            <a:avLst/>
          </a:prstGeom>
          <a:noFill/>
        </p:spPr>
        <p:txBody>
          <a:bodyPr wrap="square" rtlCol="0">
            <a:spAutoFit/>
          </a:bodyPr>
          <a:lstStyle/>
          <a:p>
            <a:r>
              <a:rPr lang="en-US" sz="2000" dirty="0">
                <a:latin typeface="+mj-lt"/>
              </a:rPr>
              <a:t>Note: All of the points can be drawn in terms of left/right + up/down, just like any other 2-D graph.</a:t>
            </a:r>
          </a:p>
          <a:p>
            <a:endParaRPr lang="en-US" sz="2000" dirty="0">
              <a:latin typeface="+mj-lt"/>
            </a:endParaRPr>
          </a:p>
          <a:p>
            <a:r>
              <a:rPr lang="en-US" sz="2000" dirty="0">
                <a:latin typeface="+mj-lt"/>
              </a:rPr>
              <a:t>That is to say, we do not need another line to describe “diagonal” variation-we’ve already captured the two direction that can have variation.</a:t>
            </a:r>
          </a:p>
        </p:txBody>
      </p:sp>
    </p:spTree>
    <p:extLst>
      <p:ext uri="{BB962C8B-B14F-4D97-AF65-F5344CB8AC3E}">
        <p14:creationId xmlns:p14="http://schemas.microsoft.com/office/powerpoint/2010/main" val="18393794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rot="1678461">
            <a:off x="569275" y="2989265"/>
            <a:ext cx="7462101" cy="4351338"/>
          </a:xfrm>
        </p:spPr>
      </p:pic>
      <p:sp>
        <p:nvSpPr>
          <p:cNvPr id="5" name="Title 4"/>
          <p:cNvSpPr txBox="1">
            <a:spLocks noGrp="1"/>
          </p:cNvSpPr>
          <p:nvPr>
            <p:ph type="title"/>
          </p:nvPr>
        </p:nvSpPr>
        <p:spPr>
          <a:xfrm>
            <a:off x="729287" y="1393880"/>
            <a:ext cx="7886700" cy="757130"/>
          </a:xfrm>
          <a:prstGeom prst="rect">
            <a:avLst/>
          </a:prstGeom>
          <a:noFill/>
        </p:spPr>
        <p:txBody>
          <a:bodyPr wrap="square" rtlCol="0">
            <a:spAutoFit/>
          </a:bodyPr>
          <a:lstStyle/>
          <a:p>
            <a:pPr algn="ctr"/>
            <a:r>
              <a:rPr lang="en-US" sz="2400" dirty="0"/>
              <a:t>These two “new” (or “rotated ”) axes that describe the variation in the data are “Principal Components”</a:t>
            </a:r>
          </a:p>
        </p:txBody>
      </p:sp>
      <p:sp>
        <p:nvSpPr>
          <p:cNvPr id="6" name="Title 4"/>
          <p:cNvSpPr txBox="1">
            <a:spLocks/>
          </p:cNvSpPr>
          <p:nvPr/>
        </p:nvSpPr>
        <p:spPr>
          <a:xfrm>
            <a:off x="729287" y="2473369"/>
            <a:ext cx="7886700" cy="369332"/>
          </a:xfrm>
          <a:prstGeom prst="rect">
            <a:avLst/>
          </a:prstGeom>
          <a:no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000" dirty="0"/>
              <a:t>PC1 (the first principal component) is the axis that spans the most variation.</a:t>
            </a:r>
          </a:p>
        </p:txBody>
      </p:sp>
      <p:cxnSp>
        <p:nvCxnSpPr>
          <p:cNvPr id="8" name="Straight Arrow Connector 7"/>
          <p:cNvCxnSpPr/>
          <p:nvPr/>
        </p:nvCxnSpPr>
        <p:spPr>
          <a:xfrm>
            <a:off x="1005840" y="3017520"/>
            <a:ext cx="1143000" cy="202692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7574280" y="5044440"/>
            <a:ext cx="762000" cy="369332"/>
          </a:xfrm>
          <a:prstGeom prst="rect">
            <a:avLst/>
          </a:prstGeom>
          <a:noFill/>
        </p:spPr>
        <p:txBody>
          <a:bodyPr wrap="square" rtlCol="0">
            <a:spAutoFit/>
          </a:bodyPr>
          <a:lstStyle/>
          <a:p>
            <a:r>
              <a:rPr lang="en-US" dirty="0"/>
              <a:t>PC1</a:t>
            </a:r>
          </a:p>
        </p:txBody>
      </p:sp>
      <p:sp>
        <p:nvSpPr>
          <p:cNvPr id="10" name="TextBox 9"/>
          <p:cNvSpPr txBox="1"/>
          <p:nvPr/>
        </p:nvSpPr>
        <p:spPr>
          <a:xfrm>
            <a:off x="4391765" y="3910841"/>
            <a:ext cx="762000" cy="369332"/>
          </a:xfrm>
          <a:prstGeom prst="rect">
            <a:avLst/>
          </a:prstGeom>
          <a:noFill/>
        </p:spPr>
        <p:txBody>
          <a:bodyPr wrap="square" rtlCol="0">
            <a:spAutoFit/>
          </a:bodyPr>
          <a:lstStyle/>
          <a:p>
            <a:r>
              <a:rPr lang="en-US" dirty="0"/>
              <a:t>PC2</a:t>
            </a:r>
          </a:p>
        </p:txBody>
      </p:sp>
      <p:sp>
        <p:nvSpPr>
          <p:cNvPr id="12" name="TextBox 8"/>
          <p:cNvSpPr txBox="1"/>
          <p:nvPr/>
        </p:nvSpPr>
        <p:spPr>
          <a:xfrm>
            <a:off x="1909823" y="3126147"/>
            <a:ext cx="6217920" cy="40011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000" dirty="0">
                <a:latin typeface="+mj-lt"/>
              </a:rPr>
              <a:t>PC2 </a:t>
            </a:r>
            <a:r>
              <a:rPr lang="en-US" altLang="zh-CN" sz="2000" dirty="0">
                <a:latin typeface="+mj-lt"/>
              </a:rPr>
              <a:t>is the axis that spans the second most variation</a:t>
            </a:r>
            <a:r>
              <a:rPr lang="en-US" altLang="zh-CN" sz="2000" dirty="0"/>
              <a:t>.</a:t>
            </a:r>
            <a:endParaRPr lang="en-US" sz="2000" dirty="0"/>
          </a:p>
        </p:txBody>
      </p:sp>
      <p:cxnSp>
        <p:nvCxnSpPr>
          <p:cNvPr id="14" name="Straight Arrow Connector 13"/>
          <p:cNvCxnSpPr/>
          <p:nvPr/>
        </p:nvCxnSpPr>
        <p:spPr>
          <a:xfrm>
            <a:off x="2270760" y="3613666"/>
            <a:ext cx="2121005" cy="866894"/>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36180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What if we had N cells?</a:t>
            </a:r>
          </a:p>
        </p:txBody>
      </p:sp>
      <p:sp>
        <p:nvSpPr>
          <p:cNvPr id="3" name="Content Placeholder 2"/>
          <p:cNvSpPr>
            <a:spLocks noGrp="1"/>
          </p:cNvSpPr>
          <p:nvPr>
            <p:ph idx="1"/>
          </p:nvPr>
        </p:nvSpPr>
        <p:spPr>
          <a:xfrm>
            <a:off x="628650" y="1825625"/>
            <a:ext cx="8378190" cy="4351338"/>
          </a:xfrm>
        </p:spPr>
        <p:txBody>
          <a:bodyPr>
            <a:normAutofit/>
          </a:bodyPr>
          <a:lstStyle/>
          <a:p>
            <a:r>
              <a:rPr lang="en-US" dirty="0">
                <a:latin typeface="+mj-lt"/>
              </a:rPr>
              <a:t>PC1 would span the direction of the most variation.</a:t>
            </a:r>
          </a:p>
          <a:p>
            <a:r>
              <a:rPr lang="en-US" dirty="0">
                <a:latin typeface="+mj-lt"/>
              </a:rPr>
              <a:t>PC2 would span the direction of the 2</a:t>
            </a:r>
            <a:r>
              <a:rPr lang="en-US" baseline="30000" dirty="0">
                <a:latin typeface="+mj-lt"/>
              </a:rPr>
              <a:t>nd</a:t>
            </a:r>
            <a:r>
              <a:rPr lang="en-US" dirty="0">
                <a:latin typeface="+mj-lt"/>
              </a:rPr>
              <a:t> most variation.</a:t>
            </a:r>
          </a:p>
          <a:p>
            <a:r>
              <a:rPr lang="en-US" dirty="0">
                <a:latin typeface="+mj-lt"/>
              </a:rPr>
              <a:t>PC3 would span the direction of the 3</a:t>
            </a:r>
            <a:r>
              <a:rPr lang="en-US" baseline="30000" dirty="0">
                <a:latin typeface="+mj-lt"/>
              </a:rPr>
              <a:t>rd</a:t>
            </a:r>
            <a:r>
              <a:rPr lang="en-US" dirty="0">
                <a:latin typeface="+mj-lt"/>
              </a:rPr>
              <a:t> most variation.</a:t>
            </a:r>
          </a:p>
          <a:p>
            <a:r>
              <a:rPr lang="en-US" dirty="0">
                <a:latin typeface="+mj-lt"/>
              </a:rPr>
              <a:t>PC4 would span the direction of the 4</a:t>
            </a:r>
            <a:r>
              <a:rPr lang="en-US" baseline="30000" dirty="0">
                <a:latin typeface="+mj-lt"/>
              </a:rPr>
              <a:t>th</a:t>
            </a:r>
            <a:r>
              <a:rPr lang="en-US" dirty="0">
                <a:latin typeface="+mj-lt"/>
              </a:rPr>
              <a:t> most variation.</a:t>
            </a:r>
          </a:p>
          <a:p>
            <a:endParaRPr lang="en-US" sz="2400" dirty="0"/>
          </a:p>
          <a:p>
            <a:endParaRPr lang="en-US" sz="2400" dirty="0"/>
          </a:p>
          <a:p>
            <a:pPr marL="0" indent="0">
              <a:buNone/>
            </a:pPr>
            <a:r>
              <a:rPr lang="en-US" sz="2400" dirty="0">
                <a:latin typeface="+mj-lt"/>
              </a:rPr>
              <a:t>     There is a principal component for each dimension (cell).</a:t>
            </a:r>
          </a:p>
          <a:p>
            <a:pPr marL="0" indent="0">
              <a:buNone/>
            </a:pPr>
            <a:r>
              <a:rPr lang="en-US" sz="2400" dirty="0">
                <a:latin typeface="+mj-lt"/>
              </a:rPr>
              <a:t>      If we had 200 cells, we would have 200 principal components.</a:t>
            </a:r>
          </a:p>
          <a:p>
            <a:pPr marL="0" indent="0">
              <a:buNone/>
            </a:pPr>
            <a:r>
              <a:rPr lang="en-US" sz="2400" dirty="0">
                <a:latin typeface="+mj-lt"/>
              </a:rPr>
              <a:t>      PCN would span the direction of the N</a:t>
            </a:r>
            <a:r>
              <a:rPr lang="en-US" sz="2400" baseline="30000" dirty="0">
                <a:latin typeface="+mj-lt"/>
              </a:rPr>
              <a:t>th</a:t>
            </a:r>
            <a:r>
              <a:rPr lang="en-US" sz="2400" dirty="0">
                <a:latin typeface="+mj-lt"/>
              </a:rPr>
              <a:t> most variation.</a:t>
            </a:r>
          </a:p>
        </p:txBody>
      </p:sp>
    </p:spTree>
    <p:extLst>
      <p:ext uri="{BB962C8B-B14F-4D97-AF65-F5344CB8AC3E}">
        <p14:creationId xmlns:p14="http://schemas.microsoft.com/office/powerpoint/2010/main" val="32682264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75360" y="1071854"/>
            <a:ext cx="7886700" cy="4238832"/>
          </a:xfrm>
        </p:spPr>
      </p:pic>
      <p:sp>
        <p:nvSpPr>
          <p:cNvPr id="5" name="Oval 4"/>
          <p:cNvSpPr/>
          <p:nvPr/>
        </p:nvSpPr>
        <p:spPr>
          <a:xfrm>
            <a:off x="4572000" y="4975406"/>
            <a:ext cx="975360" cy="335280"/>
          </a:xfrm>
          <a:prstGeom prst="ellipse">
            <a:avLst/>
          </a:prstGeom>
          <a:solidFill>
            <a:schemeClr val="bg1">
              <a:alpha val="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rot="5400000">
            <a:off x="655320" y="2901040"/>
            <a:ext cx="975360" cy="335280"/>
          </a:xfrm>
          <a:prstGeom prst="ellipse">
            <a:avLst/>
          </a:prstGeom>
          <a:solidFill>
            <a:schemeClr val="bg1">
              <a:alpha val="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2708910" y="5432676"/>
            <a:ext cx="4754880" cy="707886"/>
          </a:xfrm>
          <a:prstGeom prst="rect">
            <a:avLst/>
          </a:prstGeom>
          <a:noFill/>
        </p:spPr>
        <p:txBody>
          <a:bodyPr wrap="square" rtlCol="0">
            <a:spAutoFit/>
          </a:bodyPr>
          <a:lstStyle/>
          <a:p>
            <a:r>
              <a:rPr lang="en-US" sz="2000" dirty="0"/>
              <a:t>PC1- the direction of the most variation in gene expression.</a:t>
            </a:r>
          </a:p>
        </p:txBody>
      </p:sp>
      <p:sp>
        <p:nvSpPr>
          <p:cNvPr id="8" name="TextBox 7"/>
          <p:cNvSpPr txBox="1"/>
          <p:nvPr/>
        </p:nvSpPr>
        <p:spPr>
          <a:xfrm>
            <a:off x="360648" y="3633304"/>
            <a:ext cx="906780" cy="2554545"/>
          </a:xfrm>
          <a:prstGeom prst="rect">
            <a:avLst/>
          </a:prstGeom>
          <a:noFill/>
        </p:spPr>
        <p:txBody>
          <a:bodyPr wrap="square" rtlCol="0">
            <a:spAutoFit/>
          </a:bodyPr>
          <a:lstStyle/>
          <a:p>
            <a:r>
              <a:rPr lang="en-US" sz="2000" dirty="0"/>
              <a:t>PC2- the 2</a:t>
            </a:r>
            <a:r>
              <a:rPr lang="en-US" sz="2000" baseline="30000" dirty="0"/>
              <a:t>nd</a:t>
            </a:r>
            <a:r>
              <a:rPr lang="en-US" sz="2000" dirty="0"/>
              <a:t> most variation in gene expression.</a:t>
            </a:r>
          </a:p>
        </p:txBody>
      </p:sp>
    </p:spTree>
    <p:extLst>
      <p:ext uri="{BB962C8B-B14F-4D97-AF65-F5344CB8AC3E}">
        <p14:creationId xmlns:p14="http://schemas.microsoft.com/office/powerpoint/2010/main" val="7840357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sz="4000" dirty="0"/>
              <a:t>But this is a plot of cells, not genes? How do we plot cells?</a:t>
            </a:r>
            <a:endParaRPr lang="en-US" sz="40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8650" y="1881878"/>
            <a:ext cx="7886700" cy="4238832"/>
          </a:xfrm>
        </p:spPr>
      </p:pic>
    </p:spTree>
    <p:extLst>
      <p:ext uri="{BB962C8B-B14F-4D97-AF65-F5344CB8AC3E}">
        <p14:creationId xmlns:p14="http://schemas.microsoft.com/office/powerpoint/2010/main" val="7801143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2303219" y="2737714"/>
            <a:ext cx="25052" cy="290603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2315745" y="5643752"/>
            <a:ext cx="561166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694058" y="3503135"/>
            <a:ext cx="1422031" cy="646331"/>
          </a:xfrm>
          <a:prstGeom prst="rect">
            <a:avLst/>
          </a:prstGeom>
          <a:noFill/>
        </p:spPr>
        <p:txBody>
          <a:bodyPr wrap="square" rtlCol="0">
            <a:spAutoFit/>
          </a:bodyPr>
          <a:lstStyle/>
          <a:p>
            <a:pPr algn="ctr"/>
            <a:r>
              <a:rPr lang="en-US" altLang="zh-CN" dirty="0"/>
              <a:t>Cell 2</a:t>
            </a:r>
          </a:p>
          <a:p>
            <a:pPr algn="ctr"/>
            <a:r>
              <a:rPr lang="en-US" altLang="zh-CN" dirty="0"/>
              <a:t>Read Counts</a:t>
            </a:r>
            <a:endParaRPr lang="en-US" dirty="0"/>
          </a:p>
        </p:txBody>
      </p:sp>
      <p:sp>
        <p:nvSpPr>
          <p:cNvPr id="7" name="TextBox 6"/>
          <p:cNvSpPr txBox="1"/>
          <p:nvPr/>
        </p:nvSpPr>
        <p:spPr>
          <a:xfrm>
            <a:off x="4592349" y="5919840"/>
            <a:ext cx="1422031" cy="646331"/>
          </a:xfrm>
          <a:prstGeom prst="rect">
            <a:avLst/>
          </a:prstGeom>
          <a:noFill/>
        </p:spPr>
        <p:txBody>
          <a:bodyPr wrap="square" rtlCol="0">
            <a:spAutoFit/>
          </a:bodyPr>
          <a:lstStyle/>
          <a:p>
            <a:pPr algn="ctr"/>
            <a:r>
              <a:rPr lang="en-US" altLang="zh-CN" dirty="0"/>
              <a:t>Cell 1</a:t>
            </a:r>
          </a:p>
          <a:p>
            <a:pPr algn="ctr"/>
            <a:r>
              <a:rPr lang="en-US" altLang="zh-CN" dirty="0"/>
              <a:t>Read Counts</a:t>
            </a:r>
            <a:endParaRPr lang="en-US" dirty="0"/>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6925" y="2399822"/>
            <a:ext cx="5829300" cy="3486150"/>
          </a:xfrm>
          <a:prstGeom prst="rect">
            <a:avLst/>
          </a:prstGeom>
        </p:spPr>
      </p:pic>
      <p:cxnSp>
        <p:nvCxnSpPr>
          <p:cNvPr id="26" name="Straight Connector 25"/>
          <p:cNvCxnSpPr/>
          <p:nvPr/>
        </p:nvCxnSpPr>
        <p:spPr>
          <a:xfrm>
            <a:off x="2300505" y="5770621"/>
            <a:ext cx="561166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V="1">
            <a:off x="2300505" y="2514600"/>
            <a:ext cx="27766" cy="325602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lowchart: Connector 28"/>
          <p:cNvSpPr/>
          <p:nvPr/>
        </p:nvSpPr>
        <p:spPr>
          <a:xfrm>
            <a:off x="2250899" y="5675541"/>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lowchart: Connector 29"/>
          <p:cNvSpPr/>
          <p:nvPr/>
        </p:nvSpPr>
        <p:spPr>
          <a:xfrm>
            <a:off x="2809699" y="5481138"/>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lowchart: Connector 30"/>
          <p:cNvSpPr/>
          <p:nvPr/>
        </p:nvSpPr>
        <p:spPr>
          <a:xfrm>
            <a:off x="3029832" y="5420365"/>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lowchart: Connector 31"/>
          <p:cNvSpPr/>
          <p:nvPr/>
        </p:nvSpPr>
        <p:spPr>
          <a:xfrm>
            <a:off x="4079699" y="4285831"/>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lowchart: Connector 32"/>
          <p:cNvSpPr/>
          <p:nvPr/>
        </p:nvSpPr>
        <p:spPr>
          <a:xfrm>
            <a:off x="4680832" y="4107108"/>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lowchart: Connector 33"/>
          <p:cNvSpPr/>
          <p:nvPr/>
        </p:nvSpPr>
        <p:spPr>
          <a:xfrm>
            <a:off x="6630770" y="3406773"/>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lowchart: Connector 34"/>
          <p:cNvSpPr/>
          <p:nvPr/>
        </p:nvSpPr>
        <p:spPr>
          <a:xfrm>
            <a:off x="5544431" y="4122952"/>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lowchart: Connector 35"/>
          <p:cNvSpPr/>
          <p:nvPr/>
        </p:nvSpPr>
        <p:spPr>
          <a:xfrm>
            <a:off x="5006071" y="4379013"/>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lowchart: Connector 36"/>
          <p:cNvSpPr/>
          <p:nvPr/>
        </p:nvSpPr>
        <p:spPr>
          <a:xfrm>
            <a:off x="7445524" y="2832342"/>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Arrow Connector 38"/>
          <p:cNvCxnSpPr/>
          <p:nvPr/>
        </p:nvCxnSpPr>
        <p:spPr>
          <a:xfrm flipV="1">
            <a:off x="2552700" y="2900123"/>
            <a:ext cx="5114925" cy="2648796"/>
          </a:xfrm>
          <a:prstGeom prst="straightConnector1">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2705588" y="1073489"/>
            <a:ext cx="4844501" cy="461665"/>
          </a:xfrm>
          <a:prstGeom prst="rect">
            <a:avLst/>
          </a:prstGeom>
          <a:noFill/>
        </p:spPr>
        <p:txBody>
          <a:bodyPr wrap="square" rtlCol="0">
            <a:spAutoFit/>
          </a:bodyPr>
          <a:lstStyle/>
          <a:p>
            <a:pPr algn="ctr"/>
            <a:r>
              <a:rPr lang="en-US" sz="2400" dirty="0">
                <a:latin typeface="+mj-lt"/>
              </a:rPr>
              <a:t>Back to the original scatter plot…</a:t>
            </a:r>
          </a:p>
        </p:txBody>
      </p:sp>
      <p:cxnSp>
        <p:nvCxnSpPr>
          <p:cNvPr id="3" name="Straight Arrow Connector 2"/>
          <p:cNvCxnSpPr/>
          <p:nvPr/>
        </p:nvCxnSpPr>
        <p:spPr>
          <a:xfrm rot="5400000" flipV="1">
            <a:off x="4205694" y="3757135"/>
            <a:ext cx="1674406" cy="869589"/>
          </a:xfrm>
          <a:prstGeom prst="straightConnector1">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4176156" y="2737714"/>
            <a:ext cx="829915" cy="369332"/>
          </a:xfrm>
          <a:prstGeom prst="rect">
            <a:avLst/>
          </a:prstGeom>
          <a:noFill/>
        </p:spPr>
        <p:txBody>
          <a:bodyPr wrap="square" rtlCol="0">
            <a:spAutoFit/>
          </a:bodyPr>
          <a:lstStyle/>
          <a:p>
            <a:r>
              <a:rPr lang="en-US" dirty="0"/>
              <a:t>PC2</a:t>
            </a:r>
          </a:p>
        </p:txBody>
      </p:sp>
      <p:sp>
        <p:nvSpPr>
          <p:cNvPr id="23" name="TextBox 22"/>
          <p:cNvSpPr txBox="1"/>
          <p:nvPr/>
        </p:nvSpPr>
        <p:spPr>
          <a:xfrm>
            <a:off x="7722646" y="2572811"/>
            <a:ext cx="829915" cy="369332"/>
          </a:xfrm>
          <a:prstGeom prst="rect">
            <a:avLst/>
          </a:prstGeom>
          <a:noFill/>
        </p:spPr>
        <p:txBody>
          <a:bodyPr wrap="square" rtlCol="0">
            <a:spAutoFit/>
          </a:bodyPr>
          <a:lstStyle/>
          <a:p>
            <a:r>
              <a:rPr lang="en-US" dirty="0"/>
              <a:t>PC1</a:t>
            </a:r>
          </a:p>
        </p:txBody>
      </p:sp>
    </p:spTree>
    <p:extLst>
      <p:ext uri="{BB962C8B-B14F-4D97-AF65-F5344CB8AC3E}">
        <p14:creationId xmlns:p14="http://schemas.microsoft.com/office/powerpoint/2010/main" val="41511330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2303219" y="2737714"/>
            <a:ext cx="25052" cy="290603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2315745" y="5643752"/>
            <a:ext cx="561166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694058" y="3503135"/>
            <a:ext cx="1422031" cy="646331"/>
          </a:xfrm>
          <a:prstGeom prst="rect">
            <a:avLst/>
          </a:prstGeom>
          <a:noFill/>
        </p:spPr>
        <p:txBody>
          <a:bodyPr wrap="square" rtlCol="0">
            <a:spAutoFit/>
          </a:bodyPr>
          <a:lstStyle/>
          <a:p>
            <a:pPr algn="ctr"/>
            <a:r>
              <a:rPr lang="en-US" altLang="zh-CN" dirty="0"/>
              <a:t>Cell 2</a:t>
            </a:r>
          </a:p>
          <a:p>
            <a:pPr algn="ctr"/>
            <a:r>
              <a:rPr lang="en-US" altLang="zh-CN" dirty="0"/>
              <a:t>Read Counts</a:t>
            </a:r>
            <a:endParaRPr lang="en-US" dirty="0"/>
          </a:p>
        </p:txBody>
      </p:sp>
      <p:sp>
        <p:nvSpPr>
          <p:cNvPr id="7" name="TextBox 6"/>
          <p:cNvSpPr txBox="1"/>
          <p:nvPr/>
        </p:nvSpPr>
        <p:spPr>
          <a:xfrm>
            <a:off x="4592349" y="5919840"/>
            <a:ext cx="1422031" cy="646331"/>
          </a:xfrm>
          <a:prstGeom prst="rect">
            <a:avLst/>
          </a:prstGeom>
          <a:noFill/>
        </p:spPr>
        <p:txBody>
          <a:bodyPr wrap="square" rtlCol="0">
            <a:spAutoFit/>
          </a:bodyPr>
          <a:lstStyle/>
          <a:p>
            <a:pPr algn="ctr"/>
            <a:r>
              <a:rPr lang="en-US" altLang="zh-CN" dirty="0"/>
              <a:t>Cell 1</a:t>
            </a:r>
          </a:p>
          <a:p>
            <a:pPr algn="ctr"/>
            <a:r>
              <a:rPr lang="en-US" altLang="zh-CN" dirty="0"/>
              <a:t>Read Counts</a:t>
            </a:r>
            <a:endParaRPr lang="en-US" dirty="0"/>
          </a:p>
        </p:txBody>
      </p:sp>
      <p:pic>
        <p:nvPicPr>
          <p:cNvPr id="24" name="Picture 2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6925" y="2399822"/>
            <a:ext cx="5829300" cy="3486150"/>
          </a:xfrm>
          <a:prstGeom prst="rect">
            <a:avLst/>
          </a:prstGeom>
        </p:spPr>
      </p:pic>
      <p:cxnSp>
        <p:nvCxnSpPr>
          <p:cNvPr id="26" name="Straight Connector 25"/>
          <p:cNvCxnSpPr/>
          <p:nvPr/>
        </p:nvCxnSpPr>
        <p:spPr>
          <a:xfrm>
            <a:off x="2300505" y="5770621"/>
            <a:ext cx="561166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V="1">
            <a:off x="2300505" y="2514600"/>
            <a:ext cx="27766" cy="325602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lowchart: Connector 28"/>
          <p:cNvSpPr/>
          <p:nvPr/>
        </p:nvSpPr>
        <p:spPr>
          <a:xfrm>
            <a:off x="2250899" y="5675541"/>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lowchart: Connector 29"/>
          <p:cNvSpPr/>
          <p:nvPr/>
        </p:nvSpPr>
        <p:spPr>
          <a:xfrm>
            <a:off x="2809699" y="5481138"/>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lowchart: Connector 30"/>
          <p:cNvSpPr/>
          <p:nvPr/>
        </p:nvSpPr>
        <p:spPr>
          <a:xfrm>
            <a:off x="3029832" y="5420365"/>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lowchart: Connector 31"/>
          <p:cNvSpPr/>
          <p:nvPr/>
        </p:nvSpPr>
        <p:spPr>
          <a:xfrm>
            <a:off x="4079699" y="4285831"/>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lowchart: Connector 32"/>
          <p:cNvSpPr/>
          <p:nvPr/>
        </p:nvSpPr>
        <p:spPr>
          <a:xfrm>
            <a:off x="4680832" y="4107108"/>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lowchart: Connector 33"/>
          <p:cNvSpPr/>
          <p:nvPr/>
        </p:nvSpPr>
        <p:spPr>
          <a:xfrm>
            <a:off x="6630770" y="3406773"/>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lowchart: Connector 34"/>
          <p:cNvSpPr/>
          <p:nvPr/>
        </p:nvSpPr>
        <p:spPr>
          <a:xfrm>
            <a:off x="5544431" y="4122952"/>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lowchart: Connector 35"/>
          <p:cNvSpPr/>
          <p:nvPr/>
        </p:nvSpPr>
        <p:spPr>
          <a:xfrm>
            <a:off x="5006071" y="4379013"/>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lowchart: Connector 36"/>
          <p:cNvSpPr/>
          <p:nvPr/>
        </p:nvSpPr>
        <p:spPr>
          <a:xfrm>
            <a:off x="7445524" y="2832342"/>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Arrow Connector 38"/>
          <p:cNvCxnSpPr/>
          <p:nvPr/>
        </p:nvCxnSpPr>
        <p:spPr>
          <a:xfrm flipV="1">
            <a:off x="2552700" y="2900123"/>
            <a:ext cx="5114925" cy="2648796"/>
          </a:xfrm>
          <a:prstGeom prst="straightConnector1">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2601023" y="1179122"/>
            <a:ext cx="5291031" cy="830997"/>
          </a:xfrm>
          <a:prstGeom prst="rect">
            <a:avLst/>
          </a:prstGeom>
          <a:noFill/>
        </p:spPr>
        <p:txBody>
          <a:bodyPr wrap="square" rtlCol="0">
            <a:spAutoFit/>
          </a:bodyPr>
          <a:lstStyle/>
          <a:p>
            <a:pPr algn="ctr"/>
            <a:r>
              <a:rPr lang="en-US" sz="2400" dirty="0">
                <a:latin typeface="+mj-lt"/>
              </a:rPr>
              <a:t>The length and direction of PC1 is mostly determined by the circled genes.</a:t>
            </a:r>
          </a:p>
        </p:txBody>
      </p:sp>
      <p:sp>
        <p:nvSpPr>
          <p:cNvPr id="2" name="Flowchart: Connector 1"/>
          <p:cNvSpPr/>
          <p:nvPr/>
        </p:nvSpPr>
        <p:spPr>
          <a:xfrm>
            <a:off x="2179440" y="4875135"/>
            <a:ext cx="1052295" cy="1158240"/>
          </a:xfrm>
          <a:prstGeom prst="flowChartConnector">
            <a:avLst/>
          </a:prstGeom>
          <a:solidFill>
            <a:schemeClr val="accent1">
              <a:alpha val="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lowchart: Connector 20"/>
          <p:cNvSpPr/>
          <p:nvPr/>
        </p:nvSpPr>
        <p:spPr>
          <a:xfrm>
            <a:off x="6706166" y="2514600"/>
            <a:ext cx="1052295" cy="1158240"/>
          </a:xfrm>
          <a:prstGeom prst="flowChartConnector">
            <a:avLst/>
          </a:prstGeom>
          <a:solidFill>
            <a:schemeClr val="accent1">
              <a:alpha val="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7892054" y="2647676"/>
            <a:ext cx="936249" cy="369332"/>
          </a:xfrm>
          <a:prstGeom prst="rect">
            <a:avLst/>
          </a:prstGeom>
          <a:noFill/>
        </p:spPr>
        <p:txBody>
          <a:bodyPr wrap="square" rtlCol="0">
            <a:spAutoFit/>
          </a:bodyPr>
          <a:lstStyle/>
          <a:p>
            <a:r>
              <a:rPr lang="en-US" dirty="0"/>
              <a:t>PC1</a:t>
            </a:r>
          </a:p>
        </p:txBody>
      </p:sp>
    </p:spTree>
    <p:extLst>
      <p:ext uri="{BB962C8B-B14F-4D97-AF65-F5344CB8AC3E}">
        <p14:creationId xmlns:p14="http://schemas.microsoft.com/office/powerpoint/2010/main" val="1894908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2103844"/>
            <a:ext cx="5105400" cy="3114675"/>
          </a:xfrm>
        </p:spPr>
      </p:pic>
      <p:sp>
        <p:nvSpPr>
          <p:cNvPr id="6" name="TextBox 5"/>
          <p:cNvSpPr txBox="1"/>
          <p:nvPr/>
        </p:nvSpPr>
        <p:spPr>
          <a:xfrm>
            <a:off x="865324" y="1381313"/>
            <a:ext cx="3374751" cy="1015663"/>
          </a:xfrm>
          <a:prstGeom prst="rect">
            <a:avLst/>
          </a:prstGeom>
          <a:noFill/>
        </p:spPr>
        <p:txBody>
          <a:bodyPr wrap="square" rtlCol="0">
            <a:spAutoFit/>
          </a:bodyPr>
          <a:lstStyle/>
          <a:p>
            <a:pPr algn="ctr"/>
            <a:r>
              <a:rPr lang="en-US" sz="2000" dirty="0">
                <a:latin typeface="+mj-lt"/>
              </a:rPr>
              <a:t>The length and direction of PC1 is mostly determined by the circled genes.</a:t>
            </a:r>
          </a:p>
        </p:txBody>
      </p:sp>
      <p:graphicFrame>
        <p:nvGraphicFramePr>
          <p:cNvPr id="7" name="Table 6"/>
          <p:cNvGraphicFramePr>
            <a:graphicFrameLocks noGrp="1"/>
          </p:cNvGraphicFramePr>
          <p:nvPr>
            <p:extLst>
              <p:ext uri="{D42A27DB-BD31-4B8C-83A1-F6EECF244321}">
                <p14:modId xmlns:p14="http://schemas.microsoft.com/office/powerpoint/2010/main" val="117319415"/>
              </p:ext>
            </p:extLst>
          </p:nvPr>
        </p:nvGraphicFramePr>
        <p:xfrm>
          <a:off x="5088241" y="1847216"/>
          <a:ext cx="3977699" cy="3200400"/>
        </p:xfrm>
        <a:graphic>
          <a:graphicData uri="http://schemas.openxmlformats.org/drawingml/2006/table">
            <a:tbl>
              <a:tblPr firstRow="1" bandRow="1">
                <a:tableStyleId>{5C22544A-7EE6-4342-B048-85BDC9FD1C3A}</a:tableStyleId>
              </a:tblPr>
              <a:tblGrid>
                <a:gridCol w="757175">
                  <a:extLst>
                    <a:ext uri="{9D8B030D-6E8A-4147-A177-3AD203B41FA5}">
                      <a16:colId xmlns:a16="http://schemas.microsoft.com/office/drawing/2014/main" val="1891813145"/>
                    </a:ext>
                  </a:extLst>
                </a:gridCol>
                <a:gridCol w="1610262">
                  <a:extLst>
                    <a:ext uri="{9D8B030D-6E8A-4147-A177-3AD203B41FA5}">
                      <a16:colId xmlns:a16="http://schemas.microsoft.com/office/drawing/2014/main" val="673073740"/>
                    </a:ext>
                  </a:extLst>
                </a:gridCol>
                <a:gridCol w="1610262">
                  <a:extLst>
                    <a:ext uri="{9D8B030D-6E8A-4147-A177-3AD203B41FA5}">
                      <a16:colId xmlns:a16="http://schemas.microsoft.com/office/drawing/2014/main" val="138586838"/>
                    </a:ext>
                  </a:extLst>
                </a:gridCol>
              </a:tblGrid>
              <a:tr h="640080">
                <a:tc>
                  <a:txBody>
                    <a:bodyPr/>
                    <a:lstStyle/>
                    <a:p>
                      <a:r>
                        <a:rPr lang="en-US" dirty="0"/>
                        <a:t>Gene</a:t>
                      </a:r>
                    </a:p>
                  </a:txBody>
                  <a:tcPr/>
                </a:tc>
                <a:tc>
                  <a:txBody>
                    <a:bodyPr/>
                    <a:lstStyle/>
                    <a:p>
                      <a:r>
                        <a:rPr lang="en-US" dirty="0"/>
                        <a:t>Influence</a:t>
                      </a:r>
                      <a:r>
                        <a:rPr lang="en-US" baseline="0" dirty="0"/>
                        <a:t> of PC1</a:t>
                      </a:r>
                      <a:endParaRPr lang="en-US" dirty="0"/>
                    </a:p>
                  </a:txBody>
                  <a:tcPr/>
                </a:tc>
                <a:tc>
                  <a:txBody>
                    <a:bodyPr/>
                    <a:lstStyle/>
                    <a:p>
                      <a:r>
                        <a:rPr lang="en-US" dirty="0"/>
                        <a:t>In numbers</a:t>
                      </a:r>
                    </a:p>
                  </a:txBody>
                  <a:tcPr/>
                </a:tc>
                <a:extLst>
                  <a:ext uri="{0D108BD9-81ED-4DB2-BD59-A6C34878D82A}">
                    <a16:rowId xmlns:a16="http://schemas.microsoft.com/office/drawing/2014/main" val="1743231851"/>
                  </a:ext>
                </a:extLst>
              </a:tr>
              <a:tr h="365760">
                <a:tc>
                  <a:txBody>
                    <a:bodyPr/>
                    <a:lstStyle/>
                    <a:p>
                      <a:r>
                        <a:rPr lang="en-US" dirty="0"/>
                        <a:t>A</a:t>
                      </a:r>
                    </a:p>
                  </a:txBody>
                  <a:tcPr/>
                </a:tc>
                <a:tc>
                  <a:txBody>
                    <a:bodyPr/>
                    <a:lstStyle/>
                    <a:p>
                      <a:r>
                        <a:rPr lang="en-US" dirty="0"/>
                        <a:t>High</a:t>
                      </a:r>
                    </a:p>
                  </a:txBody>
                  <a:tcPr/>
                </a:tc>
                <a:tc>
                  <a:txBody>
                    <a:bodyPr/>
                    <a:lstStyle/>
                    <a:p>
                      <a:r>
                        <a:rPr lang="en-US" dirty="0"/>
                        <a:t>10</a:t>
                      </a:r>
                    </a:p>
                  </a:txBody>
                  <a:tcPr/>
                </a:tc>
                <a:extLst>
                  <a:ext uri="{0D108BD9-81ED-4DB2-BD59-A6C34878D82A}">
                    <a16:rowId xmlns:a16="http://schemas.microsoft.com/office/drawing/2014/main" val="1031649394"/>
                  </a:ext>
                </a:extLst>
              </a:tr>
              <a:tr h="365760">
                <a:tc>
                  <a:txBody>
                    <a:bodyPr/>
                    <a:lstStyle/>
                    <a:p>
                      <a:r>
                        <a:rPr lang="en-US" dirty="0"/>
                        <a:t>B</a:t>
                      </a:r>
                    </a:p>
                  </a:txBody>
                  <a:tcPr/>
                </a:tc>
                <a:tc>
                  <a:txBody>
                    <a:bodyPr/>
                    <a:lstStyle/>
                    <a:p>
                      <a:r>
                        <a:rPr lang="en-US" dirty="0"/>
                        <a:t>Low</a:t>
                      </a:r>
                    </a:p>
                  </a:txBody>
                  <a:tcPr/>
                </a:tc>
                <a:tc>
                  <a:txBody>
                    <a:bodyPr/>
                    <a:lstStyle/>
                    <a:p>
                      <a:r>
                        <a:rPr lang="en-US" dirty="0"/>
                        <a:t>0.5</a:t>
                      </a:r>
                    </a:p>
                  </a:txBody>
                  <a:tcPr/>
                </a:tc>
                <a:extLst>
                  <a:ext uri="{0D108BD9-81ED-4DB2-BD59-A6C34878D82A}">
                    <a16:rowId xmlns:a16="http://schemas.microsoft.com/office/drawing/2014/main" val="2216241686"/>
                  </a:ext>
                </a:extLst>
              </a:tr>
              <a:tr h="365760">
                <a:tc>
                  <a:txBody>
                    <a:bodyPr/>
                    <a:lstStyle/>
                    <a:p>
                      <a:r>
                        <a:rPr lang="en-US" dirty="0"/>
                        <a:t>C</a:t>
                      </a:r>
                    </a:p>
                  </a:txBody>
                  <a:tcPr/>
                </a:tc>
                <a:tc>
                  <a:txBody>
                    <a:bodyPr/>
                    <a:lstStyle/>
                    <a:p>
                      <a:r>
                        <a:rPr lang="en-US" dirty="0"/>
                        <a:t>Medium</a:t>
                      </a:r>
                    </a:p>
                  </a:txBody>
                  <a:tcPr/>
                </a:tc>
                <a:tc>
                  <a:txBody>
                    <a:bodyPr/>
                    <a:lstStyle/>
                    <a:p>
                      <a:r>
                        <a:rPr lang="en-US" dirty="0"/>
                        <a:t>3</a:t>
                      </a:r>
                    </a:p>
                  </a:txBody>
                  <a:tcPr/>
                </a:tc>
                <a:extLst>
                  <a:ext uri="{0D108BD9-81ED-4DB2-BD59-A6C34878D82A}">
                    <a16:rowId xmlns:a16="http://schemas.microsoft.com/office/drawing/2014/main" val="3978786904"/>
                  </a:ext>
                </a:extLst>
              </a:tr>
              <a:tr h="365760">
                <a:tc>
                  <a:txBody>
                    <a:bodyPr/>
                    <a:lstStyle/>
                    <a:p>
                      <a:r>
                        <a:rPr lang="en-US" dirty="0"/>
                        <a:t>D</a:t>
                      </a:r>
                    </a:p>
                  </a:txBody>
                  <a:tcPr/>
                </a:tc>
                <a:tc>
                  <a:txBody>
                    <a:bodyPr/>
                    <a:lstStyle/>
                    <a:p>
                      <a:r>
                        <a:rPr lang="en-US" dirty="0"/>
                        <a:t>Low</a:t>
                      </a:r>
                    </a:p>
                  </a:txBody>
                  <a:tcPr/>
                </a:tc>
                <a:tc>
                  <a:txBody>
                    <a:bodyPr/>
                    <a:lstStyle/>
                    <a:p>
                      <a:r>
                        <a:rPr lang="en-US" dirty="0"/>
                        <a:t>-0.2</a:t>
                      </a:r>
                    </a:p>
                  </a:txBody>
                  <a:tcPr/>
                </a:tc>
                <a:extLst>
                  <a:ext uri="{0D108BD9-81ED-4DB2-BD59-A6C34878D82A}">
                    <a16:rowId xmlns:a16="http://schemas.microsoft.com/office/drawing/2014/main" val="393395498"/>
                  </a:ext>
                </a:extLst>
              </a:tr>
              <a:tr h="365760">
                <a:tc>
                  <a:txBody>
                    <a:bodyPr/>
                    <a:lstStyle/>
                    <a:p>
                      <a:r>
                        <a:rPr lang="en-US" dirty="0"/>
                        <a:t>E</a:t>
                      </a:r>
                    </a:p>
                  </a:txBody>
                  <a:tcPr/>
                </a:tc>
                <a:tc>
                  <a:txBody>
                    <a:bodyPr/>
                    <a:lstStyle/>
                    <a:p>
                      <a:r>
                        <a:rPr lang="en-US" dirty="0"/>
                        <a:t>High</a:t>
                      </a:r>
                    </a:p>
                  </a:txBody>
                  <a:tcPr/>
                </a:tc>
                <a:tc>
                  <a:txBody>
                    <a:bodyPr/>
                    <a:lstStyle/>
                    <a:p>
                      <a:r>
                        <a:rPr lang="en-US" dirty="0"/>
                        <a:t>13</a:t>
                      </a:r>
                    </a:p>
                  </a:txBody>
                  <a:tcPr/>
                </a:tc>
                <a:extLst>
                  <a:ext uri="{0D108BD9-81ED-4DB2-BD59-A6C34878D82A}">
                    <a16:rowId xmlns:a16="http://schemas.microsoft.com/office/drawing/2014/main" val="2392050095"/>
                  </a:ext>
                </a:extLst>
              </a:tr>
              <a:tr h="365760">
                <a:tc>
                  <a:txBody>
                    <a:bodyPr/>
                    <a:lstStyle/>
                    <a:p>
                      <a:r>
                        <a:rPr lang="en-US" dirty="0"/>
                        <a:t>F</a:t>
                      </a:r>
                    </a:p>
                  </a:txBody>
                  <a:tcPr/>
                </a:tc>
                <a:tc>
                  <a:txBody>
                    <a:bodyPr/>
                    <a:lstStyle/>
                    <a:p>
                      <a:r>
                        <a:rPr lang="en-US" dirty="0"/>
                        <a:t>High</a:t>
                      </a:r>
                    </a:p>
                  </a:txBody>
                  <a:tcPr/>
                </a:tc>
                <a:tc>
                  <a:txBody>
                    <a:bodyPr/>
                    <a:lstStyle/>
                    <a:p>
                      <a:r>
                        <a:rPr lang="en-US" dirty="0"/>
                        <a:t>-14</a:t>
                      </a:r>
                    </a:p>
                  </a:txBody>
                  <a:tcPr/>
                </a:tc>
                <a:extLst>
                  <a:ext uri="{0D108BD9-81ED-4DB2-BD59-A6C34878D82A}">
                    <a16:rowId xmlns:a16="http://schemas.microsoft.com/office/drawing/2014/main" val="3444964250"/>
                  </a:ext>
                </a:extLst>
              </a:tr>
              <a:tr h="365760">
                <a:tc>
                  <a:txBody>
                    <a:bodyPr/>
                    <a:lstStyle/>
                    <a:p>
                      <a:r>
                        <a:rPr lang="en-US" dirty="0"/>
                        <a:t>…</a:t>
                      </a:r>
                    </a:p>
                  </a:txBody>
                  <a:tcPr/>
                </a:tc>
                <a:tc>
                  <a:txBody>
                    <a:bodyPr/>
                    <a:lstStyle/>
                    <a:p>
                      <a:r>
                        <a:rPr lang="en-US" dirty="0"/>
                        <a:t>…</a:t>
                      </a:r>
                    </a:p>
                  </a:txBody>
                  <a:tcPr/>
                </a:tc>
                <a:tc>
                  <a:txBody>
                    <a:bodyPr/>
                    <a:lstStyle/>
                    <a:p>
                      <a:r>
                        <a:rPr lang="en-US" dirty="0"/>
                        <a:t>…</a:t>
                      </a:r>
                    </a:p>
                  </a:txBody>
                  <a:tcPr/>
                </a:tc>
                <a:extLst>
                  <a:ext uri="{0D108BD9-81ED-4DB2-BD59-A6C34878D82A}">
                    <a16:rowId xmlns:a16="http://schemas.microsoft.com/office/drawing/2014/main" val="2477600111"/>
                  </a:ext>
                </a:extLst>
              </a:tr>
            </a:tbl>
          </a:graphicData>
        </a:graphic>
      </p:graphicFrame>
      <p:sp>
        <p:nvSpPr>
          <p:cNvPr id="10" name="TextBox 9"/>
          <p:cNvSpPr txBox="1"/>
          <p:nvPr/>
        </p:nvSpPr>
        <p:spPr>
          <a:xfrm>
            <a:off x="4041852" y="2538818"/>
            <a:ext cx="396445" cy="369332"/>
          </a:xfrm>
          <a:prstGeom prst="rect">
            <a:avLst/>
          </a:prstGeom>
          <a:noFill/>
        </p:spPr>
        <p:txBody>
          <a:bodyPr wrap="square" rtlCol="0">
            <a:spAutoFit/>
          </a:bodyPr>
          <a:lstStyle/>
          <a:p>
            <a:pPr algn="ctr"/>
            <a:r>
              <a:rPr lang="en-US" dirty="0">
                <a:latin typeface="+mj-lt"/>
              </a:rPr>
              <a:t>A</a:t>
            </a:r>
          </a:p>
        </p:txBody>
      </p:sp>
      <p:sp>
        <p:nvSpPr>
          <p:cNvPr id="11" name="TextBox 10"/>
          <p:cNvSpPr txBox="1"/>
          <p:nvPr/>
        </p:nvSpPr>
        <p:spPr>
          <a:xfrm>
            <a:off x="2934164" y="3962457"/>
            <a:ext cx="396445" cy="369332"/>
          </a:xfrm>
          <a:prstGeom prst="rect">
            <a:avLst/>
          </a:prstGeom>
          <a:noFill/>
        </p:spPr>
        <p:txBody>
          <a:bodyPr wrap="square" rtlCol="0">
            <a:spAutoFit/>
          </a:bodyPr>
          <a:lstStyle/>
          <a:p>
            <a:pPr algn="ctr"/>
            <a:r>
              <a:rPr lang="en-US" dirty="0">
                <a:latin typeface="+mj-lt"/>
              </a:rPr>
              <a:t>D</a:t>
            </a:r>
          </a:p>
        </p:txBody>
      </p:sp>
      <p:sp>
        <p:nvSpPr>
          <p:cNvPr id="12" name="TextBox 11"/>
          <p:cNvSpPr txBox="1"/>
          <p:nvPr/>
        </p:nvSpPr>
        <p:spPr>
          <a:xfrm>
            <a:off x="2027198" y="3207583"/>
            <a:ext cx="396445" cy="369332"/>
          </a:xfrm>
          <a:prstGeom prst="rect">
            <a:avLst/>
          </a:prstGeom>
          <a:noFill/>
        </p:spPr>
        <p:txBody>
          <a:bodyPr wrap="square" rtlCol="0">
            <a:spAutoFit/>
          </a:bodyPr>
          <a:lstStyle/>
          <a:p>
            <a:pPr algn="ctr"/>
            <a:r>
              <a:rPr lang="en-US" dirty="0">
                <a:latin typeface="+mj-lt"/>
              </a:rPr>
              <a:t>B</a:t>
            </a:r>
          </a:p>
        </p:txBody>
      </p:sp>
      <p:sp>
        <p:nvSpPr>
          <p:cNvPr id="13" name="TextBox 10"/>
          <p:cNvSpPr txBox="1"/>
          <p:nvPr/>
        </p:nvSpPr>
        <p:spPr>
          <a:xfrm>
            <a:off x="2537719" y="3095109"/>
            <a:ext cx="396445" cy="36933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latin typeface="+mj-lt"/>
              </a:rPr>
              <a:t>C</a:t>
            </a:r>
          </a:p>
        </p:txBody>
      </p:sp>
      <p:sp>
        <p:nvSpPr>
          <p:cNvPr id="14" name="TextBox 10"/>
          <p:cNvSpPr txBox="1"/>
          <p:nvPr/>
        </p:nvSpPr>
        <p:spPr>
          <a:xfrm>
            <a:off x="1348943" y="4437054"/>
            <a:ext cx="396445" cy="36933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latin typeface="+mj-lt"/>
              </a:rPr>
              <a:t>F</a:t>
            </a:r>
          </a:p>
        </p:txBody>
      </p:sp>
      <p:sp>
        <p:nvSpPr>
          <p:cNvPr id="15" name="TextBox 14"/>
          <p:cNvSpPr txBox="1"/>
          <p:nvPr/>
        </p:nvSpPr>
        <p:spPr>
          <a:xfrm>
            <a:off x="5400902" y="457983"/>
            <a:ext cx="3374751" cy="707886"/>
          </a:xfrm>
          <a:prstGeom prst="rect">
            <a:avLst/>
          </a:prstGeom>
          <a:noFill/>
        </p:spPr>
        <p:txBody>
          <a:bodyPr wrap="square" rtlCol="0">
            <a:spAutoFit/>
          </a:bodyPr>
          <a:lstStyle/>
          <a:p>
            <a:pPr algn="ctr"/>
            <a:r>
              <a:rPr lang="en-US" sz="2000" dirty="0">
                <a:latin typeface="+mj-lt"/>
              </a:rPr>
              <a:t>We can score genes based on how much they influence PC1</a:t>
            </a:r>
          </a:p>
        </p:txBody>
      </p:sp>
      <p:sp>
        <p:nvSpPr>
          <p:cNvPr id="16" name="TextBox 10"/>
          <p:cNvSpPr txBox="1"/>
          <p:nvPr/>
        </p:nvSpPr>
        <p:spPr>
          <a:xfrm>
            <a:off x="1176532" y="4067722"/>
            <a:ext cx="396445" cy="36933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latin typeface="+mj-lt"/>
              </a:rPr>
              <a:t>E</a:t>
            </a:r>
          </a:p>
        </p:txBody>
      </p:sp>
      <p:sp>
        <p:nvSpPr>
          <p:cNvPr id="17" name="TextBox 16"/>
          <p:cNvSpPr txBox="1"/>
          <p:nvPr/>
        </p:nvSpPr>
        <p:spPr>
          <a:xfrm>
            <a:off x="5289353" y="5416948"/>
            <a:ext cx="3374751" cy="1323439"/>
          </a:xfrm>
          <a:prstGeom prst="rect">
            <a:avLst/>
          </a:prstGeom>
          <a:noFill/>
        </p:spPr>
        <p:txBody>
          <a:bodyPr wrap="square" rtlCol="0">
            <a:spAutoFit/>
          </a:bodyPr>
          <a:lstStyle/>
          <a:p>
            <a:pPr algn="ctr"/>
            <a:r>
              <a:rPr lang="en-US" sz="2000" dirty="0">
                <a:latin typeface="+mj-lt"/>
              </a:rPr>
              <a:t>Genes with little influence on PC1 get values close to zero, and genes with more influence get numbers further from zero.</a:t>
            </a:r>
          </a:p>
        </p:txBody>
      </p:sp>
      <p:cxnSp>
        <p:nvCxnSpPr>
          <p:cNvPr id="19" name="Straight Arrow Connector 18"/>
          <p:cNvCxnSpPr>
            <a:stCxn id="10" idx="2"/>
          </p:cNvCxnSpPr>
          <p:nvPr/>
        </p:nvCxnSpPr>
        <p:spPr>
          <a:xfrm flipV="1">
            <a:off x="4240075" y="2723484"/>
            <a:ext cx="3242393" cy="184666"/>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1348943" y="4437054"/>
            <a:ext cx="6010862" cy="184666"/>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49436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39"/>
          <p:cNvSpPr txBox="1"/>
          <p:nvPr/>
        </p:nvSpPr>
        <p:spPr>
          <a:xfrm>
            <a:off x="2149113" y="1118071"/>
            <a:ext cx="4844501" cy="46166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2400" dirty="0">
                <a:latin typeface="+mj-lt"/>
              </a:rPr>
              <a:t>Genes that influence PC2</a:t>
            </a:r>
          </a:p>
        </p:txBody>
      </p:sp>
      <p:sp>
        <p:nvSpPr>
          <p:cNvPr id="13" name="Flowchart: Connector 12"/>
          <p:cNvSpPr/>
          <p:nvPr/>
        </p:nvSpPr>
        <p:spPr>
          <a:xfrm>
            <a:off x="620219" y="5782221"/>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lowchart: Connector 13"/>
          <p:cNvSpPr/>
          <p:nvPr/>
        </p:nvSpPr>
        <p:spPr>
          <a:xfrm>
            <a:off x="1453339" y="5831658"/>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lowchart: Connector 14"/>
          <p:cNvSpPr/>
          <p:nvPr/>
        </p:nvSpPr>
        <p:spPr>
          <a:xfrm>
            <a:off x="1703952" y="5328925"/>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lowchart: Connector 15"/>
          <p:cNvSpPr/>
          <p:nvPr/>
        </p:nvSpPr>
        <p:spPr>
          <a:xfrm>
            <a:off x="2418539" y="4285831"/>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lowchart: Connector 16"/>
          <p:cNvSpPr/>
          <p:nvPr/>
        </p:nvSpPr>
        <p:spPr>
          <a:xfrm>
            <a:off x="3019672" y="4107108"/>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lowchart: Connector 17"/>
          <p:cNvSpPr/>
          <p:nvPr/>
        </p:nvSpPr>
        <p:spPr>
          <a:xfrm>
            <a:off x="4736845" y="3406764"/>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lowchart: Connector 18"/>
          <p:cNvSpPr/>
          <p:nvPr/>
        </p:nvSpPr>
        <p:spPr>
          <a:xfrm>
            <a:off x="4104388" y="4164716"/>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lowchart: Connector 19"/>
          <p:cNvSpPr/>
          <p:nvPr/>
        </p:nvSpPr>
        <p:spPr>
          <a:xfrm>
            <a:off x="3344911" y="4379013"/>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lowchart: Connector 20"/>
          <p:cNvSpPr/>
          <p:nvPr/>
        </p:nvSpPr>
        <p:spPr>
          <a:xfrm>
            <a:off x="4305921" y="3420852"/>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Arrow Connector 21"/>
          <p:cNvCxnSpPr/>
          <p:nvPr/>
        </p:nvCxnSpPr>
        <p:spPr>
          <a:xfrm flipV="1">
            <a:off x="727495" y="3513353"/>
            <a:ext cx="4078070" cy="2108255"/>
          </a:xfrm>
          <a:prstGeom prst="straightConnector1">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rot="5400000" flipV="1">
            <a:off x="2194071" y="3958539"/>
            <a:ext cx="1674406" cy="869589"/>
          </a:xfrm>
          <a:prstGeom prst="straightConnector1">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6" name="Oval 25"/>
          <p:cNvSpPr/>
          <p:nvPr/>
        </p:nvSpPr>
        <p:spPr>
          <a:xfrm rot="19939638">
            <a:off x="879818" y="4861228"/>
            <a:ext cx="4456798" cy="242911"/>
          </a:xfrm>
          <a:prstGeom prst="ellipse">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rot="19939638">
            <a:off x="326128" y="4184288"/>
            <a:ext cx="4568301" cy="226770"/>
          </a:xfrm>
          <a:prstGeom prst="ellipse">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p:cNvSpPr txBox="1"/>
          <p:nvPr/>
        </p:nvSpPr>
        <p:spPr>
          <a:xfrm>
            <a:off x="2454036" y="2991563"/>
            <a:ext cx="730381" cy="369332"/>
          </a:xfrm>
          <a:prstGeom prst="rect">
            <a:avLst/>
          </a:prstGeom>
          <a:noFill/>
        </p:spPr>
        <p:txBody>
          <a:bodyPr wrap="square" rtlCol="0">
            <a:spAutoFit/>
          </a:bodyPr>
          <a:lstStyle/>
          <a:p>
            <a:r>
              <a:rPr lang="en-US" dirty="0"/>
              <a:t>PC2</a:t>
            </a:r>
          </a:p>
        </p:txBody>
      </p:sp>
      <p:sp>
        <p:nvSpPr>
          <p:cNvPr id="29" name="TextBox 28"/>
          <p:cNvSpPr txBox="1"/>
          <p:nvPr/>
        </p:nvSpPr>
        <p:spPr>
          <a:xfrm>
            <a:off x="2149113" y="4174968"/>
            <a:ext cx="401444" cy="369332"/>
          </a:xfrm>
          <a:prstGeom prst="rect">
            <a:avLst/>
          </a:prstGeom>
          <a:noFill/>
        </p:spPr>
        <p:txBody>
          <a:bodyPr wrap="square" rtlCol="0">
            <a:spAutoFit/>
          </a:bodyPr>
          <a:lstStyle/>
          <a:p>
            <a:r>
              <a:rPr lang="en-US" dirty="0"/>
              <a:t>B</a:t>
            </a:r>
          </a:p>
        </p:txBody>
      </p:sp>
      <p:sp>
        <p:nvSpPr>
          <p:cNvPr id="30" name="TextBox 29"/>
          <p:cNvSpPr txBox="1"/>
          <p:nvPr/>
        </p:nvSpPr>
        <p:spPr>
          <a:xfrm>
            <a:off x="2766530" y="3855189"/>
            <a:ext cx="361406" cy="369332"/>
          </a:xfrm>
          <a:prstGeom prst="rect">
            <a:avLst/>
          </a:prstGeom>
          <a:noFill/>
        </p:spPr>
        <p:txBody>
          <a:bodyPr wrap="square" rtlCol="0">
            <a:spAutoFit/>
          </a:bodyPr>
          <a:lstStyle/>
          <a:p>
            <a:r>
              <a:rPr lang="en-US" dirty="0"/>
              <a:t>C</a:t>
            </a:r>
          </a:p>
        </p:txBody>
      </p:sp>
      <p:sp>
        <p:nvSpPr>
          <p:cNvPr id="31" name="TextBox 30"/>
          <p:cNvSpPr txBox="1"/>
          <p:nvPr/>
        </p:nvSpPr>
        <p:spPr>
          <a:xfrm>
            <a:off x="4349985" y="3125391"/>
            <a:ext cx="424953" cy="369332"/>
          </a:xfrm>
          <a:prstGeom prst="rect">
            <a:avLst/>
          </a:prstGeom>
          <a:noFill/>
        </p:spPr>
        <p:txBody>
          <a:bodyPr wrap="square" rtlCol="0">
            <a:spAutoFit/>
          </a:bodyPr>
          <a:lstStyle/>
          <a:p>
            <a:r>
              <a:rPr lang="en-US" dirty="0"/>
              <a:t>A</a:t>
            </a:r>
          </a:p>
        </p:txBody>
      </p:sp>
      <p:sp>
        <p:nvSpPr>
          <p:cNvPr id="32" name="TextBox 31"/>
          <p:cNvSpPr txBox="1"/>
          <p:nvPr/>
        </p:nvSpPr>
        <p:spPr>
          <a:xfrm>
            <a:off x="3874506" y="4625709"/>
            <a:ext cx="450108" cy="369332"/>
          </a:xfrm>
          <a:prstGeom prst="rect">
            <a:avLst/>
          </a:prstGeom>
          <a:noFill/>
        </p:spPr>
        <p:txBody>
          <a:bodyPr wrap="square" rtlCol="0">
            <a:spAutoFit/>
          </a:bodyPr>
          <a:lstStyle/>
          <a:p>
            <a:r>
              <a:rPr lang="en-US" dirty="0"/>
              <a:t>D</a:t>
            </a:r>
          </a:p>
        </p:txBody>
      </p:sp>
      <p:sp>
        <p:nvSpPr>
          <p:cNvPr id="33" name="TextBox 32"/>
          <p:cNvSpPr txBox="1"/>
          <p:nvPr/>
        </p:nvSpPr>
        <p:spPr>
          <a:xfrm>
            <a:off x="629537" y="5802604"/>
            <a:ext cx="584767" cy="369332"/>
          </a:xfrm>
          <a:prstGeom prst="rect">
            <a:avLst/>
          </a:prstGeom>
          <a:noFill/>
        </p:spPr>
        <p:txBody>
          <a:bodyPr wrap="square" rtlCol="0">
            <a:spAutoFit/>
          </a:bodyPr>
          <a:lstStyle/>
          <a:p>
            <a:r>
              <a:rPr lang="en-US" dirty="0"/>
              <a:t>F</a:t>
            </a:r>
          </a:p>
        </p:txBody>
      </p:sp>
      <p:graphicFrame>
        <p:nvGraphicFramePr>
          <p:cNvPr id="35" name="Table 34"/>
          <p:cNvGraphicFramePr>
            <a:graphicFrameLocks noGrp="1"/>
          </p:cNvGraphicFramePr>
          <p:nvPr>
            <p:extLst>
              <p:ext uri="{D42A27DB-BD31-4B8C-83A1-F6EECF244321}">
                <p14:modId xmlns:p14="http://schemas.microsoft.com/office/powerpoint/2010/main" val="3517603028"/>
              </p:ext>
            </p:extLst>
          </p:nvPr>
        </p:nvGraphicFramePr>
        <p:xfrm>
          <a:off x="5669545" y="2012935"/>
          <a:ext cx="2904252" cy="4053840"/>
        </p:xfrm>
        <a:graphic>
          <a:graphicData uri="http://schemas.openxmlformats.org/drawingml/2006/table">
            <a:tbl>
              <a:tblPr firstRow="1" bandRow="1">
                <a:tableStyleId>{5C22544A-7EE6-4342-B048-85BDC9FD1C3A}</a:tableStyleId>
              </a:tblPr>
              <a:tblGrid>
                <a:gridCol w="968084">
                  <a:extLst>
                    <a:ext uri="{9D8B030D-6E8A-4147-A177-3AD203B41FA5}">
                      <a16:colId xmlns:a16="http://schemas.microsoft.com/office/drawing/2014/main" val="508070160"/>
                    </a:ext>
                  </a:extLst>
                </a:gridCol>
                <a:gridCol w="968084">
                  <a:extLst>
                    <a:ext uri="{9D8B030D-6E8A-4147-A177-3AD203B41FA5}">
                      <a16:colId xmlns:a16="http://schemas.microsoft.com/office/drawing/2014/main" val="2505059530"/>
                    </a:ext>
                  </a:extLst>
                </a:gridCol>
                <a:gridCol w="968084">
                  <a:extLst>
                    <a:ext uri="{9D8B030D-6E8A-4147-A177-3AD203B41FA5}">
                      <a16:colId xmlns:a16="http://schemas.microsoft.com/office/drawing/2014/main" val="2028817812"/>
                    </a:ext>
                  </a:extLst>
                </a:gridCol>
              </a:tblGrid>
              <a:tr h="1188720">
                <a:tc>
                  <a:txBody>
                    <a:bodyPr/>
                    <a:lstStyle/>
                    <a:p>
                      <a:r>
                        <a:rPr lang="en-US" dirty="0"/>
                        <a:t>Gene</a:t>
                      </a:r>
                    </a:p>
                  </a:txBody>
                  <a:tcPr/>
                </a:tc>
                <a:tc>
                  <a:txBody>
                    <a:bodyPr/>
                    <a:lstStyle/>
                    <a:p>
                      <a:r>
                        <a:rPr lang="en-US" dirty="0"/>
                        <a:t>Influence on PC2</a:t>
                      </a:r>
                    </a:p>
                  </a:txBody>
                  <a:tcPr/>
                </a:tc>
                <a:tc>
                  <a:txBody>
                    <a:bodyPr/>
                    <a:lstStyle/>
                    <a:p>
                      <a:r>
                        <a:rPr lang="en-US" dirty="0"/>
                        <a:t>In numbers</a:t>
                      </a:r>
                    </a:p>
                  </a:txBody>
                  <a:tcPr/>
                </a:tc>
                <a:extLst>
                  <a:ext uri="{0D108BD9-81ED-4DB2-BD59-A6C34878D82A}">
                    <a16:rowId xmlns:a16="http://schemas.microsoft.com/office/drawing/2014/main" val="172675741"/>
                  </a:ext>
                </a:extLst>
              </a:tr>
              <a:tr h="640080">
                <a:tc>
                  <a:txBody>
                    <a:bodyPr/>
                    <a:lstStyle/>
                    <a:p>
                      <a:r>
                        <a:rPr lang="en-US" dirty="0"/>
                        <a:t>A</a:t>
                      </a:r>
                    </a:p>
                  </a:txBody>
                  <a:tcPr/>
                </a:tc>
                <a:tc>
                  <a:txBody>
                    <a:bodyPr/>
                    <a:lstStyle/>
                    <a:p>
                      <a:r>
                        <a:rPr lang="en-US" dirty="0"/>
                        <a:t>medium</a:t>
                      </a:r>
                    </a:p>
                  </a:txBody>
                  <a:tcPr/>
                </a:tc>
                <a:tc>
                  <a:txBody>
                    <a:bodyPr/>
                    <a:lstStyle/>
                    <a:p>
                      <a:r>
                        <a:rPr lang="en-US" dirty="0"/>
                        <a:t>3</a:t>
                      </a:r>
                    </a:p>
                  </a:txBody>
                  <a:tcPr/>
                </a:tc>
                <a:extLst>
                  <a:ext uri="{0D108BD9-81ED-4DB2-BD59-A6C34878D82A}">
                    <a16:rowId xmlns:a16="http://schemas.microsoft.com/office/drawing/2014/main" val="3071657797"/>
                  </a:ext>
                </a:extLst>
              </a:tr>
              <a:tr h="370840">
                <a:tc>
                  <a:txBody>
                    <a:bodyPr/>
                    <a:lstStyle/>
                    <a:p>
                      <a:r>
                        <a:rPr lang="en-US" dirty="0"/>
                        <a:t>B</a:t>
                      </a:r>
                    </a:p>
                  </a:txBody>
                  <a:tcPr/>
                </a:tc>
                <a:tc>
                  <a:txBody>
                    <a:bodyPr/>
                    <a:lstStyle/>
                    <a:p>
                      <a:r>
                        <a:rPr lang="en-US" dirty="0"/>
                        <a:t>high</a:t>
                      </a:r>
                    </a:p>
                  </a:txBody>
                  <a:tcPr/>
                </a:tc>
                <a:tc>
                  <a:txBody>
                    <a:bodyPr/>
                    <a:lstStyle/>
                    <a:p>
                      <a:r>
                        <a:rPr lang="en-US" dirty="0"/>
                        <a:t>10</a:t>
                      </a:r>
                    </a:p>
                  </a:txBody>
                  <a:tcPr/>
                </a:tc>
                <a:extLst>
                  <a:ext uri="{0D108BD9-81ED-4DB2-BD59-A6C34878D82A}">
                    <a16:rowId xmlns:a16="http://schemas.microsoft.com/office/drawing/2014/main" val="1511496306"/>
                  </a:ext>
                </a:extLst>
              </a:tr>
              <a:tr h="370840">
                <a:tc>
                  <a:txBody>
                    <a:bodyPr/>
                    <a:lstStyle/>
                    <a:p>
                      <a:r>
                        <a:rPr lang="en-US" dirty="0"/>
                        <a:t>C</a:t>
                      </a:r>
                    </a:p>
                  </a:txBody>
                  <a:tcPr/>
                </a:tc>
                <a:tc>
                  <a:txBody>
                    <a:bodyPr/>
                    <a:lstStyle/>
                    <a:p>
                      <a:r>
                        <a:rPr lang="en-US" dirty="0"/>
                        <a:t>high</a:t>
                      </a:r>
                    </a:p>
                  </a:txBody>
                  <a:tcPr/>
                </a:tc>
                <a:tc>
                  <a:txBody>
                    <a:bodyPr/>
                    <a:lstStyle/>
                    <a:p>
                      <a:r>
                        <a:rPr lang="en-US" dirty="0"/>
                        <a:t>8</a:t>
                      </a:r>
                    </a:p>
                  </a:txBody>
                  <a:tcPr/>
                </a:tc>
                <a:extLst>
                  <a:ext uri="{0D108BD9-81ED-4DB2-BD59-A6C34878D82A}">
                    <a16:rowId xmlns:a16="http://schemas.microsoft.com/office/drawing/2014/main" val="915248682"/>
                  </a:ext>
                </a:extLst>
              </a:tr>
              <a:tr h="370840">
                <a:tc>
                  <a:txBody>
                    <a:bodyPr/>
                    <a:lstStyle/>
                    <a:p>
                      <a:r>
                        <a:rPr lang="en-US" dirty="0"/>
                        <a:t>D</a:t>
                      </a:r>
                    </a:p>
                  </a:txBody>
                  <a:tcPr/>
                </a:tc>
                <a:tc>
                  <a:txBody>
                    <a:bodyPr/>
                    <a:lstStyle/>
                    <a:p>
                      <a:r>
                        <a:rPr lang="en-US" dirty="0"/>
                        <a:t>high</a:t>
                      </a:r>
                    </a:p>
                  </a:txBody>
                  <a:tcPr/>
                </a:tc>
                <a:tc>
                  <a:txBody>
                    <a:bodyPr/>
                    <a:lstStyle/>
                    <a:p>
                      <a:r>
                        <a:rPr lang="en-US" dirty="0"/>
                        <a:t>-12</a:t>
                      </a:r>
                    </a:p>
                  </a:txBody>
                  <a:tcPr/>
                </a:tc>
                <a:extLst>
                  <a:ext uri="{0D108BD9-81ED-4DB2-BD59-A6C34878D82A}">
                    <a16:rowId xmlns:a16="http://schemas.microsoft.com/office/drawing/2014/main" val="552798235"/>
                  </a:ext>
                </a:extLst>
              </a:tr>
              <a:tr h="370840">
                <a:tc>
                  <a:txBody>
                    <a:bodyPr/>
                    <a:lstStyle/>
                    <a:p>
                      <a:r>
                        <a:rPr lang="en-US" dirty="0"/>
                        <a:t>E</a:t>
                      </a:r>
                    </a:p>
                  </a:txBody>
                  <a:tcPr/>
                </a:tc>
                <a:tc>
                  <a:txBody>
                    <a:bodyPr/>
                    <a:lstStyle/>
                    <a:p>
                      <a:r>
                        <a:rPr lang="en-US" dirty="0"/>
                        <a:t>low</a:t>
                      </a:r>
                    </a:p>
                  </a:txBody>
                  <a:tcPr/>
                </a:tc>
                <a:tc>
                  <a:txBody>
                    <a:bodyPr/>
                    <a:lstStyle/>
                    <a:p>
                      <a:r>
                        <a:rPr lang="en-US" dirty="0"/>
                        <a:t>0.2</a:t>
                      </a:r>
                    </a:p>
                  </a:txBody>
                  <a:tcPr/>
                </a:tc>
                <a:extLst>
                  <a:ext uri="{0D108BD9-81ED-4DB2-BD59-A6C34878D82A}">
                    <a16:rowId xmlns:a16="http://schemas.microsoft.com/office/drawing/2014/main" val="1882569307"/>
                  </a:ext>
                </a:extLst>
              </a:tr>
              <a:tr h="370840">
                <a:tc>
                  <a:txBody>
                    <a:bodyPr/>
                    <a:lstStyle/>
                    <a:p>
                      <a:r>
                        <a:rPr lang="en-US" dirty="0"/>
                        <a:t>F</a:t>
                      </a:r>
                    </a:p>
                  </a:txBody>
                  <a:tcPr/>
                </a:tc>
                <a:tc>
                  <a:txBody>
                    <a:bodyPr/>
                    <a:lstStyle/>
                    <a:p>
                      <a:r>
                        <a:rPr lang="en-US" dirty="0"/>
                        <a:t>low</a:t>
                      </a:r>
                    </a:p>
                  </a:txBody>
                  <a:tcPr/>
                </a:tc>
                <a:tc>
                  <a:txBody>
                    <a:bodyPr/>
                    <a:lstStyle/>
                    <a:p>
                      <a:r>
                        <a:rPr lang="en-US" dirty="0"/>
                        <a:t>-0.1</a:t>
                      </a:r>
                    </a:p>
                  </a:txBody>
                  <a:tcPr/>
                </a:tc>
                <a:extLst>
                  <a:ext uri="{0D108BD9-81ED-4DB2-BD59-A6C34878D82A}">
                    <a16:rowId xmlns:a16="http://schemas.microsoft.com/office/drawing/2014/main" val="1245415338"/>
                  </a:ext>
                </a:extLst>
              </a:tr>
              <a:tr h="370840">
                <a:tc>
                  <a:txBody>
                    <a:bodyPr/>
                    <a:lstStyle/>
                    <a:p>
                      <a:r>
                        <a:rPr lang="en-US" dirty="0"/>
                        <a:t>…</a:t>
                      </a:r>
                    </a:p>
                  </a:txBody>
                  <a:tcPr/>
                </a:tc>
                <a:tc>
                  <a:txBody>
                    <a:bodyPr/>
                    <a:lstStyle/>
                    <a:p>
                      <a:r>
                        <a:rPr lang="en-US" dirty="0"/>
                        <a:t>…</a:t>
                      </a:r>
                    </a:p>
                  </a:txBody>
                  <a:tcPr/>
                </a:tc>
                <a:tc>
                  <a:txBody>
                    <a:bodyPr/>
                    <a:lstStyle/>
                    <a:p>
                      <a:endParaRPr lang="en-US" dirty="0"/>
                    </a:p>
                  </a:txBody>
                  <a:tcPr/>
                </a:tc>
                <a:extLst>
                  <a:ext uri="{0D108BD9-81ED-4DB2-BD59-A6C34878D82A}">
                    <a16:rowId xmlns:a16="http://schemas.microsoft.com/office/drawing/2014/main" val="1235013761"/>
                  </a:ext>
                </a:extLst>
              </a:tr>
            </a:tbl>
          </a:graphicData>
        </a:graphic>
      </p:graphicFrame>
      <p:sp>
        <p:nvSpPr>
          <p:cNvPr id="38" name="Flowchart: Connector 37"/>
          <p:cNvSpPr/>
          <p:nvPr/>
        </p:nvSpPr>
        <p:spPr>
          <a:xfrm>
            <a:off x="3784348" y="4621916"/>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lowchart: Connector 38"/>
          <p:cNvSpPr/>
          <p:nvPr/>
        </p:nvSpPr>
        <p:spPr>
          <a:xfrm>
            <a:off x="4470148" y="3875156"/>
            <a:ext cx="96457" cy="6778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p:cNvSpPr txBox="1"/>
          <p:nvPr/>
        </p:nvSpPr>
        <p:spPr>
          <a:xfrm>
            <a:off x="4969249" y="3328687"/>
            <a:ext cx="543739" cy="369332"/>
          </a:xfrm>
          <a:prstGeom prst="rect">
            <a:avLst/>
          </a:prstGeom>
          <a:noFill/>
        </p:spPr>
        <p:txBody>
          <a:bodyPr wrap="none" rtlCol="0">
            <a:spAutoFit/>
          </a:bodyPr>
          <a:lstStyle/>
          <a:p>
            <a:r>
              <a:rPr lang="en-US" dirty="0"/>
              <a:t>PC1</a:t>
            </a:r>
          </a:p>
        </p:txBody>
      </p:sp>
    </p:spTree>
    <p:extLst>
      <p:ext uri="{BB962C8B-B14F-4D97-AF65-F5344CB8AC3E}">
        <p14:creationId xmlns:p14="http://schemas.microsoft.com/office/powerpoint/2010/main" val="12773614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p:cNvPicPr>
            <a:picLocks noGrp="1" noChangeAspect="1"/>
          </p:cNvPicPr>
          <p:nvPr>
            <p:ph idx="1"/>
          </p:nvPr>
        </p:nvPicPr>
        <p:blipFill>
          <a:blip r:embed="rId3"/>
          <a:stretch>
            <a:fillRect/>
          </a:stretch>
        </p:blipFill>
        <p:spPr>
          <a:xfrm>
            <a:off x="2743200" y="1874520"/>
            <a:ext cx="3230880" cy="4053840"/>
          </a:xfrm>
          <a:prstGeom prst="rect">
            <a:avLst/>
          </a:prstGeom>
        </p:spPr>
      </p:pic>
      <p:graphicFrame>
        <p:nvGraphicFramePr>
          <p:cNvPr id="5" name="Table 4"/>
          <p:cNvGraphicFramePr>
            <a:graphicFrameLocks noGrp="1"/>
          </p:cNvGraphicFramePr>
          <p:nvPr>
            <p:extLst>
              <p:ext uri="{D42A27DB-BD31-4B8C-83A1-F6EECF244321}">
                <p14:modId xmlns:p14="http://schemas.microsoft.com/office/powerpoint/2010/main" val="726071322"/>
              </p:ext>
            </p:extLst>
          </p:nvPr>
        </p:nvGraphicFramePr>
        <p:xfrm>
          <a:off x="6156960" y="2000879"/>
          <a:ext cx="2682240" cy="3749040"/>
        </p:xfrm>
        <a:graphic>
          <a:graphicData uri="http://schemas.openxmlformats.org/drawingml/2006/table">
            <a:tbl>
              <a:tblPr firstRow="1" bandRow="1">
                <a:tableStyleId>{5C22544A-7EE6-4342-B048-85BDC9FD1C3A}</a:tableStyleId>
              </a:tblPr>
              <a:tblGrid>
                <a:gridCol w="894080">
                  <a:extLst>
                    <a:ext uri="{9D8B030D-6E8A-4147-A177-3AD203B41FA5}">
                      <a16:colId xmlns:a16="http://schemas.microsoft.com/office/drawing/2014/main" val="508070160"/>
                    </a:ext>
                  </a:extLst>
                </a:gridCol>
                <a:gridCol w="894080">
                  <a:extLst>
                    <a:ext uri="{9D8B030D-6E8A-4147-A177-3AD203B41FA5}">
                      <a16:colId xmlns:a16="http://schemas.microsoft.com/office/drawing/2014/main" val="2505059530"/>
                    </a:ext>
                  </a:extLst>
                </a:gridCol>
                <a:gridCol w="894080">
                  <a:extLst>
                    <a:ext uri="{9D8B030D-6E8A-4147-A177-3AD203B41FA5}">
                      <a16:colId xmlns:a16="http://schemas.microsoft.com/office/drawing/2014/main" val="2028817812"/>
                    </a:ext>
                  </a:extLst>
                </a:gridCol>
              </a:tblGrid>
              <a:tr h="914400">
                <a:tc>
                  <a:txBody>
                    <a:bodyPr/>
                    <a:lstStyle/>
                    <a:p>
                      <a:r>
                        <a:rPr lang="en-US" dirty="0"/>
                        <a:t>Gene</a:t>
                      </a:r>
                    </a:p>
                  </a:txBody>
                  <a:tcPr/>
                </a:tc>
                <a:tc>
                  <a:txBody>
                    <a:bodyPr/>
                    <a:lstStyle/>
                    <a:p>
                      <a:r>
                        <a:rPr lang="en-US" dirty="0"/>
                        <a:t>Influence on PC2</a:t>
                      </a:r>
                    </a:p>
                  </a:txBody>
                  <a:tcPr/>
                </a:tc>
                <a:tc>
                  <a:txBody>
                    <a:bodyPr/>
                    <a:lstStyle/>
                    <a:p>
                      <a:r>
                        <a:rPr lang="en-US" dirty="0"/>
                        <a:t>In numbers</a:t>
                      </a:r>
                    </a:p>
                  </a:txBody>
                  <a:tcPr/>
                </a:tc>
                <a:extLst>
                  <a:ext uri="{0D108BD9-81ED-4DB2-BD59-A6C34878D82A}">
                    <a16:rowId xmlns:a16="http://schemas.microsoft.com/office/drawing/2014/main" val="172675741"/>
                  </a:ext>
                </a:extLst>
              </a:tr>
              <a:tr h="640080">
                <a:tc>
                  <a:txBody>
                    <a:bodyPr/>
                    <a:lstStyle/>
                    <a:p>
                      <a:r>
                        <a:rPr lang="en-US" dirty="0"/>
                        <a:t>A</a:t>
                      </a:r>
                    </a:p>
                  </a:txBody>
                  <a:tcPr/>
                </a:tc>
                <a:tc>
                  <a:txBody>
                    <a:bodyPr/>
                    <a:lstStyle/>
                    <a:p>
                      <a:r>
                        <a:rPr lang="en-US" dirty="0"/>
                        <a:t>medium</a:t>
                      </a:r>
                    </a:p>
                  </a:txBody>
                  <a:tcPr/>
                </a:tc>
                <a:tc>
                  <a:txBody>
                    <a:bodyPr/>
                    <a:lstStyle/>
                    <a:p>
                      <a:r>
                        <a:rPr lang="en-US" dirty="0"/>
                        <a:t>3</a:t>
                      </a:r>
                    </a:p>
                  </a:txBody>
                  <a:tcPr/>
                </a:tc>
                <a:extLst>
                  <a:ext uri="{0D108BD9-81ED-4DB2-BD59-A6C34878D82A}">
                    <a16:rowId xmlns:a16="http://schemas.microsoft.com/office/drawing/2014/main" val="3071657797"/>
                  </a:ext>
                </a:extLst>
              </a:tr>
              <a:tr h="365760">
                <a:tc>
                  <a:txBody>
                    <a:bodyPr/>
                    <a:lstStyle/>
                    <a:p>
                      <a:r>
                        <a:rPr lang="en-US" dirty="0"/>
                        <a:t>B</a:t>
                      </a:r>
                    </a:p>
                  </a:txBody>
                  <a:tcPr/>
                </a:tc>
                <a:tc>
                  <a:txBody>
                    <a:bodyPr/>
                    <a:lstStyle/>
                    <a:p>
                      <a:r>
                        <a:rPr lang="en-US" dirty="0"/>
                        <a:t>high</a:t>
                      </a:r>
                    </a:p>
                  </a:txBody>
                  <a:tcPr/>
                </a:tc>
                <a:tc>
                  <a:txBody>
                    <a:bodyPr/>
                    <a:lstStyle/>
                    <a:p>
                      <a:r>
                        <a:rPr lang="en-US" dirty="0"/>
                        <a:t>10</a:t>
                      </a:r>
                    </a:p>
                  </a:txBody>
                  <a:tcPr/>
                </a:tc>
                <a:extLst>
                  <a:ext uri="{0D108BD9-81ED-4DB2-BD59-A6C34878D82A}">
                    <a16:rowId xmlns:a16="http://schemas.microsoft.com/office/drawing/2014/main" val="1511496306"/>
                  </a:ext>
                </a:extLst>
              </a:tr>
              <a:tr h="365760">
                <a:tc>
                  <a:txBody>
                    <a:bodyPr/>
                    <a:lstStyle/>
                    <a:p>
                      <a:r>
                        <a:rPr lang="en-US" dirty="0"/>
                        <a:t>C</a:t>
                      </a:r>
                    </a:p>
                  </a:txBody>
                  <a:tcPr/>
                </a:tc>
                <a:tc>
                  <a:txBody>
                    <a:bodyPr/>
                    <a:lstStyle/>
                    <a:p>
                      <a:r>
                        <a:rPr lang="en-US" dirty="0"/>
                        <a:t>high</a:t>
                      </a:r>
                    </a:p>
                  </a:txBody>
                  <a:tcPr/>
                </a:tc>
                <a:tc>
                  <a:txBody>
                    <a:bodyPr/>
                    <a:lstStyle/>
                    <a:p>
                      <a:r>
                        <a:rPr lang="en-US" dirty="0"/>
                        <a:t>8</a:t>
                      </a:r>
                    </a:p>
                  </a:txBody>
                  <a:tcPr/>
                </a:tc>
                <a:extLst>
                  <a:ext uri="{0D108BD9-81ED-4DB2-BD59-A6C34878D82A}">
                    <a16:rowId xmlns:a16="http://schemas.microsoft.com/office/drawing/2014/main" val="915248682"/>
                  </a:ext>
                </a:extLst>
              </a:tr>
              <a:tr h="365760">
                <a:tc>
                  <a:txBody>
                    <a:bodyPr/>
                    <a:lstStyle/>
                    <a:p>
                      <a:r>
                        <a:rPr lang="en-US" dirty="0"/>
                        <a:t>D</a:t>
                      </a:r>
                    </a:p>
                  </a:txBody>
                  <a:tcPr/>
                </a:tc>
                <a:tc>
                  <a:txBody>
                    <a:bodyPr/>
                    <a:lstStyle/>
                    <a:p>
                      <a:r>
                        <a:rPr lang="en-US" dirty="0"/>
                        <a:t>high</a:t>
                      </a:r>
                    </a:p>
                  </a:txBody>
                  <a:tcPr/>
                </a:tc>
                <a:tc>
                  <a:txBody>
                    <a:bodyPr/>
                    <a:lstStyle/>
                    <a:p>
                      <a:r>
                        <a:rPr lang="en-US" dirty="0"/>
                        <a:t>-12</a:t>
                      </a:r>
                    </a:p>
                  </a:txBody>
                  <a:tcPr/>
                </a:tc>
                <a:extLst>
                  <a:ext uri="{0D108BD9-81ED-4DB2-BD59-A6C34878D82A}">
                    <a16:rowId xmlns:a16="http://schemas.microsoft.com/office/drawing/2014/main" val="552798235"/>
                  </a:ext>
                </a:extLst>
              </a:tr>
              <a:tr h="365760">
                <a:tc>
                  <a:txBody>
                    <a:bodyPr/>
                    <a:lstStyle/>
                    <a:p>
                      <a:r>
                        <a:rPr lang="en-US" dirty="0"/>
                        <a:t>E</a:t>
                      </a:r>
                    </a:p>
                  </a:txBody>
                  <a:tcPr/>
                </a:tc>
                <a:tc>
                  <a:txBody>
                    <a:bodyPr/>
                    <a:lstStyle/>
                    <a:p>
                      <a:r>
                        <a:rPr lang="en-US" dirty="0"/>
                        <a:t>low</a:t>
                      </a:r>
                    </a:p>
                  </a:txBody>
                  <a:tcPr/>
                </a:tc>
                <a:tc>
                  <a:txBody>
                    <a:bodyPr/>
                    <a:lstStyle/>
                    <a:p>
                      <a:r>
                        <a:rPr lang="en-US" dirty="0"/>
                        <a:t>0.2</a:t>
                      </a:r>
                    </a:p>
                  </a:txBody>
                  <a:tcPr/>
                </a:tc>
                <a:extLst>
                  <a:ext uri="{0D108BD9-81ED-4DB2-BD59-A6C34878D82A}">
                    <a16:rowId xmlns:a16="http://schemas.microsoft.com/office/drawing/2014/main" val="1882569307"/>
                  </a:ext>
                </a:extLst>
              </a:tr>
              <a:tr h="365760">
                <a:tc>
                  <a:txBody>
                    <a:bodyPr/>
                    <a:lstStyle/>
                    <a:p>
                      <a:r>
                        <a:rPr lang="en-US" dirty="0"/>
                        <a:t>F</a:t>
                      </a:r>
                    </a:p>
                  </a:txBody>
                  <a:tcPr/>
                </a:tc>
                <a:tc>
                  <a:txBody>
                    <a:bodyPr/>
                    <a:lstStyle/>
                    <a:p>
                      <a:r>
                        <a:rPr lang="en-US" dirty="0"/>
                        <a:t>low</a:t>
                      </a:r>
                    </a:p>
                  </a:txBody>
                  <a:tcPr/>
                </a:tc>
                <a:tc>
                  <a:txBody>
                    <a:bodyPr/>
                    <a:lstStyle/>
                    <a:p>
                      <a:r>
                        <a:rPr lang="en-US" dirty="0"/>
                        <a:t>-0.1</a:t>
                      </a:r>
                    </a:p>
                  </a:txBody>
                  <a:tcPr/>
                </a:tc>
                <a:extLst>
                  <a:ext uri="{0D108BD9-81ED-4DB2-BD59-A6C34878D82A}">
                    <a16:rowId xmlns:a16="http://schemas.microsoft.com/office/drawing/2014/main" val="1245415338"/>
                  </a:ext>
                </a:extLst>
              </a:tr>
              <a:tr h="365760">
                <a:tc>
                  <a:txBody>
                    <a:bodyPr/>
                    <a:lstStyle/>
                    <a:p>
                      <a:r>
                        <a:rPr lang="en-US" dirty="0"/>
                        <a:t>…</a:t>
                      </a:r>
                    </a:p>
                  </a:txBody>
                  <a:tcPr/>
                </a:tc>
                <a:tc>
                  <a:txBody>
                    <a:bodyPr/>
                    <a:lstStyle/>
                    <a:p>
                      <a:r>
                        <a:rPr lang="en-US" dirty="0"/>
                        <a:t>…</a:t>
                      </a:r>
                    </a:p>
                  </a:txBody>
                  <a:tcPr/>
                </a:tc>
                <a:tc>
                  <a:txBody>
                    <a:bodyPr/>
                    <a:lstStyle/>
                    <a:p>
                      <a:endParaRPr lang="en-US" dirty="0"/>
                    </a:p>
                  </a:txBody>
                  <a:tcPr/>
                </a:tc>
                <a:extLst>
                  <a:ext uri="{0D108BD9-81ED-4DB2-BD59-A6C34878D82A}">
                    <a16:rowId xmlns:a16="http://schemas.microsoft.com/office/drawing/2014/main" val="1235013761"/>
                  </a:ext>
                </a:extLst>
              </a:tr>
            </a:tbl>
          </a:graphicData>
        </a:graphic>
      </p:graphicFrame>
      <p:sp>
        <p:nvSpPr>
          <p:cNvPr id="6" name="TextBox 5"/>
          <p:cNvSpPr txBox="1"/>
          <p:nvPr/>
        </p:nvSpPr>
        <p:spPr>
          <a:xfrm>
            <a:off x="4267200" y="1631547"/>
            <a:ext cx="1173480" cy="369332"/>
          </a:xfrm>
          <a:prstGeom prst="rect">
            <a:avLst/>
          </a:prstGeom>
          <a:noFill/>
        </p:spPr>
        <p:txBody>
          <a:bodyPr wrap="square" rtlCol="0">
            <a:spAutoFit/>
          </a:bodyPr>
          <a:lstStyle/>
          <a:p>
            <a:r>
              <a:rPr lang="en-US" dirty="0"/>
              <a:t>PC1</a:t>
            </a:r>
          </a:p>
        </p:txBody>
      </p:sp>
      <p:sp>
        <p:nvSpPr>
          <p:cNvPr id="7" name="TextBox 6"/>
          <p:cNvSpPr txBox="1"/>
          <p:nvPr/>
        </p:nvSpPr>
        <p:spPr>
          <a:xfrm>
            <a:off x="7021830" y="1661118"/>
            <a:ext cx="1173480" cy="369332"/>
          </a:xfrm>
          <a:prstGeom prst="rect">
            <a:avLst/>
          </a:prstGeom>
          <a:noFill/>
        </p:spPr>
        <p:txBody>
          <a:bodyPr wrap="square" rtlCol="0">
            <a:spAutoFit/>
          </a:bodyPr>
          <a:lstStyle/>
          <a:p>
            <a:r>
              <a:rPr lang="en-US" dirty="0"/>
              <a:t>PC2</a:t>
            </a:r>
          </a:p>
        </p:txBody>
      </p:sp>
      <p:graphicFrame>
        <p:nvGraphicFramePr>
          <p:cNvPr id="8" name="Table 7"/>
          <p:cNvGraphicFramePr>
            <a:graphicFrameLocks noGrp="1"/>
          </p:cNvGraphicFramePr>
          <p:nvPr>
            <p:extLst>
              <p:ext uri="{D42A27DB-BD31-4B8C-83A1-F6EECF244321}">
                <p14:modId xmlns:p14="http://schemas.microsoft.com/office/powerpoint/2010/main" val="1256340716"/>
              </p:ext>
            </p:extLst>
          </p:nvPr>
        </p:nvGraphicFramePr>
        <p:xfrm>
          <a:off x="240966" y="2027998"/>
          <a:ext cx="2300304" cy="2966720"/>
        </p:xfrm>
        <a:graphic>
          <a:graphicData uri="http://schemas.openxmlformats.org/drawingml/2006/table">
            <a:tbl>
              <a:tblPr firstRow="1" bandRow="1">
                <a:tableStyleId>{5C22544A-7EE6-4342-B048-85BDC9FD1C3A}</a:tableStyleId>
              </a:tblPr>
              <a:tblGrid>
                <a:gridCol w="766768">
                  <a:extLst>
                    <a:ext uri="{9D8B030D-6E8A-4147-A177-3AD203B41FA5}">
                      <a16:colId xmlns:a16="http://schemas.microsoft.com/office/drawing/2014/main" val="2770450042"/>
                    </a:ext>
                  </a:extLst>
                </a:gridCol>
                <a:gridCol w="766768">
                  <a:extLst>
                    <a:ext uri="{9D8B030D-6E8A-4147-A177-3AD203B41FA5}">
                      <a16:colId xmlns:a16="http://schemas.microsoft.com/office/drawing/2014/main" val="1583498090"/>
                    </a:ext>
                  </a:extLst>
                </a:gridCol>
                <a:gridCol w="766768">
                  <a:extLst>
                    <a:ext uri="{9D8B030D-6E8A-4147-A177-3AD203B41FA5}">
                      <a16:colId xmlns:a16="http://schemas.microsoft.com/office/drawing/2014/main" val="1359251099"/>
                    </a:ext>
                  </a:extLst>
                </a:gridCol>
              </a:tblGrid>
              <a:tr h="370840">
                <a:tc>
                  <a:txBody>
                    <a:bodyPr/>
                    <a:lstStyle/>
                    <a:p>
                      <a:r>
                        <a:rPr lang="en-US" dirty="0"/>
                        <a:t>Gene</a:t>
                      </a:r>
                    </a:p>
                  </a:txBody>
                  <a:tcPr/>
                </a:tc>
                <a:tc>
                  <a:txBody>
                    <a:bodyPr/>
                    <a:lstStyle/>
                    <a:p>
                      <a:r>
                        <a:rPr lang="en-US" dirty="0"/>
                        <a:t>Cell1</a:t>
                      </a:r>
                    </a:p>
                  </a:txBody>
                  <a:tcPr/>
                </a:tc>
                <a:tc>
                  <a:txBody>
                    <a:bodyPr/>
                    <a:lstStyle/>
                    <a:p>
                      <a:r>
                        <a:rPr lang="en-US" dirty="0"/>
                        <a:t>Ce6ll2</a:t>
                      </a:r>
                    </a:p>
                  </a:txBody>
                  <a:tcPr/>
                </a:tc>
                <a:extLst>
                  <a:ext uri="{0D108BD9-81ED-4DB2-BD59-A6C34878D82A}">
                    <a16:rowId xmlns:a16="http://schemas.microsoft.com/office/drawing/2014/main" val="891186836"/>
                  </a:ext>
                </a:extLst>
              </a:tr>
              <a:tr h="370840">
                <a:tc>
                  <a:txBody>
                    <a:bodyPr/>
                    <a:lstStyle/>
                    <a:p>
                      <a:r>
                        <a:rPr lang="en-US" dirty="0"/>
                        <a:t>A</a:t>
                      </a:r>
                    </a:p>
                  </a:txBody>
                  <a:tcPr/>
                </a:tc>
                <a:tc>
                  <a:txBody>
                    <a:bodyPr/>
                    <a:lstStyle/>
                    <a:p>
                      <a:r>
                        <a:rPr lang="en-US" dirty="0"/>
                        <a:t>10</a:t>
                      </a:r>
                    </a:p>
                  </a:txBody>
                  <a:tcPr/>
                </a:tc>
                <a:tc>
                  <a:txBody>
                    <a:bodyPr/>
                    <a:lstStyle/>
                    <a:p>
                      <a:r>
                        <a:rPr lang="en-US" dirty="0"/>
                        <a:t>8</a:t>
                      </a:r>
                    </a:p>
                  </a:txBody>
                  <a:tcPr/>
                </a:tc>
                <a:extLst>
                  <a:ext uri="{0D108BD9-81ED-4DB2-BD59-A6C34878D82A}">
                    <a16:rowId xmlns:a16="http://schemas.microsoft.com/office/drawing/2014/main" val="3791448433"/>
                  </a:ext>
                </a:extLst>
              </a:tr>
              <a:tr h="370840">
                <a:tc>
                  <a:txBody>
                    <a:bodyPr/>
                    <a:lstStyle/>
                    <a:p>
                      <a:r>
                        <a:rPr lang="en-US" dirty="0"/>
                        <a:t>B</a:t>
                      </a:r>
                    </a:p>
                  </a:txBody>
                  <a:tcPr/>
                </a:tc>
                <a:tc>
                  <a:txBody>
                    <a:bodyPr/>
                    <a:lstStyle/>
                    <a:p>
                      <a:r>
                        <a:rPr lang="en-US" dirty="0"/>
                        <a:t>14</a:t>
                      </a:r>
                    </a:p>
                  </a:txBody>
                  <a:tcPr/>
                </a:tc>
                <a:tc>
                  <a:txBody>
                    <a:bodyPr/>
                    <a:lstStyle/>
                    <a:p>
                      <a:r>
                        <a:rPr lang="en-US" dirty="0"/>
                        <a:t>2</a:t>
                      </a:r>
                    </a:p>
                  </a:txBody>
                  <a:tcPr/>
                </a:tc>
                <a:extLst>
                  <a:ext uri="{0D108BD9-81ED-4DB2-BD59-A6C34878D82A}">
                    <a16:rowId xmlns:a16="http://schemas.microsoft.com/office/drawing/2014/main" val="39289384"/>
                  </a:ext>
                </a:extLst>
              </a:tr>
              <a:tr h="370840">
                <a:tc>
                  <a:txBody>
                    <a:bodyPr/>
                    <a:lstStyle/>
                    <a:p>
                      <a:r>
                        <a:rPr lang="en-US" dirty="0"/>
                        <a:t>C</a:t>
                      </a:r>
                    </a:p>
                  </a:txBody>
                  <a:tcPr/>
                </a:tc>
                <a:tc>
                  <a:txBody>
                    <a:bodyPr/>
                    <a:lstStyle/>
                    <a:p>
                      <a:r>
                        <a:rPr lang="en-US" dirty="0"/>
                        <a:t>33</a:t>
                      </a:r>
                    </a:p>
                  </a:txBody>
                  <a:tcPr/>
                </a:tc>
                <a:tc>
                  <a:txBody>
                    <a:bodyPr/>
                    <a:lstStyle/>
                    <a:p>
                      <a:r>
                        <a:rPr lang="en-US" dirty="0"/>
                        <a:t>10</a:t>
                      </a:r>
                    </a:p>
                  </a:txBody>
                  <a:tcPr/>
                </a:tc>
                <a:extLst>
                  <a:ext uri="{0D108BD9-81ED-4DB2-BD59-A6C34878D82A}">
                    <a16:rowId xmlns:a16="http://schemas.microsoft.com/office/drawing/2014/main" val="1138557201"/>
                  </a:ext>
                </a:extLst>
              </a:tr>
              <a:tr h="370840">
                <a:tc>
                  <a:txBody>
                    <a:bodyPr/>
                    <a:lstStyle/>
                    <a:p>
                      <a:r>
                        <a:rPr lang="en-US" dirty="0"/>
                        <a:t>D</a:t>
                      </a:r>
                    </a:p>
                  </a:txBody>
                  <a:tcPr/>
                </a:tc>
                <a:tc>
                  <a:txBody>
                    <a:bodyPr/>
                    <a:lstStyle/>
                    <a:p>
                      <a:r>
                        <a:rPr lang="en-US" dirty="0"/>
                        <a:t>50</a:t>
                      </a:r>
                    </a:p>
                  </a:txBody>
                  <a:tcPr/>
                </a:tc>
                <a:tc>
                  <a:txBody>
                    <a:bodyPr/>
                    <a:lstStyle/>
                    <a:p>
                      <a:r>
                        <a:rPr lang="en-US" dirty="0"/>
                        <a:t>45</a:t>
                      </a:r>
                    </a:p>
                  </a:txBody>
                  <a:tcPr/>
                </a:tc>
                <a:extLst>
                  <a:ext uri="{0D108BD9-81ED-4DB2-BD59-A6C34878D82A}">
                    <a16:rowId xmlns:a16="http://schemas.microsoft.com/office/drawing/2014/main" val="2350324824"/>
                  </a:ext>
                </a:extLst>
              </a:tr>
              <a:tr h="370840">
                <a:tc>
                  <a:txBody>
                    <a:bodyPr/>
                    <a:lstStyle/>
                    <a:p>
                      <a:r>
                        <a:rPr lang="en-US" dirty="0"/>
                        <a:t>E</a:t>
                      </a:r>
                    </a:p>
                  </a:txBody>
                  <a:tcPr/>
                </a:tc>
                <a:tc>
                  <a:txBody>
                    <a:bodyPr/>
                    <a:lstStyle/>
                    <a:p>
                      <a:r>
                        <a:rPr lang="en-US" dirty="0"/>
                        <a:t>80</a:t>
                      </a:r>
                    </a:p>
                  </a:txBody>
                  <a:tcPr/>
                </a:tc>
                <a:tc>
                  <a:txBody>
                    <a:bodyPr/>
                    <a:lstStyle/>
                    <a:p>
                      <a:r>
                        <a:rPr lang="en-US" dirty="0"/>
                        <a:t>42</a:t>
                      </a:r>
                    </a:p>
                  </a:txBody>
                  <a:tcPr/>
                </a:tc>
                <a:extLst>
                  <a:ext uri="{0D108BD9-81ED-4DB2-BD59-A6C34878D82A}">
                    <a16:rowId xmlns:a16="http://schemas.microsoft.com/office/drawing/2014/main" val="1482624658"/>
                  </a:ext>
                </a:extLst>
              </a:tr>
              <a:tr h="370840">
                <a:tc>
                  <a:txBody>
                    <a:bodyPr/>
                    <a:lstStyle/>
                    <a:p>
                      <a:r>
                        <a:rPr lang="en-US" dirty="0"/>
                        <a:t>F</a:t>
                      </a:r>
                    </a:p>
                  </a:txBody>
                  <a:tcPr/>
                </a:tc>
                <a:tc>
                  <a:txBody>
                    <a:bodyPr/>
                    <a:lstStyle/>
                    <a:p>
                      <a:r>
                        <a:rPr lang="en-US" dirty="0"/>
                        <a:t>95</a:t>
                      </a:r>
                    </a:p>
                  </a:txBody>
                  <a:tcPr/>
                </a:tc>
                <a:tc>
                  <a:txBody>
                    <a:bodyPr/>
                    <a:lstStyle/>
                    <a:p>
                      <a:r>
                        <a:rPr lang="en-US" dirty="0"/>
                        <a:t>72</a:t>
                      </a:r>
                    </a:p>
                  </a:txBody>
                  <a:tcPr/>
                </a:tc>
                <a:extLst>
                  <a:ext uri="{0D108BD9-81ED-4DB2-BD59-A6C34878D82A}">
                    <a16:rowId xmlns:a16="http://schemas.microsoft.com/office/drawing/2014/main" val="3621351032"/>
                  </a:ext>
                </a:extLst>
              </a:tr>
              <a:tr h="370840">
                <a:tc>
                  <a:txBody>
                    <a:bodyPr/>
                    <a:lstStyle/>
                    <a:p>
                      <a:r>
                        <a:rPr lang="en-US" dirty="0"/>
                        <a:t>…</a:t>
                      </a:r>
                    </a:p>
                  </a:txBody>
                  <a:tcPr/>
                </a:tc>
                <a:tc>
                  <a:txBody>
                    <a:bodyPr/>
                    <a:lstStyle/>
                    <a:p>
                      <a:r>
                        <a:rPr lang="en-US" dirty="0"/>
                        <a:t>…</a:t>
                      </a:r>
                    </a:p>
                  </a:txBody>
                  <a:tcPr/>
                </a:tc>
                <a:tc>
                  <a:txBody>
                    <a:bodyPr/>
                    <a:lstStyle/>
                    <a:p>
                      <a:r>
                        <a:rPr lang="en-US" dirty="0"/>
                        <a:t>…</a:t>
                      </a:r>
                    </a:p>
                  </a:txBody>
                  <a:tcPr/>
                </a:tc>
                <a:extLst>
                  <a:ext uri="{0D108BD9-81ED-4DB2-BD59-A6C34878D82A}">
                    <a16:rowId xmlns:a16="http://schemas.microsoft.com/office/drawing/2014/main" val="2982298569"/>
                  </a:ext>
                </a:extLst>
              </a:tr>
            </a:tbl>
          </a:graphicData>
        </a:graphic>
      </p:graphicFrame>
      <p:sp>
        <p:nvSpPr>
          <p:cNvPr id="10" name="TextBox 9"/>
          <p:cNvSpPr txBox="1"/>
          <p:nvPr/>
        </p:nvSpPr>
        <p:spPr>
          <a:xfrm>
            <a:off x="822960" y="6063470"/>
            <a:ext cx="6198870" cy="369332"/>
          </a:xfrm>
          <a:prstGeom prst="rect">
            <a:avLst/>
          </a:prstGeom>
          <a:noFill/>
        </p:spPr>
        <p:txBody>
          <a:bodyPr wrap="square" rtlCol="0">
            <a:spAutoFit/>
          </a:bodyPr>
          <a:lstStyle/>
          <a:p>
            <a:r>
              <a:rPr lang="en-US" dirty="0"/>
              <a:t>Cell1 PC1 score=(read count* influence) +…for all genes</a:t>
            </a:r>
          </a:p>
        </p:txBody>
      </p:sp>
      <p:cxnSp>
        <p:nvCxnSpPr>
          <p:cNvPr id="12" name="Straight Arrow Connector 11"/>
          <p:cNvCxnSpPr/>
          <p:nvPr/>
        </p:nvCxnSpPr>
        <p:spPr>
          <a:xfrm>
            <a:off x="1391118" y="2606040"/>
            <a:ext cx="1333032" cy="332232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a:off x="4130040" y="3017520"/>
            <a:ext cx="723900" cy="304595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822960" y="6373396"/>
            <a:ext cx="6198870" cy="369332"/>
          </a:xfrm>
          <a:prstGeom prst="rect">
            <a:avLst/>
          </a:prstGeom>
          <a:noFill/>
        </p:spPr>
        <p:txBody>
          <a:bodyPr wrap="square" rtlCol="0">
            <a:spAutoFit/>
          </a:bodyPr>
          <a:lstStyle/>
          <a:p>
            <a:r>
              <a:rPr lang="en-US" dirty="0"/>
              <a:t>Cell1 PC2 score=(read count* influence) +…for all genes</a:t>
            </a:r>
          </a:p>
        </p:txBody>
      </p:sp>
      <p:cxnSp>
        <p:nvCxnSpPr>
          <p:cNvPr id="20" name="Straight Arrow Connector 19"/>
          <p:cNvCxnSpPr/>
          <p:nvPr/>
        </p:nvCxnSpPr>
        <p:spPr>
          <a:xfrm>
            <a:off x="1569720" y="2606040"/>
            <a:ext cx="1508760" cy="3826762"/>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H="1">
            <a:off x="4191000" y="3169920"/>
            <a:ext cx="4217670" cy="3262882"/>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68156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Hooray! We know how they plotted all of the cells!!!</a:t>
            </a:r>
          </a:p>
        </p:txBody>
      </p:sp>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8650" y="1881878"/>
            <a:ext cx="7886700" cy="4238832"/>
          </a:xfrm>
        </p:spPr>
      </p:pic>
    </p:spTree>
    <p:extLst>
      <p:ext uri="{BB962C8B-B14F-4D97-AF65-F5344CB8AC3E}">
        <p14:creationId xmlns:p14="http://schemas.microsoft.com/office/powerpoint/2010/main" val="18478522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ideas </a:t>
            </a:r>
          </a:p>
        </p:txBody>
      </p:sp>
      <p:sp>
        <p:nvSpPr>
          <p:cNvPr id="3" name="Content Placeholder 2"/>
          <p:cNvSpPr>
            <a:spLocks noGrp="1"/>
          </p:cNvSpPr>
          <p:nvPr>
            <p:ph idx="1"/>
          </p:nvPr>
        </p:nvSpPr>
        <p:spPr>
          <a:xfrm>
            <a:off x="628650" y="1501534"/>
            <a:ext cx="7886700" cy="4351338"/>
          </a:xfrm>
        </p:spPr>
        <p:txBody>
          <a:bodyPr>
            <a:normAutofit lnSpcReduction="10000"/>
          </a:bodyPr>
          <a:lstStyle/>
          <a:p>
            <a:endParaRPr lang="en-US" dirty="0"/>
          </a:p>
          <a:p>
            <a:r>
              <a:rPr lang="en-US" dirty="0">
                <a:latin typeface="+mj-lt"/>
              </a:rPr>
              <a:t>Genes with the largest variation between cells will have the most influence on the principal components.</a:t>
            </a:r>
          </a:p>
          <a:p>
            <a:r>
              <a:rPr lang="en-US" dirty="0">
                <a:latin typeface="+mj-lt"/>
              </a:rPr>
              <a:t>The 1</a:t>
            </a:r>
            <a:r>
              <a:rPr lang="en-US" baseline="30000" dirty="0">
                <a:latin typeface="+mj-lt"/>
              </a:rPr>
              <a:t>st</a:t>
            </a:r>
            <a:r>
              <a:rPr lang="en-US" dirty="0">
                <a:latin typeface="+mj-lt"/>
              </a:rPr>
              <a:t> PC captures the most variation in the data</a:t>
            </a:r>
          </a:p>
          <a:p>
            <a:r>
              <a:rPr lang="en-US" dirty="0">
                <a:latin typeface="+mj-lt"/>
              </a:rPr>
              <a:t>The 2</a:t>
            </a:r>
            <a:r>
              <a:rPr lang="en-US" baseline="30000" dirty="0">
                <a:latin typeface="+mj-lt"/>
              </a:rPr>
              <a:t>nd</a:t>
            </a:r>
            <a:r>
              <a:rPr lang="en-US" dirty="0">
                <a:latin typeface="+mj-lt"/>
              </a:rPr>
              <a:t> PC captures the second most variation in the data.</a:t>
            </a:r>
          </a:p>
          <a:p>
            <a:r>
              <a:rPr lang="en-US" dirty="0">
                <a:latin typeface="+mj-lt"/>
              </a:rPr>
              <a:t>You can use the original data and the first 2 PCs to get X/Y values to plot on a figure. Cells with similar transcription patterns will cluster together.</a:t>
            </a:r>
          </a:p>
          <a:p>
            <a:endParaRPr lang="en-US" dirty="0"/>
          </a:p>
        </p:txBody>
      </p:sp>
    </p:spTree>
    <p:extLst>
      <p:ext uri="{BB962C8B-B14F-4D97-AF65-F5344CB8AC3E}">
        <p14:creationId xmlns:p14="http://schemas.microsoft.com/office/powerpoint/2010/main" val="37537195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identify key genes?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8650" y="1424678"/>
            <a:ext cx="7886700" cy="4238832"/>
          </a:xfrm>
        </p:spPr>
      </p:pic>
      <p:sp>
        <p:nvSpPr>
          <p:cNvPr id="5" name="TextBox 4"/>
          <p:cNvSpPr txBox="1"/>
          <p:nvPr/>
        </p:nvSpPr>
        <p:spPr>
          <a:xfrm>
            <a:off x="1021080" y="5663510"/>
            <a:ext cx="7494270" cy="1292662"/>
          </a:xfrm>
          <a:prstGeom prst="rect">
            <a:avLst/>
          </a:prstGeom>
          <a:noFill/>
        </p:spPr>
        <p:txBody>
          <a:bodyPr wrap="square" rtlCol="0">
            <a:spAutoFit/>
          </a:bodyPr>
          <a:lstStyle/>
          <a:p>
            <a:r>
              <a:rPr lang="en-US" sz="2000" dirty="0">
                <a:latin typeface="+mj-lt"/>
              </a:rPr>
              <a:t>If we wanted to find out which genes had big influence in putting dermal cells on the left and neural cells on the right, we could look at the influence scores in PC1. </a:t>
            </a:r>
          </a:p>
          <a:p>
            <a:endParaRPr lang="en-US" dirty="0"/>
          </a:p>
        </p:txBody>
      </p:sp>
    </p:spTree>
    <p:extLst>
      <p:ext uri="{BB962C8B-B14F-4D97-AF65-F5344CB8AC3E}">
        <p14:creationId xmlns:p14="http://schemas.microsoft.com/office/powerpoint/2010/main" val="37917203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identify key genes?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8650" y="1424678"/>
            <a:ext cx="7886700" cy="4238832"/>
          </a:xfrm>
        </p:spPr>
      </p:pic>
      <p:sp>
        <p:nvSpPr>
          <p:cNvPr id="5" name="TextBox 4"/>
          <p:cNvSpPr txBox="1"/>
          <p:nvPr/>
        </p:nvSpPr>
        <p:spPr>
          <a:xfrm>
            <a:off x="1021080" y="5663510"/>
            <a:ext cx="7494270" cy="707886"/>
          </a:xfrm>
          <a:prstGeom prst="rect">
            <a:avLst/>
          </a:prstGeom>
          <a:noFill/>
        </p:spPr>
        <p:txBody>
          <a:bodyPr wrap="square" rtlCol="0">
            <a:spAutoFit/>
          </a:bodyPr>
          <a:lstStyle/>
          <a:p>
            <a:r>
              <a:rPr lang="en-US" sz="2000" dirty="0">
                <a:latin typeface="+mj-lt"/>
              </a:rPr>
              <a:t>If we wanted to find out which genes help distinguished blood cells from neural and dermal cells, we could look at the influence in PC2. </a:t>
            </a:r>
            <a:endParaRPr lang="en-US" dirty="0"/>
          </a:p>
        </p:txBody>
      </p:sp>
    </p:spTree>
    <p:extLst>
      <p:ext uri="{BB962C8B-B14F-4D97-AF65-F5344CB8AC3E}">
        <p14:creationId xmlns:p14="http://schemas.microsoft.com/office/powerpoint/2010/main" val="37552647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Terminology Alert</a:t>
            </a:r>
          </a:p>
        </p:txBody>
      </p:sp>
      <p:sp>
        <p:nvSpPr>
          <p:cNvPr id="3" name="Content Placeholder 2"/>
          <p:cNvSpPr>
            <a:spLocks noGrp="1"/>
          </p:cNvSpPr>
          <p:nvPr>
            <p:ph idx="1"/>
          </p:nvPr>
        </p:nvSpPr>
        <p:spPr>
          <a:xfrm>
            <a:off x="628650" y="1789274"/>
            <a:ext cx="7886700" cy="1710055"/>
          </a:xfrm>
        </p:spPr>
        <p:txBody>
          <a:bodyPr>
            <a:normAutofit/>
          </a:bodyPr>
          <a:lstStyle/>
          <a:p>
            <a:r>
              <a:rPr lang="en-US" sz="2400" dirty="0">
                <a:latin typeface="+mj-lt"/>
              </a:rPr>
              <a:t>These numbers are weighs for importance of each gene to PC1. In PCA terminology, the weights are called “loadings” and an array of “loadings” for a PC is called an “eigenvector”.</a:t>
            </a:r>
          </a:p>
        </p:txBody>
      </p:sp>
      <p:graphicFrame>
        <p:nvGraphicFramePr>
          <p:cNvPr id="4" name="Table 3"/>
          <p:cNvGraphicFramePr>
            <a:graphicFrameLocks noGrp="1"/>
          </p:cNvGraphicFramePr>
          <p:nvPr>
            <p:extLst>
              <p:ext uri="{D42A27DB-BD31-4B8C-83A1-F6EECF244321}">
                <p14:modId xmlns:p14="http://schemas.microsoft.com/office/powerpoint/2010/main" val="3602727180"/>
              </p:ext>
            </p:extLst>
          </p:nvPr>
        </p:nvGraphicFramePr>
        <p:xfrm>
          <a:off x="2924161" y="3295016"/>
          <a:ext cx="3977699" cy="3200400"/>
        </p:xfrm>
        <a:graphic>
          <a:graphicData uri="http://schemas.openxmlformats.org/drawingml/2006/table">
            <a:tbl>
              <a:tblPr firstRow="1" bandRow="1">
                <a:tableStyleId>{5C22544A-7EE6-4342-B048-85BDC9FD1C3A}</a:tableStyleId>
              </a:tblPr>
              <a:tblGrid>
                <a:gridCol w="757175">
                  <a:extLst>
                    <a:ext uri="{9D8B030D-6E8A-4147-A177-3AD203B41FA5}">
                      <a16:colId xmlns:a16="http://schemas.microsoft.com/office/drawing/2014/main" val="1891813145"/>
                    </a:ext>
                  </a:extLst>
                </a:gridCol>
                <a:gridCol w="1610262">
                  <a:extLst>
                    <a:ext uri="{9D8B030D-6E8A-4147-A177-3AD203B41FA5}">
                      <a16:colId xmlns:a16="http://schemas.microsoft.com/office/drawing/2014/main" val="673073740"/>
                    </a:ext>
                  </a:extLst>
                </a:gridCol>
                <a:gridCol w="1610262">
                  <a:extLst>
                    <a:ext uri="{9D8B030D-6E8A-4147-A177-3AD203B41FA5}">
                      <a16:colId xmlns:a16="http://schemas.microsoft.com/office/drawing/2014/main" val="138586838"/>
                    </a:ext>
                  </a:extLst>
                </a:gridCol>
              </a:tblGrid>
              <a:tr h="640080">
                <a:tc>
                  <a:txBody>
                    <a:bodyPr/>
                    <a:lstStyle/>
                    <a:p>
                      <a:r>
                        <a:rPr lang="en-US" dirty="0"/>
                        <a:t>Gene</a:t>
                      </a:r>
                    </a:p>
                  </a:txBody>
                  <a:tcPr/>
                </a:tc>
                <a:tc>
                  <a:txBody>
                    <a:bodyPr/>
                    <a:lstStyle/>
                    <a:p>
                      <a:r>
                        <a:rPr lang="en-US" dirty="0"/>
                        <a:t>Influence</a:t>
                      </a:r>
                      <a:r>
                        <a:rPr lang="en-US" baseline="0" dirty="0"/>
                        <a:t> of PC1</a:t>
                      </a:r>
                      <a:endParaRPr lang="en-US" dirty="0"/>
                    </a:p>
                  </a:txBody>
                  <a:tcPr/>
                </a:tc>
                <a:tc>
                  <a:txBody>
                    <a:bodyPr/>
                    <a:lstStyle/>
                    <a:p>
                      <a:r>
                        <a:rPr lang="en-US" dirty="0"/>
                        <a:t>In numbers</a:t>
                      </a:r>
                    </a:p>
                  </a:txBody>
                  <a:tcPr/>
                </a:tc>
                <a:extLst>
                  <a:ext uri="{0D108BD9-81ED-4DB2-BD59-A6C34878D82A}">
                    <a16:rowId xmlns:a16="http://schemas.microsoft.com/office/drawing/2014/main" val="1743231851"/>
                  </a:ext>
                </a:extLst>
              </a:tr>
              <a:tr h="365760">
                <a:tc>
                  <a:txBody>
                    <a:bodyPr/>
                    <a:lstStyle/>
                    <a:p>
                      <a:r>
                        <a:rPr lang="en-US" dirty="0"/>
                        <a:t>A</a:t>
                      </a:r>
                    </a:p>
                  </a:txBody>
                  <a:tcPr/>
                </a:tc>
                <a:tc>
                  <a:txBody>
                    <a:bodyPr/>
                    <a:lstStyle/>
                    <a:p>
                      <a:r>
                        <a:rPr lang="en-US" dirty="0"/>
                        <a:t>High</a:t>
                      </a:r>
                    </a:p>
                  </a:txBody>
                  <a:tcPr/>
                </a:tc>
                <a:tc>
                  <a:txBody>
                    <a:bodyPr/>
                    <a:lstStyle/>
                    <a:p>
                      <a:r>
                        <a:rPr lang="en-US" dirty="0"/>
                        <a:t>10</a:t>
                      </a:r>
                    </a:p>
                  </a:txBody>
                  <a:tcPr/>
                </a:tc>
                <a:extLst>
                  <a:ext uri="{0D108BD9-81ED-4DB2-BD59-A6C34878D82A}">
                    <a16:rowId xmlns:a16="http://schemas.microsoft.com/office/drawing/2014/main" val="1031649394"/>
                  </a:ext>
                </a:extLst>
              </a:tr>
              <a:tr h="365760">
                <a:tc>
                  <a:txBody>
                    <a:bodyPr/>
                    <a:lstStyle/>
                    <a:p>
                      <a:r>
                        <a:rPr lang="en-US" dirty="0"/>
                        <a:t>B</a:t>
                      </a:r>
                    </a:p>
                  </a:txBody>
                  <a:tcPr/>
                </a:tc>
                <a:tc>
                  <a:txBody>
                    <a:bodyPr/>
                    <a:lstStyle/>
                    <a:p>
                      <a:r>
                        <a:rPr lang="en-US" dirty="0"/>
                        <a:t>Low</a:t>
                      </a:r>
                    </a:p>
                  </a:txBody>
                  <a:tcPr/>
                </a:tc>
                <a:tc>
                  <a:txBody>
                    <a:bodyPr/>
                    <a:lstStyle/>
                    <a:p>
                      <a:r>
                        <a:rPr lang="en-US" dirty="0"/>
                        <a:t>0.5</a:t>
                      </a:r>
                    </a:p>
                  </a:txBody>
                  <a:tcPr/>
                </a:tc>
                <a:extLst>
                  <a:ext uri="{0D108BD9-81ED-4DB2-BD59-A6C34878D82A}">
                    <a16:rowId xmlns:a16="http://schemas.microsoft.com/office/drawing/2014/main" val="2216241686"/>
                  </a:ext>
                </a:extLst>
              </a:tr>
              <a:tr h="365760">
                <a:tc>
                  <a:txBody>
                    <a:bodyPr/>
                    <a:lstStyle/>
                    <a:p>
                      <a:r>
                        <a:rPr lang="en-US" dirty="0"/>
                        <a:t>C</a:t>
                      </a:r>
                    </a:p>
                  </a:txBody>
                  <a:tcPr/>
                </a:tc>
                <a:tc>
                  <a:txBody>
                    <a:bodyPr/>
                    <a:lstStyle/>
                    <a:p>
                      <a:r>
                        <a:rPr lang="en-US" dirty="0"/>
                        <a:t>Medium</a:t>
                      </a:r>
                    </a:p>
                  </a:txBody>
                  <a:tcPr/>
                </a:tc>
                <a:tc>
                  <a:txBody>
                    <a:bodyPr/>
                    <a:lstStyle/>
                    <a:p>
                      <a:r>
                        <a:rPr lang="en-US" dirty="0"/>
                        <a:t>3</a:t>
                      </a:r>
                    </a:p>
                  </a:txBody>
                  <a:tcPr/>
                </a:tc>
                <a:extLst>
                  <a:ext uri="{0D108BD9-81ED-4DB2-BD59-A6C34878D82A}">
                    <a16:rowId xmlns:a16="http://schemas.microsoft.com/office/drawing/2014/main" val="3978786904"/>
                  </a:ext>
                </a:extLst>
              </a:tr>
              <a:tr h="365760">
                <a:tc>
                  <a:txBody>
                    <a:bodyPr/>
                    <a:lstStyle/>
                    <a:p>
                      <a:r>
                        <a:rPr lang="en-US" dirty="0"/>
                        <a:t>D</a:t>
                      </a:r>
                    </a:p>
                  </a:txBody>
                  <a:tcPr/>
                </a:tc>
                <a:tc>
                  <a:txBody>
                    <a:bodyPr/>
                    <a:lstStyle/>
                    <a:p>
                      <a:r>
                        <a:rPr lang="en-US" dirty="0"/>
                        <a:t>Low</a:t>
                      </a:r>
                    </a:p>
                  </a:txBody>
                  <a:tcPr/>
                </a:tc>
                <a:tc>
                  <a:txBody>
                    <a:bodyPr/>
                    <a:lstStyle/>
                    <a:p>
                      <a:r>
                        <a:rPr lang="en-US" dirty="0"/>
                        <a:t>-0.2</a:t>
                      </a:r>
                    </a:p>
                  </a:txBody>
                  <a:tcPr/>
                </a:tc>
                <a:extLst>
                  <a:ext uri="{0D108BD9-81ED-4DB2-BD59-A6C34878D82A}">
                    <a16:rowId xmlns:a16="http://schemas.microsoft.com/office/drawing/2014/main" val="393395498"/>
                  </a:ext>
                </a:extLst>
              </a:tr>
              <a:tr h="365760">
                <a:tc>
                  <a:txBody>
                    <a:bodyPr/>
                    <a:lstStyle/>
                    <a:p>
                      <a:r>
                        <a:rPr lang="en-US" dirty="0"/>
                        <a:t>E</a:t>
                      </a:r>
                    </a:p>
                  </a:txBody>
                  <a:tcPr/>
                </a:tc>
                <a:tc>
                  <a:txBody>
                    <a:bodyPr/>
                    <a:lstStyle/>
                    <a:p>
                      <a:r>
                        <a:rPr lang="en-US" dirty="0"/>
                        <a:t>High</a:t>
                      </a:r>
                    </a:p>
                  </a:txBody>
                  <a:tcPr/>
                </a:tc>
                <a:tc>
                  <a:txBody>
                    <a:bodyPr/>
                    <a:lstStyle/>
                    <a:p>
                      <a:r>
                        <a:rPr lang="en-US" dirty="0"/>
                        <a:t>13</a:t>
                      </a:r>
                    </a:p>
                  </a:txBody>
                  <a:tcPr/>
                </a:tc>
                <a:extLst>
                  <a:ext uri="{0D108BD9-81ED-4DB2-BD59-A6C34878D82A}">
                    <a16:rowId xmlns:a16="http://schemas.microsoft.com/office/drawing/2014/main" val="2392050095"/>
                  </a:ext>
                </a:extLst>
              </a:tr>
              <a:tr h="365760">
                <a:tc>
                  <a:txBody>
                    <a:bodyPr/>
                    <a:lstStyle/>
                    <a:p>
                      <a:r>
                        <a:rPr lang="en-US" dirty="0"/>
                        <a:t>F</a:t>
                      </a:r>
                    </a:p>
                  </a:txBody>
                  <a:tcPr/>
                </a:tc>
                <a:tc>
                  <a:txBody>
                    <a:bodyPr/>
                    <a:lstStyle/>
                    <a:p>
                      <a:r>
                        <a:rPr lang="en-US" dirty="0"/>
                        <a:t>High</a:t>
                      </a:r>
                    </a:p>
                  </a:txBody>
                  <a:tcPr/>
                </a:tc>
                <a:tc>
                  <a:txBody>
                    <a:bodyPr/>
                    <a:lstStyle/>
                    <a:p>
                      <a:r>
                        <a:rPr lang="en-US" dirty="0"/>
                        <a:t>-14</a:t>
                      </a:r>
                    </a:p>
                  </a:txBody>
                  <a:tcPr/>
                </a:tc>
                <a:extLst>
                  <a:ext uri="{0D108BD9-81ED-4DB2-BD59-A6C34878D82A}">
                    <a16:rowId xmlns:a16="http://schemas.microsoft.com/office/drawing/2014/main" val="3444964250"/>
                  </a:ext>
                </a:extLst>
              </a:tr>
              <a:tr h="365760">
                <a:tc>
                  <a:txBody>
                    <a:bodyPr/>
                    <a:lstStyle/>
                    <a:p>
                      <a:r>
                        <a:rPr lang="en-US" dirty="0"/>
                        <a:t>…</a:t>
                      </a:r>
                    </a:p>
                  </a:txBody>
                  <a:tcPr/>
                </a:tc>
                <a:tc>
                  <a:txBody>
                    <a:bodyPr/>
                    <a:lstStyle/>
                    <a:p>
                      <a:r>
                        <a:rPr lang="en-US" dirty="0"/>
                        <a:t>…</a:t>
                      </a:r>
                    </a:p>
                  </a:txBody>
                  <a:tcPr/>
                </a:tc>
                <a:tc>
                  <a:txBody>
                    <a:bodyPr/>
                    <a:lstStyle/>
                    <a:p>
                      <a:r>
                        <a:rPr lang="en-US" dirty="0"/>
                        <a:t>…</a:t>
                      </a:r>
                    </a:p>
                  </a:txBody>
                  <a:tcPr/>
                </a:tc>
                <a:extLst>
                  <a:ext uri="{0D108BD9-81ED-4DB2-BD59-A6C34878D82A}">
                    <a16:rowId xmlns:a16="http://schemas.microsoft.com/office/drawing/2014/main" val="2477600111"/>
                  </a:ext>
                </a:extLst>
              </a:tr>
            </a:tbl>
          </a:graphicData>
        </a:graphic>
      </p:graphicFrame>
    </p:spTree>
    <p:extLst>
      <p:ext uri="{BB962C8B-B14F-4D97-AF65-F5344CB8AC3E}">
        <p14:creationId xmlns:p14="http://schemas.microsoft.com/office/powerpoint/2010/main" val="25905932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PCA Assumption</a:t>
            </a:r>
          </a:p>
        </p:txBody>
      </p:sp>
      <p:sp>
        <p:nvSpPr>
          <p:cNvPr id="3" name="Content Placeholder 2"/>
          <p:cNvSpPr>
            <a:spLocks noGrp="1"/>
          </p:cNvSpPr>
          <p:nvPr>
            <p:ph idx="1"/>
          </p:nvPr>
        </p:nvSpPr>
        <p:spPr/>
        <p:txBody>
          <a:bodyPr/>
          <a:lstStyle/>
          <a:p>
            <a:r>
              <a:rPr lang="en-US" dirty="0">
                <a:latin typeface="+mj-lt"/>
              </a:rPr>
              <a:t>Based on Euclidean distance between points, which may not be an appropriate distance measure for certain data types (especially counts of abundances)</a:t>
            </a:r>
          </a:p>
          <a:p>
            <a:endParaRPr lang="en-US" dirty="0">
              <a:latin typeface="+mj-lt"/>
            </a:endParaRPr>
          </a:p>
          <a:p>
            <a:r>
              <a:rPr lang="en-US" dirty="0">
                <a:latin typeface="+mj-lt"/>
              </a:rPr>
              <a:t>Assumes a linear relationship between variables, which is not appropriate for certain systems.</a:t>
            </a:r>
          </a:p>
          <a:p>
            <a:pPr marL="0" indent="0">
              <a:buNone/>
            </a:pPr>
            <a:r>
              <a:rPr lang="en-US" dirty="0">
                <a:latin typeface="+mj-lt"/>
              </a:rPr>
              <a:t>   </a:t>
            </a:r>
            <a:r>
              <a:rPr lang="en-US" sz="2400" dirty="0">
                <a:latin typeface="+mj-lt"/>
              </a:rPr>
              <a:t>If data are non-linear, PCA produces an artifact     called the “horseshoe effect”-axis 2 is twisted relative to axis 1 (but it is not a real gradient)</a:t>
            </a:r>
            <a:endParaRPr lang="en-US" dirty="0">
              <a:latin typeface="+mj-lt"/>
            </a:endParaRPr>
          </a:p>
        </p:txBody>
      </p:sp>
    </p:spTree>
    <p:extLst>
      <p:ext uri="{BB962C8B-B14F-4D97-AF65-F5344CB8AC3E}">
        <p14:creationId xmlns:p14="http://schemas.microsoft.com/office/powerpoint/2010/main" val="143701566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463</TotalTime>
  <Words>1317</Words>
  <Application>Microsoft Office PowerPoint</Application>
  <PresentationFormat>On-screen Show (4:3)</PresentationFormat>
  <Paragraphs>309</Paragraphs>
  <Slides>28</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等线</vt:lpstr>
      <vt:lpstr>等线 Light</vt:lpstr>
      <vt:lpstr>Arial</vt:lpstr>
      <vt:lpstr>Calibri</vt:lpstr>
      <vt:lpstr>Calibri Light</vt:lpstr>
      <vt:lpstr>Office Theme</vt:lpstr>
      <vt:lpstr>A Short Introduction about Principal Component Analysis</vt:lpstr>
      <vt:lpstr>PCA is a method for compressing a lot of data into something that captures the essence of the original data.</vt:lpstr>
      <vt:lpstr>Background: Dimension</vt:lpstr>
      <vt:lpstr>Case: 2 cells (and 2 dimensions)</vt:lpstr>
      <vt:lpstr>PowerPoint Presentation</vt:lpstr>
      <vt:lpstr>PowerPoint Presentation</vt:lpstr>
      <vt:lpstr>PowerPoint Presentation</vt:lpstr>
      <vt:lpstr>What does all of this have to do with PCA?</vt:lpstr>
      <vt:lpstr>A PCA Example</vt:lpstr>
      <vt:lpstr>PowerPoint Presentation</vt:lpstr>
      <vt:lpstr>PowerPoint Presentation</vt:lpstr>
      <vt:lpstr>PowerPoint Presentation</vt:lpstr>
      <vt:lpstr>If we rotate the whole graph, the two lines that we drew make new X and Y axes.  This makes the left/right, above/below variation easier to see.</vt:lpstr>
      <vt:lpstr>These two “new” (or “rotated ”) axes that describe the variation in the data are “Principal Components”</vt:lpstr>
      <vt:lpstr>What if we had N cells?</vt:lpstr>
      <vt:lpstr>PowerPoint Presentation</vt:lpstr>
      <vt:lpstr>But this is a plot of cells, not genes? How do we plot cells?</vt:lpstr>
      <vt:lpstr>PowerPoint Presentation</vt:lpstr>
      <vt:lpstr>PowerPoint Presentation</vt:lpstr>
      <vt:lpstr>PowerPoint Presentation</vt:lpstr>
      <vt:lpstr>PowerPoint Presentation</vt:lpstr>
      <vt:lpstr>PowerPoint Presentation</vt:lpstr>
      <vt:lpstr>Hooray! We know how they plotted all of the cells!!!</vt:lpstr>
      <vt:lpstr>General ideas </vt:lpstr>
      <vt:lpstr>How to identify key genes?</vt:lpstr>
      <vt:lpstr>How to identify key genes?</vt:lpstr>
      <vt:lpstr>Terminology Alert</vt:lpstr>
      <vt:lpstr>PCA Assumption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PCA is a method for compressing a lot of data into something that captures the essence of the original data</dc:title>
  <dc:creator>zhe zhang</dc:creator>
  <cp:lastModifiedBy>zhe zhang</cp:lastModifiedBy>
  <cp:revision>39</cp:revision>
  <dcterms:created xsi:type="dcterms:W3CDTF">2016-12-05T00:28:38Z</dcterms:created>
  <dcterms:modified xsi:type="dcterms:W3CDTF">2016-12-05T08:16:47Z</dcterms:modified>
</cp:coreProperties>
</file>